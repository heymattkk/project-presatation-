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6.svg" ContentType="image/svg+xml"/>
  <Override PartName="/ppt/media/image20.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40"/>
  </p:handoutMasterIdLst>
  <p:sldIdLst>
    <p:sldId id="289" r:id="rId4"/>
    <p:sldId id="296" r:id="rId6"/>
    <p:sldId id="297" r:id="rId7"/>
    <p:sldId id="303" r:id="rId8"/>
    <p:sldId id="300" r:id="rId9"/>
    <p:sldId id="260" r:id="rId10"/>
    <p:sldId id="275" r:id="rId11"/>
    <p:sldId id="282" r:id="rId12"/>
    <p:sldId id="259" r:id="rId13"/>
    <p:sldId id="285" r:id="rId14"/>
    <p:sldId id="299" r:id="rId15"/>
    <p:sldId id="312" r:id="rId16"/>
    <p:sldId id="306" r:id="rId17"/>
    <p:sldId id="318" r:id="rId18"/>
    <p:sldId id="311" r:id="rId19"/>
    <p:sldId id="313" r:id="rId20"/>
    <p:sldId id="320" r:id="rId21"/>
    <p:sldId id="310" r:id="rId22"/>
    <p:sldId id="314" r:id="rId23"/>
    <p:sldId id="322" r:id="rId24"/>
    <p:sldId id="309" r:id="rId25"/>
    <p:sldId id="315" r:id="rId26"/>
    <p:sldId id="324" r:id="rId27"/>
    <p:sldId id="308" r:id="rId28"/>
    <p:sldId id="316" r:id="rId29"/>
    <p:sldId id="325" r:id="rId30"/>
    <p:sldId id="326" r:id="rId31"/>
    <p:sldId id="307" r:id="rId32"/>
    <p:sldId id="317" r:id="rId33"/>
    <p:sldId id="329" r:id="rId34"/>
    <p:sldId id="330" r:id="rId35"/>
    <p:sldId id="301" r:id="rId36"/>
    <p:sldId id="302" r:id="rId37"/>
    <p:sldId id="304" r:id="rId38"/>
    <p:sldId id="298" r:id="rId39"/>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7" userDrawn="1">
          <p15:clr>
            <a:srgbClr val="A4A3A4"/>
          </p15:clr>
        </p15:guide>
        <p15:guide id="2" pos="4027" userDrawn="1">
          <p15:clr>
            <a:srgbClr val="A4A3A4"/>
          </p15:clr>
        </p15:guide>
        <p15:guide id="3" pos="5048" userDrawn="1">
          <p15:clr>
            <a:srgbClr val="A4A3A4"/>
          </p15:clr>
        </p15:guide>
        <p15:guide id="4" pos="28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4F4"/>
    <a:srgbClr val="388BA5"/>
    <a:srgbClr val="7EAFBF"/>
    <a:srgbClr val="BDD7EE"/>
    <a:srgbClr val="82B3C3"/>
    <a:srgbClr val="6FA9BB"/>
    <a:srgbClr val="E6E6E6"/>
    <a:srgbClr val="5B9BD5"/>
    <a:srgbClr val="D6DCE5"/>
    <a:srgbClr val="5BAA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09" autoAdjust="0"/>
    <p:restoredTop sz="96314" autoAdjust="0"/>
  </p:normalViewPr>
  <p:slideViewPr>
    <p:cSldViewPr snapToGrid="0" showGuides="1">
      <p:cViewPr>
        <p:scale>
          <a:sx n="75" d="100"/>
          <a:sy n="75" d="100"/>
        </p:scale>
        <p:origin x="-1902" y="-846"/>
      </p:cViewPr>
      <p:guideLst>
        <p:guide orient="horz" pos="2357"/>
        <p:guide pos="4027"/>
        <p:guide pos="5048"/>
        <p:guide pos="283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4" Type="http://schemas.openxmlformats.org/officeDocument/2006/relationships/tags" Target="tags/tag189.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F2CC8D-3B9A-4706-A2EE-CEE172D75FE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7B8CC-CD7D-4D4E-A59D-DE6DE4293CA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07B8CC-CD7D-4D4E-A59D-DE6DE4293CA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ECF7443-FE70-49D2-8332-A4D465B05ABA}" type="slidenum">
              <a:rPr lang="zh-CN" altLang="en-US" smtClean="0"/>
            </a:fld>
            <a:endParaRPr lang="zh-CN" altLang="en-US"/>
          </a:p>
        </p:txBody>
      </p:sp>
      <p:sp>
        <p:nvSpPr>
          <p:cNvPr id="11" name="TextBox 10"/>
          <p:cNvSpPr txBox="1"/>
          <p:nvPr userDrawn="1"/>
        </p:nvSpPr>
        <p:spPr>
          <a:xfrm>
            <a:off x="1907705" y="6725739"/>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black"/>
                </a:solidFill>
                <a:effectLst/>
                <a:uLnTx/>
                <a:uFillTx/>
                <a:hlinkClick r:id="rId2"/>
              </a:rPr>
              <a:t>PPT</a:t>
            </a:r>
            <a:r>
              <a:rPr kumimoji="0" lang="zh-CN" altLang="en-US" sz="100" b="0" i="0" u="none" strike="noStrike" kern="0" cap="none" spc="0" normalizeH="0" baseline="0" noProof="0" dirty="0" smtClean="0">
                <a:ln>
                  <a:noFill/>
                </a:ln>
                <a:solidFill>
                  <a:prstClr val="black"/>
                </a:solidFill>
                <a:effectLst/>
                <a:uLnTx/>
                <a:uFillTx/>
                <a:hlinkClick r:id="rId2"/>
              </a:rPr>
              <a:t>模板</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http://www.1ppt.com/moban/</a:t>
            </a:r>
            <a:r>
              <a:rPr kumimoji="0" lang="zh-CN" altLang="en-US" sz="100" b="0" i="0" u="none" strike="noStrike" kern="0" cap="none" spc="0" normalizeH="0" baseline="0" noProof="0" dirty="0" smtClean="0">
                <a:ln>
                  <a:noFill/>
                </a:ln>
                <a:solidFill>
                  <a:prstClr val="black"/>
                </a:solidFill>
                <a:effectLst/>
                <a:uLnTx/>
                <a:uFillTx/>
              </a:rPr>
              <a:t> </a:t>
            </a:r>
            <a:endParaRPr kumimoji="0" lang="en-US" altLang="zh-CN" sz="100" b="0" i="0" u="none" strike="noStrike" kern="0" cap="none" spc="0" normalizeH="0" baseline="0" noProof="0" dirty="0" smtClean="0">
              <a:ln>
                <a:noFill/>
              </a:ln>
              <a:solidFill>
                <a:prstClr val="black"/>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ECF7443-FE70-49D2-8332-A4D465B05ABA}"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图片 5"/>
          <p:cNvPicPr>
            <a:picLocks noChangeAspect="1"/>
          </p:cNvPicPr>
          <p:nvPr userDrawn="1"/>
        </p:nvPicPr>
        <p:blipFill rotWithShape="1">
          <a:blip r:embed="rId3" cstate="print">
            <a:extLst>
              <a:ext uri="{28A0092B-C50C-407E-A947-70E740481C1C}">
                <a14:useLocalDpi xmlns:a14="http://schemas.microsoft.com/office/drawing/2010/main" val="0"/>
              </a:ext>
            </a:extLst>
          </a:blip>
          <a:srcRect t="24810"/>
          <a:stretch>
            <a:fillRect/>
          </a:stretch>
        </p:blipFill>
        <p:spPr>
          <a:xfrm>
            <a:off x="217675" y="0"/>
            <a:ext cx="1047957" cy="971210"/>
          </a:xfrm>
          <a:prstGeom prst="rect">
            <a:avLst/>
          </a:prstGeom>
          <a:effec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173875" y="5360943"/>
            <a:ext cx="997798" cy="99779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77FFA72-90F3-4843-A88F-D4609A1539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CF7443-FE70-49D2-8332-A4D465B05AB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7FFA72-90F3-4843-A88F-D4609A15398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F7443-FE70-49D2-8332-A4D465B05AB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image" Target="../media/image6.png"/><Relationship Id="rId4" Type="http://schemas.openxmlformats.org/officeDocument/2006/relationships/tags" Target="../tags/tag1.xml"/><Relationship Id="rId3" Type="http://schemas.openxmlformats.org/officeDocument/2006/relationships/image" Target="../media/image5.png"/><Relationship Id="rId21" Type="http://schemas.openxmlformats.org/officeDocument/2006/relationships/notesSlide" Target="../notesSlides/notesSlide2.xml"/><Relationship Id="rId20" Type="http://schemas.openxmlformats.org/officeDocument/2006/relationships/slideLayout" Target="../slideLayouts/slideLayout7.xml"/><Relationship Id="rId2" Type="http://schemas.openxmlformats.org/officeDocument/2006/relationships/image" Target="../media/image2.png"/><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2" Type="http://schemas.openxmlformats.org/officeDocument/2006/relationships/notesSlide" Target="../notesSlides/notesSlide5.xml"/><Relationship Id="rId21" Type="http://schemas.openxmlformats.org/officeDocument/2006/relationships/slideLayout" Target="../slideLayouts/slideLayout7.xml"/><Relationship Id="rId20" Type="http://schemas.openxmlformats.org/officeDocument/2006/relationships/image" Target="../media/image10.svg"/><Relationship Id="rId2" Type="http://schemas.openxmlformats.org/officeDocument/2006/relationships/tags" Target="../tags/tag17.xml"/><Relationship Id="rId19" Type="http://schemas.openxmlformats.org/officeDocument/2006/relationships/image" Target="../media/image9.png"/><Relationship Id="rId18" Type="http://schemas.openxmlformats.org/officeDocument/2006/relationships/tags" Target="../tags/tag33.xml"/><Relationship Id="rId17" Type="http://schemas.openxmlformats.org/officeDocument/2006/relationships/tags" Target="../tags/tag32.xml"/><Relationship Id="rId16" Type="http://schemas.openxmlformats.org/officeDocument/2006/relationships/tags" Target="../tags/tag31.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11.sv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9.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image" Target="../media/image11.svg"/><Relationship Id="rId8" Type="http://schemas.openxmlformats.org/officeDocument/2006/relationships/image" Target="../media/image9.png"/><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1" Type="http://schemas.openxmlformats.org/officeDocument/2006/relationships/notesSlide" Target="../notesSlides/notesSlide8.xml"/><Relationship Id="rId10" Type="http://schemas.openxmlformats.org/officeDocument/2006/relationships/slideLayout" Target="../slideLayouts/slideLayout7.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5" Type="http://schemas.openxmlformats.org/officeDocument/2006/relationships/notesSlide" Target="../notesSlides/notesSlide9.xml"/><Relationship Id="rId44" Type="http://schemas.openxmlformats.org/officeDocument/2006/relationships/slideLayout" Target="../slideLayouts/slideLayout7.xml"/><Relationship Id="rId43" Type="http://schemas.openxmlformats.org/officeDocument/2006/relationships/image" Target="../media/image11.svg"/><Relationship Id="rId42" Type="http://schemas.openxmlformats.org/officeDocument/2006/relationships/image" Target="../media/image9.png"/><Relationship Id="rId41" Type="http://schemas.openxmlformats.org/officeDocument/2006/relationships/tags" Target="../tags/tag81.xml"/><Relationship Id="rId40" Type="http://schemas.openxmlformats.org/officeDocument/2006/relationships/tags" Target="../tags/tag80.xml"/><Relationship Id="rId4" Type="http://schemas.openxmlformats.org/officeDocument/2006/relationships/tags" Target="../tags/tag44.xml"/><Relationship Id="rId39" Type="http://schemas.openxmlformats.org/officeDocument/2006/relationships/tags" Target="../tags/tag79.xml"/><Relationship Id="rId38" Type="http://schemas.openxmlformats.org/officeDocument/2006/relationships/tags" Target="../tags/tag78.xml"/><Relationship Id="rId37" Type="http://schemas.openxmlformats.org/officeDocument/2006/relationships/tags" Target="../tags/tag77.xml"/><Relationship Id="rId36" Type="http://schemas.openxmlformats.org/officeDocument/2006/relationships/tags" Target="../tags/tag76.xml"/><Relationship Id="rId35" Type="http://schemas.openxmlformats.org/officeDocument/2006/relationships/tags" Target="../tags/tag75.xml"/><Relationship Id="rId34" Type="http://schemas.openxmlformats.org/officeDocument/2006/relationships/tags" Target="../tags/tag74.xml"/><Relationship Id="rId33" Type="http://schemas.openxmlformats.org/officeDocument/2006/relationships/tags" Target="../tags/tag73.xml"/><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tags" Target="../tags/tag70.xml"/><Relationship Id="rId3" Type="http://schemas.openxmlformats.org/officeDocument/2006/relationships/tags" Target="../tags/tag43.xml"/><Relationship Id="rId29" Type="http://schemas.openxmlformats.org/officeDocument/2006/relationships/tags" Target="../tags/tag69.xml"/><Relationship Id="rId28" Type="http://schemas.openxmlformats.org/officeDocument/2006/relationships/tags" Target="../tags/tag68.xml"/><Relationship Id="rId27" Type="http://schemas.openxmlformats.org/officeDocument/2006/relationships/tags" Target="../tags/tag67.xml"/><Relationship Id="rId26" Type="http://schemas.openxmlformats.org/officeDocument/2006/relationships/tags" Target="../tags/tag66.xml"/><Relationship Id="rId25" Type="http://schemas.openxmlformats.org/officeDocument/2006/relationships/tags" Target="../tags/tag65.xml"/><Relationship Id="rId24" Type="http://schemas.openxmlformats.org/officeDocument/2006/relationships/tags" Target="../tags/tag64.xml"/><Relationship Id="rId23" Type="http://schemas.openxmlformats.org/officeDocument/2006/relationships/tags" Target="../tags/tag63.xml"/><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tags" Target="../tags/tag42.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sv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3" Type="http://schemas.openxmlformats.org/officeDocument/2006/relationships/slideLayout" Target="../slideLayouts/slideLayout7.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1" Type="http://schemas.openxmlformats.org/officeDocument/2006/relationships/slideLayout" Target="../slideLayouts/slideLayout7.xml"/><Relationship Id="rId20" Type="http://schemas.openxmlformats.org/officeDocument/2006/relationships/tags" Target="../tags/tag113.xml"/><Relationship Id="rId2" Type="http://schemas.openxmlformats.org/officeDocument/2006/relationships/tags" Target="../tags/tag95.xml"/><Relationship Id="rId19" Type="http://schemas.openxmlformats.org/officeDocument/2006/relationships/tags" Target="../tags/tag112.xml"/><Relationship Id="rId18" Type="http://schemas.openxmlformats.org/officeDocument/2006/relationships/tags" Target="../tags/tag111.xml"/><Relationship Id="rId17" Type="http://schemas.openxmlformats.org/officeDocument/2006/relationships/tags" Target="../tags/tag110.xml"/><Relationship Id="rId16" Type="http://schemas.openxmlformats.org/officeDocument/2006/relationships/tags" Target="../tags/tag109.xml"/><Relationship Id="rId15" Type="http://schemas.openxmlformats.org/officeDocument/2006/relationships/tags" Target="../tags/tag108.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4.xml"/></Relationships>
</file>

<file path=ppt/slides/_rels/slide20.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3" Type="http://schemas.openxmlformats.org/officeDocument/2006/relationships/slideLayout" Target="../slideLayouts/slideLayout7.xml"/><Relationship Id="rId32" Type="http://schemas.openxmlformats.org/officeDocument/2006/relationships/tags" Target="../tags/tag145.xml"/><Relationship Id="rId31" Type="http://schemas.openxmlformats.org/officeDocument/2006/relationships/tags" Target="../tags/tag144.xml"/><Relationship Id="rId30" Type="http://schemas.openxmlformats.org/officeDocument/2006/relationships/tags" Target="../tags/tag143.xml"/><Relationship Id="rId3" Type="http://schemas.openxmlformats.org/officeDocument/2006/relationships/tags" Target="../tags/tag116.xml"/><Relationship Id="rId29" Type="http://schemas.openxmlformats.org/officeDocument/2006/relationships/tags" Target="../tags/tag142.xml"/><Relationship Id="rId28" Type="http://schemas.openxmlformats.org/officeDocument/2006/relationships/tags" Target="../tags/tag141.xml"/><Relationship Id="rId27" Type="http://schemas.openxmlformats.org/officeDocument/2006/relationships/tags" Target="../tags/tag140.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svg"/><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3" Type="http://schemas.openxmlformats.org/officeDocument/2006/relationships/slideLayout" Target="../slideLayouts/slideLayout7.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6.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9" Type="http://schemas.openxmlformats.org/officeDocument/2006/relationships/image" Target="../media/image32.svg"/><Relationship Id="rId8" Type="http://schemas.openxmlformats.org/officeDocument/2006/relationships/image" Target="../media/image31.png"/><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4" Type="http://schemas.openxmlformats.org/officeDocument/2006/relationships/slideLayout" Target="../slideLayouts/slideLayout7.xml"/><Relationship Id="rId23" Type="http://schemas.openxmlformats.org/officeDocument/2006/relationships/image" Target="../media/image38.svg"/><Relationship Id="rId22" Type="http://schemas.openxmlformats.org/officeDocument/2006/relationships/image" Target="../media/image37.png"/><Relationship Id="rId21" Type="http://schemas.openxmlformats.org/officeDocument/2006/relationships/image" Target="../media/image36.svg"/><Relationship Id="rId20" Type="http://schemas.openxmlformats.org/officeDocument/2006/relationships/image" Target="../media/image35.png"/><Relationship Id="rId2" Type="http://schemas.openxmlformats.org/officeDocument/2006/relationships/tags" Target="../tags/tag165.xml"/><Relationship Id="rId19" Type="http://schemas.openxmlformats.org/officeDocument/2006/relationships/tags" Target="../tags/tag178.xml"/><Relationship Id="rId18" Type="http://schemas.openxmlformats.org/officeDocument/2006/relationships/tags" Target="../tags/tag177.xml"/><Relationship Id="rId17" Type="http://schemas.openxmlformats.org/officeDocument/2006/relationships/tags" Target="../tags/tag176.xml"/><Relationship Id="rId16" Type="http://schemas.openxmlformats.org/officeDocument/2006/relationships/tags" Target="../tags/tag175.xml"/><Relationship Id="rId15" Type="http://schemas.openxmlformats.org/officeDocument/2006/relationships/image" Target="../media/image34.svg"/><Relationship Id="rId14" Type="http://schemas.openxmlformats.org/officeDocument/2006/relationships/image" Target="../media/image33.png"/><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4.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4.jpeg"/></Relationships>
</file>

<file path=ppt/slides/_rels/slide34.xml.rels><?xml version="1.0" encoding="UTF-8" standalone="yes"?>
<Relationships xmlns="http://schemas.openxmlformats.org/package/2006/relationships"><Relationship Id="rId9" Type="http://schemas.openxmlformats.org/officeDocument/2006/relationships/image" Target="../media/image40.svg"/><Relationship Id="rId8" Type="http://schemas.openxmlformats.org/officeDocument/2006/relationships/image" Target="../media/image39.png"/><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3" Type="http://schemas.openxmlformats.org/officeDocument/2006/relationships/slideLayout" Target="../slideLayouts/slideLayout7.xml"/><Relationship Id="rId12" Type="http://schemas.openxmlformats.org/officeDocument/2006/relationships/tags" Target="../tags/tag188.xml"/><Relationship Id="rId11" Type="http://schemas.openxmlformats.org/officeDocument/2006/relationships/tags" Target="../tags/tag187.xml"/><Relationship Id="rId10" Type="http://schemas.openxmlformats.org/officeDocument/2006/relationships/tags" Target="../tags/tag186.xml"/><Relationship Id="rId1" Type="http://schemas.openxmlformats.org/officeDocument/2006/relationships/tags" Target="../tags/tag179.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7" name="文本框 10"/>
          <p:cNvSpPr txBox="1"/>
          <p:nvPr/>
        </p:nvSpPr>
        <p:spPr bwMode="auto">
          <a:xfrm>
            <a:off x="2823376" y="3688050"/>
            <a:ext cx="6545249" cy="367030"/>
          </a:xfrm>
          <a:prstGeom prst="rect">
            <a:avLst/>
          </a:prstGeom>
          <a:noFill/>
        </p:spPr>
        <p:txBody>
          <a:bodyPr wrap="square" lIns="91438" tIns="45719" rIns="91438" bIns="45719">
            <a:spAutoFit/>
            <a:scene3d>
              <a:camera prst="orthographicFront"/>
              <a:lightRig rig="threePt" dir="t"/>
            </a:scene3d>
            <a:sp3d contourW="12700"/>
          </a:bodyPr>
          <a:lstStyle/>
          <a:p>
            <a:pPr algn="ctr">
              <a:lnSpc>
                <a:spcPct val="150000"/>
              </a:lnSpc>
              <a:defRPr/>
            </a:pPr>
            <a:r>
              <a:rPr lang="en-US" altLang="zh-CN" sz="1200" b="1" dirty="0">
                <a:solidFill>
                  <a:schemeClr val="tx1">
                    <a:lumMod val="65000"/>
                    <a:lumOff val="35000"/>
                  </a:schemeClr>
                </a:solidFill>
                <a:cs typeface="+mn-ea"/>
                <a:sym typeface="+mn-lt"/>
              </a:rPr>
              <a:t>Personal Finance Tracker Project Report</a:t>
            </a:r>
            <a:endParaRPr lang="en-US" altLang="zh-CN" sz="1200" b="1" dirty="0">
              <a:solidFill>
                <a:schemeClr val="tx1">
                  <a:lumMod val="65000"/>
                  <a:lumOff val="35000"/>
                </a:schemeClr>
              </a:solidFill>
              <a:cs typeface="+mn-ea"/>
              <a:sym typeface="+mn-lt"/>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
        <p:nvSpPr>
          <p:cNvPr id="45" name="圆角矩形 44"/>
          <p:cNvSpPr/>
          <p:nvPr/>
        </p:nvSpPr>
        <p:spPr>
          <a:xfrm>
            <a:off x="2807335" y="4530725"/>
            <a:ext cx="6577330" cy="387985"/>
          </a:xfrm>
          <a:prstGeom prst="roundRect">
            <a:avLst>
              <a:gd name="adj" fmla="val 25072"/>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lumMod val="95000"/>
                    <a:lumOff val="5000"/>
                  </a:schemeClr>
                </a:solidFill>
                <a:cs typeface="+mn-ea"/>
                <a:sym typeface="+mn-lt"/>
              </a:rPr>
              <a:t>Presented by</a:t>
            </a:r>
            <a:r>
              <a:rPr lang="zh-CN" altLang="en-US" sz="1200" dirty="0" smtClean="0">
                <a:solidFill>
                  <a:schemeClr val="tx1">
                    <a:lumMod val="95000"/>
                    <a:lumOff val="5000"/>
                  </a:schemeClr>
                </a:solidFill>
                <a:cs typeface="+mn-ea"/>
                <a:sym typeface="+mn-lt"/>
              </a:rPr>
              <a:t>：</a:t>
            </a:r>
            <a:r>
              <a:rPr lang="en-US" altLang="zh-CN" sz="1200" dirty="0" smtClean="0">
                <a:solidFill>
                  <a:schemeClr val="tx1">
                    <a:lumMod val="95000"/>
                    <a:lumOff val="5000"/>
                  </a:schemeClr>
                </a:solidFill>
                <a:cs typeface="+mn-ea"/>
                <a:sym typeface="+mn-lt"/>
              </a:rPr>
              <a:t>Lu Yifeng/Huang Danlin/Gong Zhe/Tang Ranran/Ye Xinran/Chen Junzhi</a:t>
            </a:r>
            <a:endParaRPr lang="en-US" altLang="zh-CN" sz="1200" dirty="0" smtClean="0">
              <a:solidFill>
                <a:schemeClr val="tx1">
                  <a:lumMod val="95000"/>
                  <a:lumOff val="5000"/>
                </a:schemeClr>
              </a:solidFill>
              <a:cs typeface="+mn-ea"/>
              <a:sym typeface="+mn-lt"/>
            </a:endParaRPr>
          </a:p>
        </p:txBody>
      </p:sp>
      <p:sp>
        <p:nvSpPr>
          <p:cNvPr id="2" name="文本框 1"/>
          <p:cNvSpPr txBox="1"/>
          <p:nvPr/>
        </p:nvSpPr>
        <p:spPr>
          <a:xfrm>
            <a:off x="3083878" y="1816100"/>
            <a:ext cx="6036945" cy="1198880"/>
          </a:xfrm>
          <a:prstGeom prst="rect">
            <a:avLst/>
          </a:prstGeom>
        </p:spPr>
        <p:txBody>
          <a:bodyPr wrap="square">
            <a:spAutoFit/>
          </a:bodyPr>
          <a:p>
            <a:pPr marL="0" indent="0"/>
            <a:r>
              <a:rPr lang="en-US" altLang="zh-CN" sz="7200" b="1" i="0">
                <a:ln w="6350" cmpd="sng">
                  <a:solidFill>
                    <a:schemeClr val="bg1">
                      <a:alpha val="40000"/>
                    </a:schemeClr>
                  </a:solidFill>
                  <a:prstDash val="solid"/>
                </a:ln>
                <a:solidFill>
                  <a:srgbClr val="388BA5"/>
                </a:solidFill>
                <a:effectLst>
                  <a:outerShdw blurRad="38100" dist="38100" dir="2700000" algn="tl">
                    <a:srgbClr val="000000">
                      <a:alpha val="43137"/>
                    </a:srgbClr>
                  </a:outerShdw>
                </a:effectLst>
                <a:latin typeface="Times New Roman" panose="02020603050405020304" charset="0"/>
                <a:ea typeface="-apple-system"/>
                <a:cs typeface="Times New Roman" panose="02020603050405020304" charset="0"/>
              </a:rPr>
              <a:t>Project Report</a:t>
            </a:r>
            <a:endParaRPr lang="en-US" altLang="zh-CN" sz="7200" b="1" i="0">
              <a:ln w="6350" cmpd="sng">
                <a:solidFill>
                  <a:schemeClr val="bg1">
                    <a:alpha val="40000"/>
                  </a:schemeClr>
                </a:solidFill>
                <a:prstDash val="solid"/>
              </a:ln>
              <a:solidFill>
                <a:srgbClr val="388BA5"/>
              </a:solidFill>
              <a:effectLst>
                <a:outerShdw blurRad="38100" dist="38100" dir="2700000" algn="tl">
                  <a:srgbClr val="000000">
                    <a:alpha val="43137"/>
                  </a:srgbClr>
                </a:outerShdw>
              </a:effectLst>
              <a:latin typeface="Times New Roman" panose="02020603050405020304" charset="0"/>
              <a:ea typeface="-apple-system"/>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2745" y="1754505"/>
            <a:ext cx="2455545" cy="1095375"/>
          </a:xfrm>
          <a:prstGeom prst="rect">
            <a:avLst/>
          </a:prstGeom>
          <a:effectLst/>
        </p:spPr>
      </p:pic>
      <p:sp>
        <p:nvSpPr>
          <p:cNvPr id="40" name="文本框 7"/>
          <p:cNvSpPr txBox="1"/>
          <p:nvPr/>
        </p:nvSpPr>
        <p:spPr bwMode="auto">
          <a:xfrm>
            <a:off x="675640" y="1995170"/>
            <a:ext cx="1835150" cy="591185"/>
          </a:xfrm>
          <a:prstGeom prst="rect">
            <a:avLst/>
          </a:prstGeom>
          <a:noFill/>
        </p:spPr>
        <p:txBody>
          <a:bodyPr wrap="square" lIns="91438" tIns="45719" rIns="91438" bIns="45719">
            <a:noAutofit/>
            <a:scene3d>
              <a:camera prst="orthographicFront"/>
              <a:lightRig rig="threePt" dir="t"/>
            </a:scene3d>
            <a:sp3d contourW="12700"/>
          </a:bodyPr>
          <a:lstStyle/>
          <a:p>
            <a:pPr algn="l">
              <a:defRPr/>
            </a:pPr>
            <a:r>
              <a:rPr lang="en-US" altLang="zh-CN" sz="3600" dirty="0">
                <a:solidFill>
                  <a:srgbClr val="388BA5"/>
                </a:solidFill>
                <a:latin typeface="Times New Roman" panose="02020603050405020304" charset="0"/>
                <a:cs typeface="Times New Roman" panose="02020603050405020304" charset="0"/>
                <a:sym typeface="+mn-lt"/>
              </a:rPr>
              <a:t>Contents</a:t>
            </a:r>
            <a:endParaRPr lang="en-US" altLang="zh-CN" sz="3600" dirty="0">
              <a:solidFill>
                <a:srgbClr val="388BA5"/>
              </a:solidFill>
              <a:latin typeface="Times New Roman" panose="02020603050405020304" charset="0"/>
              <a:cs typeface="Times New Roman" panose="02020603050405020304" charset="0"/>
              <a:sym typeface="+mn-lt"/>
            </a:endParaRPr>
          </a:p>
        </p:txBody>
      </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pic>
        <p:nvPicPr>
          <p:cNvPr id="5" name="图片 4"/>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973050" y="231138"/>
            <a:ext cx="6828830" cy="1084262"/>
          </a:xfrm>
          <a:prstGeom prst="rect">
            <a:avLst/>
          </a:prstGeom>
        </p:spPr>
      </p:pic>
      <p:sp>
        <p:nvSpPr>
          <p:cNvPr id="6" name="矩形 5"/>
          <p:cNvSpPr/>
          <p:nvPr>
            <p:custDataLst>
              <p:tags r:id="rId6"/>
            </p:custDataLst>
          </p:nvPr>
        </p:nvSpPr>
        <p:spPr>
          <a:xfrm>
            <a:off x="4483735" y="546735"/>
            <a:ext cx="5122545" cy="368300"/>
          </a:xfrm>
          <a:prstGeom prst="rect">
            <a:avLst/>
          </a:prstGeom>
        </p:spPr>
        <p:txBody>
          <a:bodyPr wrap="square">
            <a:spAutoFit/>
          </a:bodyPr>
          <a:lstStyle/>
          <a:p>
            <a:pPr algn="dist"/>
            <a:r>
              <a:rPr lang="en-US" altLang="zh-CN" dirty="0">
                <a:cs typeface="+mn-ea"/>
                <a:sym typeface="+mn-lt"/>
              </a:rPr>
              <a:t>Project Background &amp; Objectives</a:t>
            </a:r>
            <a:endParaRPr lang="en-US" altLang="zh-CN" dirty="0">
              <a:cs typeface="+mn-ea"/>
              <a:sym typeface="+mn-lt"/>
            </a:endParaRPr>
          </a:p>
        </p:txBody>
      </p:sp>
      <p:sp>
        <p:nvSpPr>
          <p:cNvPr id="7" name="文本框 6"/>
          <p:cNvSpPr txBox="1"/>
          <p:nvPr>
            <p:custDataLst>
              <p:tags r:id="rId7"/>
            </p:custDataLst>
          </p:nvPr>
        </p:nvSpPr>
        <p:spPr>
          <a:xfrm>
            <a:off x="3959760" y="354518"/>
            <a:ext cx="522900" cy="768350"/>
          </a:xfrm>
          <a:prstGeom prst="rect">
            <a:avLst/>
          </a:prstGeom>
          <a:noFill/>
        </p:spPr>
        <p:txBody>
          <a:bodyPr wrap="square" rtlCol="0">
            <a:spAutoFit/>
          </a:bodyPr>
          <a:lstStyle/>
          <a:p>
            <a:r>
              <a:rPr lang="en-US" altLang="zh-CN" sz="4400" dirty="0" smtClean="0">
                <a:solidFill>
                  <a:srgbClr val="388BA5"/>
                </a:solidFill>
                <a:cs typeface="+mn-ea"/>
                <a:sym typeface="+mn-lt"/>
              </a:rPr>
              <a:t>1</a:t>
            </a:r>
            <a:endParaRPr lang="zh-CN" altLang="en-US" sz="4400" dirty="0">
              <a:solidFill>
                <a:srgbClr val="388BA5"/>
              </a:solidFill>
              <a:cs typeface="+mn-ea"/>
              <a:sym typeface="+mn-lt"/>
            </a:endParaRPr>
          </a:p>
        </p:txBody>
      </p:sp>
      <p:pic>
        <p:nvPicPr>
          <p:cNvPr id="8" name="图片 7"/>
          <p:cNvPicPr>
            <a:picLocks noChangeAspect="1"/>
          </p:cNvPicPr>
          <p:nvPr>
            <p:custDataLst>
              <p:tags r:id="rId8"/>
            </p:custDataLst>
          </p:nvPr>
        </p:nvPicPr>
        <p:blipFill>
          <a:blip r:embed="rId5">
            <a:extLst>
              <a:ext uri="{28A0092B-C50C-407E-A947-70E740481C1C}">
                <a14:useLocalDpi xmlns:a14="http://schemas.microsoft.com/office/drawing/2010/main" val="0"/>
              </a:ext>
            </a:extLst>
          </a:blip>
          <a:stretch>
            <a:fillRect/>
          </a:stretch>
        </p:blipFill>
        <p:spPr>
          <a:xfrm>
            <a:off x="2973050" y="1062133"/>
            <a:ext cx="6828830" cy="1084262"/>
          </a:xfrm>
          <a:prstGeom prst="rect">
            <a:avLst/>
          </a:prstGeom>
        </p:spPr>
      </p:pic>
      <p:sp>
        <p:nvSpPr>
          <p:cNvPr id="11" name="矩形 10"/>
          <p:cNvSpPr/>
          <p:nvPr>
            <p:custDataLst>
              <p:tags r:id="rId9"/>
            </p:custDataLst>
          </p:nvPr>
        </p:nvSpPr>
        <p:spPr>
          <a:xfrm>
            <a:off x="4484370" y="1377950"/>
            <a:ext cx="5121275" cy="368300"/>
          </a:xfrm>
          <a:prstGeom prst="rect">
            <a:avLst/>
          </a:prstGeom>
        </p:spPr>
        <p:txBody>
          <a:bodyPr wrap="square">
            <a:spAutoFit/>
          </a:bodyPr>
          <a:lstStyle/>
          <a:p>
            <a:pPr algn="dist"/>
            <a:r>
              <a:rPr lang="en-US" altLang="zh-CN" dirty="0">
                <a:cs typeface="+mn-ea"/>
                <a:sym typeface="+mn-lt"/>
              </a:rPr>
              <a:t>System Design &amp; Technical Architecture</a:t>
            </a:r>
            <a:endParaRPr lang="en-US" altLang="zh-CN" dirty="0">
              <a:cs typeface="+mn-ea"/>
              <a:sym typeface="+mn-lt"/>
            </a:endParaRPr>
          </a:p>
        </p:txBody>
      </p:sp>
      <p:sp>
        <p:nvSpPr>
          <p:cNvPr id="12" name="文本框 11"/>
          <p:cNvSpPr txBox="1"/>
          <p:nvPr>
            <p:custDataLst>
              <p:tags r:id="rId10"/>
            </p:custDataLst>
          </p:nvPr>
        </p:nvSpPr>
        <p:spPr>
          <a:xfrm>
            <a:off x="3959760" y="1185513"/>
            <a:ext cx="522900" cy="768350"/>
          </a:xfrm>
          <a:prstGeom prst="rect">
            <a:avLst/>
          </a:prstGeom>
          <a:noFill/>
        </p:spPr>
        <p:txBody>
          <a:bodyPr wrap="square" rtlCol="0">
            <a:spAutoFit/>
          </a:bodyPr>
          <a:lstStyle/>
          <a:p>
            <a:r>
              <a:rPr lang="en-US" altLang="zh-CN" sz="4400" dirty="0" smtClean="0">
                <a:solidFill>
                  <a:srgbClr val="388BA5"/>
                </a:solidFill>
                <a:cs typeface="+mn-ea"/>
                <a:sym typeface="+mn-lt"/>
              </a:rPr>
              <a:t>2</a:t>
            </a:r>
            <a:endParaRPr lang="zh-CN" altLang="en-US" sz="4400" dirty="0">
              <a:solidFill>
                <a:srgbClr val="388BA5"/>
              </a:solidFill>
              <a:cs typeface="+mn-ea"/>
              <a:sym typeface="+mn-lt"/>
            </a:endParaRPr>
          </a:p>
        </p:txBody>
      </p:sp>
      <p:pic>
        <p:nvPicPr>
          <p:cNvPr id="13" name="图片 12"/>
          <p:cNvPicPr>
            <a:picLocks noChangeAspect="1"/>
          </p:cNvPicPr>
          <p:nvPr>
            <p:custDataLst>
              <p:tags r:id="rId11"/>
            </p:custDataLst>
          </p:nvPr>
        </p:nvPicPr>
        <p:blipFill>
          <a:blip r:embed="rId5">
            <a:extLst>
              <a:ext uri="{28A0092B-C50C-407E-A947-70E740481C1C}">
                <a14:useLocalDpi xmlns:a14="http://schemas.microsoft.com/office/drawing/2010/main" val="0"/>
              </a:ext>
            </a:extLst>
          </a:blip>
          <a:stretch>
            <a:fillRect/>
          </a:stretch>
        </p:blipFill>
        <p:spPr>
          <a:xfrm>
            <a:off x="2973050" y="1893128"/>
            <a:ext cx="6828830" cy="1084262"/>
          </a:xfrm>
          <a:prstGeom prst="rect">
            <a:avLst/>
          </a:prstGeom>
        </p:spPr>
      </p:pic>
      <p:sp>
        <p:nvSpPr>
          <p:cNvPr id="14" name="矩形 13"/>
          <p:cNvSpPr/>
          <p:nvPr>
            <p:custDataLst>
              <p:tags r:id="rId12"/>
            </p:custDataLst>
          </p:nvPr>
        </p:nvSpPr>
        <p:spPr>
          <a:xfrm>
            <a:off x="4483100" y="2209165"/>
            <a:ext cx="5123180" cy="368300"/>
          </a:xfrm>
          <a:prstGeom prst="rect">
            <a:avLst/>
          </a:prstGeom>
        </p:spPr>
        <p:txBody>
          <a:bodyPr wrap="square">
            <a:spAutoFit/>
          </a:bodyPr>
          <a:lstStyle/>
          <a:p>
            <a:pPr algn="dist"/>
            <a:r>
              <a:rPr lang="en-US" altLang="zh-CN" dirty="0">
                <a:cs typeface="+mn-ea"/>
                <a:sym typeface="+mn-lt"/>
              </a:rPr>
              <a:t>Team Responsibilities &amp; Work Overview</a:t>
            </a:r>
            <a:endParaRPr lang="en-US" altLang="zh-CN" dirty="0">
              <a:cs typeface="+mn-ea"/>
              <a:sym typeface="+mn-lt"/>
            </a:endParaRPr>
          </a:p>
        </p:txBody>
      </p:sp>
      <p:sp>
        <p:nvSpPr>
          <p:cNvPr id="15" name="文本框 14"/>
          <p:cNvSpPr txBox="1"/>
          <p:nvPr>
            <p:custDataLst>
              <p:tags r:id="rId13"/>
            </p:custDataLst>
          </p:nvPr>
        </p:nvSpPr>
        <p:spPr>
          <a:xfrm>
            <a:off x="3959760" y="2016508"/>
            <a:ext cx="522900" cy="768350"/>
          </a:xfrm>
          <a:prstGeom prst="rect">
            <a:avLst/>
          </a:prstGeom>
          <a:noFill/>
        </p:spPr>
        <p:txBody>
          <a:bodyPr wrap="square" rtlCol="0">
            <a:spAutoFit/>
          </a:bodyPr>
          <a:lstStyle/>
          <a:p>
            <a:r>
              <a:rPr lang="en-US" altLang="zh-CN" sz="4400" dirty="0" smtClean="0">
                <a:solidFill>
                  <a:srgbClr val="388BA5"/>
                </a:solidFill>
                <a:cs typeface="+mn-ea"/>
                <a:sym typeface="+mn-lt"/>
              </a:rPr>
              <a:t>3</a:t>
            </a:r>
            <a:endParaRPr lang="zh-CN" altLang="en-US" sz="4400" dirty="0">
              <a:solidFill>
                <a:srgbClr val="388BA5"/>
              </a:solidFill>
              <a:cs typeface="+mn-ea"/>
              <a:sym typeface="+mn-lt"/>
            </a:endParaRPr>
          </a:p>
        </p:txBody>
      </p:sp>
      <p:pic>
        <p:nvPicPr>
          <p:cNvPr id="16" name="图片 15"/>
          <p:cNvPicPr>
            <a:picLocks noChangeAspect="1"/>
          </p:cNvPicPr>
          <p:nvPr>
            <p:custDataLst>
              <p:tags r:id="rId14"/>
            </p:custDataLst>
          </p:nvPr>
        </p:nvPicPr>
        <p:blipFill>
          <a:blip r:embed="rId5">
            <a:extLst>
              <a:ext uri="{28A0092B-C50C-407E-A947-70E740481C1C}">
                <a14:useLocalDpi xmlns:a14="http://schemas.microsoft.com/office/drawing/2010/main" val="0"/>
              </a:ext>
            </a:extLst>
          </a:blip>
          <a:stretch>
            <a:fillRect/>
          </a:stretch>
        </p:blipFill>
        <p:spPr>
          <a:xfrm>
            <a:off x="2973050" y="2724123"/>
            <a:ext cx="6828830" cy="1084262"/>
          </a:xfrm>
          <a:prstGeom prst="rect">
            <a:avLst/>
          </a:prstGeom>
        </p:spPr>
      </p:pic>
      <p:sp>
        <p:nvSpPr>
          <p:cNvPr id="17" name="矩形 16"/>
          <p:cNvSpPr/>
          <p:nvPr>
            <p:custDataLst>
              <p:tags r:id="rId15"/>
            </p:custDataLst>
          </p:nvPr>
        </p:nvSpPr>
        <p:spPr>
          <a:xfrm>
            <a:off x="4483100" y="3039745"/>
            <a:ext cx="5123815" cy="368300"/>
          </a:xfrm>
          <a:prstGeom prst="rect">
            <a:avLst/>
          </a:prstGeom>
        </p:spPr>
        <p:txBody>
          <a:bodyPr wrap="square">
            <a:spAutoFit/>
          </a:bodyPr>
          <a:lstStyle/>
          <a:p>
            <a:pPr algn="dist"/>
            <a:r>
              <a:rPr lang="en-US" altLang="zh-CN" dirty="0">
                <a:cs typeface="+mn-ea"/>
                <a:sym typeface="+mn-lt"/>
              </a:rPr>
              <a:t>Project Deliverables &amp; Demonstration</a:t>
            </a:r>
            <a:endParaRPr lang="en-US" altLang="zh-CN" dirty="0">
              <a:cs typeface="+mn-ea"/>
              <a:sym typeface="+mn-lt"/>
            </a:endParaRPr>
          </a:p>
        </p:txBody>
      </p:sp>
      <p:sp>
        <p:nvSpPr>
          <p:cNvPr id="18" name="文本框 17"/>
          <p:cNvSpPr txBox="1"/>
          <p:nvPr>
            <p:custDataLst>
              <p:tags r:id="rId16"/>
            </p:custDataLst>
          </p:nvPr>
        </p:nvSpPr>
        <p:spPr>
          <a:xfrm>
            <a:off x="3959760" y="2847503"/>
            <a:ext cx="522900" cy="768350"/>
          </a:xfrm>
          <a:prstGeom prst="rect">
            <a:avLst/>
          </a:prstGeom>
          <a:noFill/>
        </p:spPr>
        <p:txBody>
          <a:bodyPr wrap="square" rtlCol="0">
            <a:spAutoFit/>
          </a:bodyPr>
          <a:lstStyle/>
          <a:p>
            <a:r>
              <a:rPr lang="en-US" altLang="zh-CN" sz="4400" dirty="0" smtClean="0">
                <a:solidFill>
                  <a:srgbClr val="388BA5"/>
                </a:solidFill>
                <a:cs typeface="+mn-ea"/>
                <a:sym typeface="+mn-lt"/>
              </a:rPr>
              <a:t>4</a:t>
            </a:r>
            <a:endParaRPr lang="zh-CN" altLang="en-US" sz="4400" dirty="0">
              <a:solidFill>
                <a:srgbClr val="388BA5"/>
              </a:solidFill>
              <a:cs typeface="+mn-ea"/>
              <a:sym typeface="+mn-lt"/>
            </a:endParaRPr>
          </a:p>
        </p:txBody>
      </p:sp>
      <p:pic>
        <p:nvPicPr>
          <p:cNvPr id="20" name="图片 19"/>
          <p:cNvPicPr>
            <a:picLocks noChangeAspect="1"/>
          </p:cNvPicPr>
          <p:nvPr>
            <p:custDataLst>
              <p:tags r:id="rId17"/>
            </p:custDataLst>
          </p:nvPr>
        </p:nvPicPr>
        <p:blipFill>
          <a:blip r:embed="rId5">
            <a:extLst>
              <a:ext uri="{28A0092B-C50C-407E-A947-70E740481C1C}">
                <a14:useLocalDpi xmlns:a14="http://schemas.microsoft.com/office/drawing/2010/main" val="0"/>
              </a:ext>
            </a:extLst>
          </a:blip>
          <a:stretch>
            <a:fillRect/>
          </a:stretch>
        </p:blipFill>
        <p:spPr>
          <a:xfrm>
            <a:off x="2973050" y="3524248"/>
            <a:ext cx="6828830" cy="1084262"/>
          </a:xfrm>
          <a:prstGeom prst="rect">
            <a:avLst/>
          </a:prstGeom>
        </p:spPr>
      </p:pic>
      <p:sp>
        <p:nvSpPr>
          <p:cNvPr id="21" name="矩形 20"/>
          <p:cNvSpPr/>
          <p:nvPr>
            <p:custDataLst>
              <p:tags r:id="rId18"/>
            </p:custDataLst>
          </p:nvPr>
        </p:nvSpPr>
        <p:spPr>
          <a:xfrm>
            <a:off x="4483100" y="3839845"/>
            <a:ext cx="5123180" cy="368300"/>
          </a:xfrm>
          <a:prstGeom prst="rect">
            <a:avLst/>
          </a:prstGeom>
        </p:spPr>
        <p:txBody>
          <a:bodyPr wrap="square">
            <a:spAutoFit/>
          </a:bodyPr>
          <a:lstStyle/>
          <a:p>
            <a:pPr algn="dist"/>
            <a:r>
              <a:rPr lang="en-US" altLang="zh-CN" dirty="0">
                <a:cs typeface="+mn-ea"/>
                <a:sym typeface="+mn-lt"/>
              </a:rPr>
              <a:t>Project Value &amp; Impact</a:t>
            </a:r>
            <a:endParaRPr lang="en-US" altLang="zh-CN" dirty="0">
              <a:cs typeface="+mn-ea"/>
              <a:sym typeface="+mn-lt"/>
            </a:endParaRPr>
          </a:p>
        </p:txBody>
      </p:sp>
      <p:sp>
        <p:nvSpPr>
          <p:cNvPr id="23" name="文本框 22"/>
          <p:cNvSpPr txBox="1"/>
          <p:nvPr>
            <p:custDataLst>
              <p:tags r:id="rId19"/>
            </p:custDataLst>
          </p:nvPr>
        </p:nvSpPr>
        <p:spPr>
          <a:xfrm>
            <a:off x="3959760" y="3647628"/>
            <a:ext cx="522900" cy="768350"/>
          </a:xfrm>
          <a:prstGeom prst="rect">
            <a:avLst/>
          </a:prstGeom>
          <a:noFill/>
        </p:spPr>
        <p:txBody>
          <a:bodyPr wrap="square" rtlCol="0">
            <a:spAutoFit/>
          </a:bodyPr>
          <a:lstStyle/>
          <a:p>
            <a:r>
              <a:rPr lang="en-US" altLang="zh-CN" sz="4400" dirty="0" smtClean="0">
                <a:solidFill>
                  <a:srgbClr val="388BA5"/>
                </a:solidFill>
                <a:cs typeface="+mn-ea"/>
                <a:sym typeface="+mn-lt"/>
              </a:rPr>
              <a:t>5</a:t>
            </a:r>
            <a:endParaRPr lang="zh-CN" altLang="en-US" sz="4400" dirty="0">
              <a:solidFill>
                <a:srgbClr val="388BA5"/>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doors dir="ver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093434"/>
            <a:ext cx="7196034" cy="1142566"/>
          </a:xfrm>
          <a:prstGeom prst="rect">
            <a:avLst/>
          </a:prstGeom>
        </p:spPr>
      </p:pic>
      <p:sp>
        <p:nvSpPr>
          <p:cNvPr id="3" name="矩形 2"/>
          <p:cNvSpPr/>
          <p:nvPr/>
        </p:nvSpPr>
        <p:spPr>
          <a:xfrm>
            <a:off x="3800793" y="2464435"/>
            <a:ext cx="4590415"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Project Background &amp; Objectives</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5665434" y="1018112"/>
            <a:ext cx="838200" cy="1445260"/>
          </a:xfrm>
          <a:prstGeom prst="rect">
            <a:avLst/>
          </a:prstGeom>
          <a:noFill/>
        </p:spPr>
        <p:txBody>
          <a:bodyPr wrap="none" rtlCol="0">
            <a:spAutoFit/>
          </a:bodyPr>
          <a:lstStyle/>
          <a:p>
            <a:r>
              <a:rPr lang="en-US" altLang="zh-CN" sz="8800" dirty="0" smtClean="0">
                <a:solidFill>
                  <a:srgbClr val="388BA5"/>
                </a:solidFill>
                <a:effectLst>
                  <a:outerShdw blurRad="38100" dist="38100" dir="2700000" algn="tl">
                    <a:srgbClr val="000000">
                      <a:alpha val="43137"/>
                    </a:srgbClr>
                  </a:outerShdw>
                </a:effectLst>
                <a:cs typeface="+mn-ea"/>
                <a:sym typeface="+mn-lt"/>
              </a:rPr>
              <a:t>1</a:t>
            </a:r>
            <a:endParaRPr lang="zh-CN" altLang="en-US" sz="8800" dirty="0">
              <a:solidFill>
                <a:srgbClr val="388BA5"/>
              </a:solidFill>
              <a:effectLst>
                <a:outerShdw blurRad="38100" dist="38100" dir="2700000" algn="tl">
                  <a:srgbClr val="000000">
                    <a:alpha val="43137"/>
                  </a:srgbClr>
                </a:outerShdw>
              </a:effectLst>
              <a:cs typeface="+mn-ea"/>
              <a:sym typeface="+mn-lt"/>
            </a:endParaRPr>
          </a:p>
        </p:txBody>
      </p:sp>
      <p:sp>
        <p:nvSpPr>
          <p:cNvPr id="5" name="矩形 4"/>
          <p:cNvSpPr/>
          <p:nvPr/>
        </p:nvSpPr>
        <p:spPr>
          <a:xfrm>
            <a:off x="3939540" y="3276600"/>
            <a:ext cx="4312920" cy="1060450"/>
          </a:xfrm>
          <a:prstGeom prst="rect">
            <a:avLst/>
          </a:prstGeom>
        </p:spPr>
        <p:txBody>
          <a:bodyPr wrap="square">
            <a:spAutoFit/>
          </a:bodyPr>
          <a:lstStyle/>
          <a:p>
            <a:pPr algn="ctr">
              <a:lnSpc>
                <a:spcPct val="150000"/>
              </a:lnSpc>
            </a:pPr>
            <a:r>
              <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rPr>
              <a:t>Introduces the motivation behind the project, the real-world problem it aims to solve, and the key objectives that guide the system design.</a:t>
            </a:r>
            <a:endPar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红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4650" y="95885"/>
            <a:ext cx="693420" cy="693420"/>
          </a:xfrm>
          <a:prstGeom prst="rect">
            <a:avLst/>
          </a:prstGeom>
        </p:spPr>
      </p:pic>
      <p:sp>
        <p:nvSpPr>
          <p:cNvPr id="3" name="矩形 2"/>
          <p:cNvSpPr/>
          <p:nvPr/>
        </p:nvSpPr>
        <p:spPr>
          <a:xfrm>
            <a:off x="635" y="3201670"/>
            <a:ext cx="12191365" cy="1913255"/>
          </a:xfrm>
          <a:prstGeom prst="rect">
            <a:avLst/>
          </a:prstGeom>
          <a:solidFill>
            <a:srgbClr val="388BA5"/>
          </a:solidFill>
          <a:ln>
            <a:noFill/>
          </a:ln>
          <a:effectLst>
            <a:reflection blurRad="6350" stA="52000" endA="300" endPos="350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509270" y="1666875"/>
            <a:ext cx="3600000" cy="57600"/>
          </a:xfrm>
          <a:prstGeom prst="rect">
            <a:avLst/>
          </a:prstGeom>
          <a:solidFill>
            <a:srgbClr val="388BA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509270" y="1134745"/>
            <a:ext cx="1915160" cy="532130"/>
          </a:xfrm>
          <a:prstGeom prst="rect">
            <a:avLst/>
          </a:prstGeom>
        </p:spPr>
        <p:txBody>
          <a:bodyPr wrap="square">
            <a:noAutofit/>
          </a:bodyPr>
          <a:p>
            <a:r>
              <a:rPr lang="en-US" altLang="zh-CN" sz="2200">
                <a:solidFill>
                  <a:srgbClr val="388BA5"/>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Background</a:t>
            </a:r>
            <a:endParaRPr lang="en-US" altLang="zh-CN" sz="2200">
              <a:solidFill>
                <a:srgbClr val="388BA5"/>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文本框 5"/>
          <p:cNvSpPr txBox="1"/>
          <p:nvPr/>
        </p:nvSpPr>
        <p:spPr>
          <a:xfrm>
            <a:off x="509270" y="1798320"/>
            <a:ext cx="6554470" cy="1173480"/>
          </a:xfrm>
          <a:prstGeom prst="rect">
            <a:avLst/>
          </a:prstGeom>
        </p:spPr>
        <p:txBody>
          <a:bodyPr wrap="square">
            <a:spAutoFit/>
          </a:bodyPr>
          <a:p>
            <a:pPr marL="285750" indent="-285750">
              <a:lnSpc>
                <a:spcPct val="110000"/>
              </a:lnSpc>
              <a:buClr>
                <a:srgbClr val="A6A6A6"/>
              </a:buClr>
              <a:buFont typeface="Wingdings" panose="05000000000000000000" charset="0"/>
              <a:buChar char="l"/>
            </a:pPr>
            <a:r>
              <a:rPr lang="en-US" altLang="zh-CN" sz="1600">
                <a:solidFill>
                  <a:schemeClr val="bg1">
                    <a:lumMod val="50000"/>
                  </a:schemeClr>
                </a:solidFill>
              </a:rPr>
              <a:t>Hard to track daily spending clearly</a:t>
            </a:r>
            <a:endParaRPr lang="en-US" altLang="zh-CN" sz="1600">
              <a:solidFill>
                <a:schemeClr val="bg1">
                  <a:lumMod val="50000"/>
                </a:schemeClr>
              </a:solidFill>
            </a:endParaRPr>
          </a:p>
          <a:p>
            <a:pPr marL="285750" indent="-285750">
              <a:lnSpc>
                <a:spcPct val="110000"/>
              </a:lnSpc>
              <a:buClr>
                <a:srgbClr val="A6A6A6"/>
              </a:buClr>
              <a:buFont typeface="Wingdings" panose="05000000000000000000" charset="0"/>
              <a:buChar char="l"/>
            </a:pPr>
            <a:r>
              <a:rPr lang="en-US" altLang="zh-CN" sz="1600">
                <a:solidFill>
                  <a:schemeClr val="bg1">
                    <a:lumMod val="50000"/>
                  </a:schemeClr>
                </a:solidFill>
                <a:sym typeface="+mn-ea"/>
              </a:rPr>
              <a:t>Students often lack financial awareness</a:t>
            </a:r>
            <a:endParaRPr lang="en-US" altLang="zh-CN" sz="1600">
              <a:solidFill>
                <a:schemeClr val="bg1">
                  <a:lumMod val="50000"/>
                </a:schemeClr>
              </a:solidFill>
            </a:endParaRPr>
          </a:p>
          <a:p>
            <a:pPr marL="285750" indent="-285750">
              <a:lnSpc>
                <a:spcPct val="110000"/>
              </a:lnSpc>
              <a:buClr>
                <a:srgbClr val="A6A6A6"/>
              </a:buClr>
              <a:buFont typeface="Wingdings" panose="05000000000000000000" charset="0"/>
              <a:buChar char="l"/>
            </a:pPr>
            <a:r>
              <a:rPr lang="en-US" altLang="zh-CN" sz="1600">
                <a:solidFill>
                  <a:schemeClr val="bg1">
                    <a:lumMod val="50000"/>
                  </a:schemeClr>
                </a:solidFill>
              </a:rPr>
              <a:t>Existing apps are </a:t>
            </a:r>
            <a:r>
              <a:rPr lang="en-US" altLang="zh-CN" sz="1600" b="1">
                <a:solidFill>
                  <a:schemeClr val="bg1">
                    <a:lumMod val="50000"/>
                  </a:schemeClr>
                </a:solidFill>
              </a:rPr>
              <a:t>too complex</a:t>
            </a:r>
            <a:r>
              <a:rPr lang="en-US" altLang="zh-CN" sz="1600">
                <a:solidFill>
                  <a:schemeClr val="bg1">
                    <a:lumMod val="50000"/>
                  </a:schemeClr>
                </a:solidFill>
              </a:rPr>
              <a:t> or </a:t>
            </a:r>
            <a:r>
              <a:rPr lang="en-US" altLang="zh-CN" sz="1600" b="1">
                <a:solidFill>
                  <a:schemeClr val="bg1">
                    <a:lumMod val="50000"/>
                  </a:schemeClr>
                </a:solidFill>
              </a:rPr>
              <a:t>not visual enough</a:t>
            </a:r>
            <a:endParaRPr lang="en-US" altLang="zh-CN" sz="1600">
              <a:solidFill>
                <a:schemeClr val="bg1">
                  <a:lumMod val="50000"/>
                </a:schemeClr>
              </a:solidFill>
            </a:endParaRPr>
          </a:p>
          <a:p>
            <a:pPr marL="285750" indent="-285750">
              <a:lnSpc>
                <a:spcPct val="110000"/>
              </a:lnSpc>
              <a:buClr>
                <a:srgbClr val="A6A6A6"/>
              </a:buClr>
              <a:buFont typeface="Wingdings" panose="05000000000000000000" charset="0"/>
              <a:buChar char="l"/>
            </a:pPr>
            <a:r>
              <a:rPr lang="en-US" altLang="zh-CN" sz="1600">
                <a:solidFill>
                  <a:schemeClr val="bg1">
                    <a:lumMod val="50000"/>
                  </a:schemeClr>
                </a:solidFill>
                <a:sym typeface="+mn-ea"/>
              </a:rPr>
              <a:t>Privacy concerns with cloud-based finance tools</a:t>
            </a:r>
            <a:endParaRPr lang="en-US" altLang="zh-CN" sz="1600">
              <a:solidFill>
                <a:schemeClr val="bg1">
                  <a:lumMod val="50000"/>
                </a:schemeClr>
              </a:solidFill>
              <a:sym typeface="+mn-ea"/>
            </a:endParaRPr>
          </a:p>
        </p:txBody>
      </p:sp>
      <p:sp>
        <p:nvSpPr>
          <p:cNvPr id="10" name="任意多边形 9"/>
          <p:cNvSpPr/>
          <p:nvPr/>
        </p:nvSpPr>
        <p:spPr>
          <a:xfrm>
            <a:off x="9272270" y="0"/>
            <a:ext cx="3866515" cy="1920240"/>
          </a:xfrm>
          <a:custGeom>
            <a:avLst/>
            <a:gdLst/>
            <a:ahLst/>
            <a:cxnLst>
              <a:cxn ang="3">
                <a:pos x="hc" y="t"/>
              </a:cxn>
              <a:cxn ang="cd2">
                <a:pos x="l" y="vc"/>
              </a:cxn>
              <a:cxn ang="cd4">
                <a:pos x="hc" y="b"/>
              </a:cxn>
              <a:cxn ang="0">
                <a:pos x="r" y="vc"/>
              </a:cxn>
            </a:cxnLst>
            <a:rect l="l" t="t" r="r" b="b"/>
            <a:pathLst>
              <a:path w="4967" h="2420">
                <a:moveTo>
                  <a:pt x="0" y="0"/>
                </a:moveTo>
                <a:lnTo>
                  <a:pt x="4967" y="0"/>
                </a:lnTo>
                <a:lnTo>
                  <a:pt x="4966" y="32"/>
                </a:lnTo>
                <a:cubicBezTo>
                  <a:pt x="4916" y="1359"/>
                  <a:pt x="3824" y="2420"/>
                  <a:pt x="2484" y="2420"/>
                </a:cubicBezTo>
                <a:cubicBezTo>
                  <a:pt x="1144" y="2420"/>
                  <a:pt x="51" y="1359"/>
                  <a:pt x="1" y="32"/>
                </a:cubicBezTo>
                <a:lnTo>
                  <a:pt x="0" y="0"/>
                </a:lnTo>
                <a:close/>
              </a:path>
            </a:pathLst>
          </a:custGeom>
          <a:solidFill>
            <a:srgbClr val="388BA5">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文本框 11"/>
          <p:cNvSpPr txBox="1"/>
          <p:nvPr/>
        </p:nvSpPr>
        <p:spPr>
          <a:xfrm>
            <a:off x="10223500" y="2597150"/>
            <a:ext cx="1796415" cy="492760"/>
          </a:xfrm>
          <a:prstGeom prst="rect">
            <a:avLst/>
          </a:prstGeom>
          <a:noFill/>
          <a:ln>
            <a:noFill/>
          </a:ln>
          <a:extLst>
            <a:ext uri="{909E8E84-426E-40DD-AFC4-6F175D3DCCD1}">
              <a14:hiddenFill xmlns:a14="http://schemas.microsoft.com/office/drawing/2010/main">
                <a:solidFill>
                  <a:schemeClr val="bg1">
                    <a:lumMod val="85000"/>
                  </a:schemeClr>
                </a:solidFill>
              </a14:hiddenFill>
            </a:ext>
          </a:extLst>
        </p:spPr>
        <p:txBody>
          <a:bodyPr wrap="square">
            <a:noAutofit/>
          </a:bodyPr>
          <a:p>
            <a:r>
              <a:rPr lang="en-US" altLang="zh-CN" sz="2800" b="1">
                <a:ln w="9525" cmpd="sng">
                  <a:noFill/>
                  <a:prstDash val="solid"/>
                </a:ln>
                <a:solidFill>
                  <a:srgbClr val="388BA5"/>
                </a:solidFill>
                <a:effectLst/>
                <a:latin typeface="Times New Roman" panose="02020603050405020304" charset="0"/>
                <a:cs typeface="Times New Roman" panose="02020603050405020304" charset="0"/>
              </a:rPr>
              <a:t>Objectives</a:t>
            </a:r>
            <a:endParaRPr lang="en-US" altLang="zh-CN" sz="2800" b="1">
              <a:ln w="9525" cmpd="sng">
                <a:noFill/>
                <a:prstDash val="solid"/>
              </a:ln>
              <a:solidFill>
                <a:srgbClr val="388BA5"/>
              </a:solidFill>
              <a:effectLst/>
              <a:latin typeface="Times New Roman" panose="02020603050405020304" charset="0"/>
              <a:cs typeface="Times New Roman" panose="02020603050405020304" charset="0"/>
            </a:endParaRPr>
          </a:p>
        </p:txBody>
      </p:sp>
      <p:sp>
        <p:nvSpPr>
          <p:cNvPr id="13" name="文本框 12"/>
          <p:cNvSpPr txBox="1"/>
          <p:nvPr/>
        </p:nvSpPr>
        <p:spPr>
          <a:xfrm>
            <a:off x="2238375" y="3201670"/>
            <a:ext cx="7715885" cy="1832610"/>
          </a:xfrm>
          <a:prstGeom prst="rect">
            <a:avLst/>
          </a:prstGeom>
          <a:noFill/>
        </p:spPr>
        <p:txBody>
          <a:bodyPr wrap="square" rtlCol="0">
            <a:spAutoFit/>
          </a:bodyPr>
          <a:p>
            <a:pPr algn="ctr">
              <a:lnSpc>
                <a:spcPct val="90000"/>
              </a:lnSpc>
            </a:pPr>
            <a:r>
              <a:rPr lang="en-US" altLang="zh-CN">
                <a:solidFill>
                  <a:schemeClr val="bg1"/>
                </a:solidFill>
              </a:rPr>
              <a:t>Build a cross-platform </a:t>
            </a:r>
            <a:r>
              <a:rPr lang="en-US" altLang="zh-CN" b="1">
                <a:solidFill>
                  <a:schemeClr val="bg1"/>
                </a:solidFill>
                <a:effectLst>
                  <a:outerShdw blurRad="38100" dist="38100" dir="2700000" algn="tl">
                    <a:srgbClr val="000000">
                      <a:alpha val="43137"/>
                    </a:srgbClr>
                  </a:outerShdw>
                </a:effectLst>
              </a:rPr>
              <a:t>Personal Finance Tracker</a:t>
            </a:r>
            <a:endParaRPr lang="en-US" altLang="zh-CN" b="1">
              <a:solidFill>
                <a:schemeClr val="bg1"/>
              </a:solidFill>
              <a:effectLst>
                <a:outerShdw blurRad="38100" dist="38100" dir="2700000" algn="tl">
                  <a:srgbClr val="000000">
                    <a:alpha val="43137"/>
                  </a:srgbClr>
                </a:outerShdw>
              </a:effectLst>
            </a:endParaRPr>
          </a:p>
          <a:p>
            <a:pPr algn="ctr">
              <a:lnSpc>
                <a:spcPct val="90000"/>
              </a:lnSpc>
            </a:pPr>
            <a:endParaRPr lang="en-US" altLang="zh-CN">
              <a:solidFill>
                <a:schemeClr val="bg1"/>
              </a:solidFill>
              <a:effectLst>
                <a:outerShdw blurRad="38100" dist="38100" dir="2700000" algn="tl">
                  <a:srgbClr val="000000">
                    <a:alpha val="43137"/>
                  </a:srgbClr>
                </a:outerShdw>
              </a:effectLst>
            </a:endParaRPr>
          </a:p>
          <a:p>
            <a:pPr algn="ctr">
              <a:lnSpc>
                <a:spcPct val="90000"/>
              </a:lnSpc>
            </a:pPr>
            <a:r>
              <a:rPr lang="en-US" altLang="zh-CN">
                <a:solidFill>
                  <a:schemeClr val="bg1"/>
                </a:solidFill>
              </a:rPr>
              <a:t>Enable </a:t>
            </a:r>
            <a:r>
              <a:rPr lang="en-US" altLang="zh-CN" b="1">
                <a:solidFill>
                  <a:schemeClr val="bg1"/>
                </a:solidFill>
                <a:effectLst>
                  <a:outerShdw blurRad="38100" dist="38100" dir="2700000" algn="tl">
                    <a:srgbClr val="000000">
                      <a:alpha val="43137"/>
                    </a:srgbClr>
                  </a:outerShdw>
                </a:effectLst>
              </a:rPr>
              <a:t>easy recording</a:t>
            </a:r>
            <a:r>
              <a:rPr lang="en-US" altLang="zh-CN">
                <a:solidFill>
                  <a:schemeClr val="bg1"/>
                </a:solidFill>
              </a:rPr>
              <a:t> of income &amp; expenses</a:t>
            </a:r>
            <a:endParaRPr lang="en-US" altLang="zh-CN">
              <a:solidFill>
                <a:schemeClr val="bg1"/>
              </a:solidFill>
            </a:endParaRPr>
          </a:p>
          <a:p>
            <a:pPr algn="ctr">
              <a:lnSpc>
                <a:spcPct val="90000"/>
              </a:lnSpc>
            </a:pPr>
            <a:endParaRPr lang="en-US" altLang="zh-CN">
              <a:solidFill>
                <a:schemeClr val="bg1"/>
              </a:solidFill>
            </a:endParaRPr>
          </a:p>
          <a:p>
            <a:pPr algn="ctr">
              <a:lnSpc>
                <a:spcPct val="90000"/>
              </a:lnSpc>
            </a:pPr>
            <a:r>
              <a:rPr lang="en-US" altLang="zh-CN">
                <a:solidFill>
                  <a:schemeClr val="bg1"/>
                </a:solidFill>
              </a:rPr>
              <a:t>Provide </a:t>
            </a:r>
            <a:r>
              <a:rPr lang="en-US" altLang="zh-CN" b="1">
                <a:solidFill>
                  <a:schemeClr val="bg1"/>
                </a:solidFill>
                <a:effectLst>
                  <a:outerShdw blurRad="38100" dist="38100" dir="2700000" algn="tl">
                    <a:srgbClr val="000000">
                      <a:alpha val="43137"/>
                    </a:srgbClr>
                  </a:outerShdw>
                </a:effectLst>
              </a:rPr>
              <a:t>clear financial insights</a:t>
            </a:r>
            <a:r>
              <a:rPr lang="en-US" altLang="zh-CN">
                <a:solidFill>
                  <a:schemeClr val="bg1"/>
                </a:solidFill>
              </a:rPr>
              <a:t> through charts and analysis</a:t>
            </a:r>
            <a:endParaRPr lang="en-US" altLang="zh-CN">
              <a:solidFill>
                <a:schemeClr val="bg1"/>
              </a:solidFill>
            </a:endParaRPr>
          </a:p>
          <a:p>
            <a:pPr algn="ctr">
              <a:lnSpc>
                <a:spcPct val="90000"/>
              </a:lnSpc>
            </a:pPr>
            <a:endParaRPr lang="en-US" altLang="zh-CN">
              <a:solidFill>
                <a:schemeClr val="bg1"/>
              </a:solidFill>
            </a:endParaRPr>
          </a:p>
          <a:p>
            <a:pPr algn="ctr">
              <a:lnSpc>
                <a:spcPct val="90000"/>
              </a:lnSpc>
            </a:pPr>
            <a:r>
              <a:rPr lang="en-US" altLang="zh-CN">
                <a:solidFill>
                  <a:schemeClr val="bg1"/>
                </a:solidFill>
              </a:rPr>
              <a:t>Support </a:t>
            </a:r>
            <a:r>
              <a:rPr lang="en-US" altLang="zh-CN" b="1">
                <a:solidFill>
                  <a:schemeClr val="bg1"/>
                </a:solidFill>
                <a:effectLst>
                  <a:outerShdw blurRad="38100" dist="38100" dir="2700000" algn="tl">
                    <a:srgbClr val="000000">
                      <a:alpha val="43137"/>
                    </a:srgbClr>
                  </a:outerShdw>
                </a:effectLst>
              </a:rPr>
              <a:t>local data storage</a:t>
            </a:r>
            <a:r>
              <a:rPr lang="en-US" altLang="zh-CN">
                <a:solidFill>
                  <a:schemeClr val="bg1"/>
                </a:solidFill>
              </a:rPr>
              <a:t> to ensure privacy and offline usage</a:t>
            </a:r>
            <a:endParaRPr lang="en-US" altLang="zh-CN">
              <a:solidFill>
                <a:schemeClr val="bg1"/>
              </a:solidFill>
            </a:endParaRPr>
          </a:p>
        </p:txBody>
      </p:sp>
      <p:sp>
        <p:nvSpPr>
          <p:cNvPr id="14" name="文本框 13"/>
          <p:cNvSpPr txBox="1"/>
          <p:nvPr/>
        </p:nvSpPr>
        <p:spPr>
          <a:xfrm>
            <a:off x="3486785" y="5462270"/>
            <a:ext cx="5219065" cy="361950"/>
          </a:xfrm>
          <a:prstGeom prst="rect">
            <a:avLst/>
          </a:prstGeom>
        </p:spPr>
        <p:txBody>
          <a:bodyPr wrap="square">
            <a:spAutoFit/>
          </a:bodyPr>
          <a:p>
            <a:pPr lvl="0" indent="0" algn="l">
              <a:lnSpc>
                <a:spcPct val="110000"/>
              </a:lnSpc>
              <a:buClr>
                <a:srgbClr val="A6A6A6"/>
              </a:buClr>
              <a:buSzTx/>
              <a:buFont typeface="Wingdings" panose="05000000000000000000" charset="0"/>
              <a:buNone/>
            </a:pPr>
            <a:r>
              <a:rPr lang="en-US" altLang="zh-CN" sz="1600">
                <a:solidFill>
                  <a:schemeClr val="bg1">
                    <a:lumMod val="50000"/>
                  </a:schemeClr>
                </a:solidFill>
                <a:sym typeface="+mn-ea"/>
              </a:rPr>
              <a:t>See Your Money Clearly → Make Smarter Decisions</a:t>
            </a:r>
            <a:endParaRPr lang="en-US" altLang="zh-CN" sz="1600">
              <a:solidFill>
                <a:schemeClr val="bg1">
                  <a:lumMod val="50000"/>
                </a:schemeClr>
              </a:solidFill>
              <a:sym typeface="+mn-ea"/>
            </a:endParaRPr>
          </a:p>
        </p:txBody>
      </p:sp>
      <p:sp>
        <p:nvSpPr>
          <p:cNvPr id="15" name="文本框 14"/>
          <p:cNvSpPr txBox="1"/>
          <p:nvPr/>
        </p:nvSpPr>
        <p:spPr>
          <a:xfrm>
            <a:off x="3766820" y="5976620"/>
            <a:ext cx="4658995" cy="368300"/>
          </a:xfrm>
          <a:prstGeom prst="rect">
            <a:avLst/>
          </a:prstGeom>
        </p:spPr>
        <p:txBody>
          <a:bodyPr wrap="square">
            <a:spAutoFit/>
          </a:bodyPr>
          <a:p>
            <a:r>
              <a:rPr lang="en-US" altLang="zh-CN">
                <a:solidFill>
                  <a:srgbClr val="388BA5"/>
                </a:solidFill>
                <a:effectLst>
                  <a:outerShdw blurRad="38100" dist="38100" dir="2700000" algn="tl">
                    <a:srgbClr val="000000">
                      <a:alpha val="43137"/>
                    </a:srgbClr>
                  </a:outerShdw>
                </a:effectLst>
              </a:rPr>
              <a:t>Easy • Visual • Secure • Offline • Practical</a:t>
            </a:r>
            <a:endParaRPr lang="en-US" altLang="zh-CN">
              <a:solidFill>
                <a:srgbClr val="388BA5"/>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093434"/>
            <a:ext cx="7196034" cy="1142566"/>
          </a:xfrm>
          <a:prstGeom prst="rect">
            <a:avLst/>
          </a:prstGeom>
        </p:spPr>
      </p:pic>
      <p:sp>
        <p:nvSpPr>
          <p:cNvPr id="3" name="矩形 2"/>
          <p:cNvSpPr/>
          <p:nvPr/>
        </p:nvSpPr>
        <p:spPr>
          <a:xfrm>
            <a:off x="3342323" y="2464435"/>
            <a:ext cx="5507355"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System Design &amp; Technical Architecture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5676900" y="1018112"/>
            <a:ext cx="838200" cy="1445260"/>
          </a:xfrm>
          <a:prstGeom prst="rect">
            <a:avLst/>
          </a:prstGeom>
          <a:noFill/>
        </p:spPr>
        <p:txBody>
          <a:bodyPr wrap="none" rtlCol="0">
            <a:spAutoFit/>
          </a:bodyPr>
          <a:lstStyle/>
          <a:p>
            <a:r>
              <a:rPr lang="en-US" altLang="zh-CN" sz="8800" dirty="0">
                <a:solidFill>
                  <a:srgbClr val="388BA5"/>
                </a:solidFill>
                <a:effectLst>
                  <a:outerShdw blurRad="38100" dist="38100" dir="2700000" algn="tl">
                    <a:srgbClr val="000000">
                      <a:alpha val="43137"/>
                    </a:srgbClr>
                  </a:outerShdw>
                </a:effectLst>
                <a:cs typeface="+mn-ea"/>
                <a:sym typeface="+mn-lt"/>
              </a:rPr>
              <a:t>2</a:t>
            </a:r>
            <a:endParaRPr lang="en-US" altLang="zh-CN" sz="8800" dirty="0">
              <a:solidFill>
                <a:srgbClr val="388BA5"/>
              </a:solidFill>
              <a:effectLst>
                <a:outerShdw blurRad="38100" dist="38100" dir="2700000" algn="tl">
                  <a:srgbClr val="000000">
                    <a:alpha val="43137"/>
                  </a:srgbClr>
                </a:outerShdw>
              </a:effectLst>
              <a:cs typeface="+mn-ea"/>
              <a:sym typeface="+mn-lt"/>
            </a:endParaRPr>
          </a:p>
        </p:txBody>
      </p:sp>
      <p:sp>
        <p:nvSpPr>
          <p:cNvPr id="5" name="矩形 4"/>
          <p:cNvSpPr/>
          <p:nvPr/>
        </p:nvSpPr>
        <p:spPr>
          <a:xfrm>
            <a:off x="4078515" y="3200398"/>
            <a:ext cx="4034971" cy="1060450"/>
          </a:xfrm>
          <a:prstGeom prst="rect">
            <a:avLst/>
          </a:prstGeom>
        </p:spPr>
        <p:txBody>
          <a:bodyPr wrap="square">
            <a:spAutoFit/>
          </a:bodyPr>
          <a:lstStyle/>
          <a:p>
            <a:pPr algn="ctr">
              <a:lnSpc>
                <a:spcPct val="150000"/>
              </a:lnSpc>
            </a:pPr>
            <a:r>
              <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rPr>
              <a:t>Describes the overall architecture, technology stack, module structure, and data flow of the application.</a:t>
            </a:r>
            <a:endPar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83233" y="214158"/>
            <a:ext cx="4345397" cy="460375"/>
          </a:xfrm>
          <a:prstGeom prst="rect">
            <a:avLst/>
          </a:prstGeom>
          <a:noFill/>
        </p:spPr>
        <p:txBody>
          <a:bodyPr wrap="square" rtlCol="0">
            <a:spAutoFit/>
          </a:bodyPr>
          <a:lstStyle>
            <a:defPPr>
              <a:defRPr lang="zh-CN"/>
            </a:defPPr>
            <a:lvl1pPr>
              <a:defRPr sz="2400" b="1">
                <a:solidFill>
                  <a:srgbClr val="267CA0"/>
                </a:solidFill>
                <a:latin typeface="包图粗黑体" panose="02000800000000000000" pitchFamily="2" charset="-122"/>
                <a:ea typeface="包图粗黑体" panose="02000800000000000000" pitchFamily="2" charset="-122"/>
              </a:defRPr>
            </a:lvl1pPr>
          </a:lstStyle>
          <a:p>
            <a:pPr algn="dist"/>
            <a:r>
              <a:rPr lang="en-US" altLang="zh-CN" dirty="0">
                <a:latin typeface="Times New Roman" panose="02020603050405020304" charset="0"/>
                <a:cs typeface="Times New Roman" panose="02020603050405020304" charset="0"/>
                <a:sym typeface="+mn-lt"/>
              </a:rPr>
              <a:t>Database Schema Design</a:t>
            </a:r>
            <a:endParaRPr lang="zh-CN" altLang="en-US" b="0" dirty="0">
              <a:latin typeface="+mn-lt"/>
              <a:ea typeface="+mn-ea"/>
              <a:cs typeface="+mn-ea"/>
              <a:sym typeface="+mn-lt"/>
            </a:endParaRPr>
          </a:p>
        </p:txBody>
      </p:sp>
      <p:sp>
        <p:nvSpPr>
          <p:cNvPr id="11" name="矩形 10"/>
          <p:cNvSpPr/>
          <p:nvPr/>
        </p:nvSpPr>
        <p:spPr>
          <a:xfrm>
            <a:off x="-17601" y="1572161"/>
            <a:ext cx="12209601" cy="2492882"/>
          </a:xfrm>
          <a:prstGeom prst="rect">
            <a:avLst/>
          </a:prstGeom>
          <a:solidFill>
            <a:srgbClr val="388B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grpSp>
        <p:nvGrpSpPr>
          <p:cNvPr id="6" name="组合 5"/>
          <p:cNvGrpSpPr/>
          <p:nvPr>
            <p:custDataLst>
              <p:tags r:id="rId1"/>
            </p:custDataLst>
          </p:nvPr>
        </p:nvGrpSpPr>
        <p:grpSpPr>
          <a:xfrm>
            <a:off x="8046085" y="3765550"/>
            <a:ext cx="3634105" cy="2364740"/>
            <a:chOff x="504632" y="3866260"/>
            <a:chExt cx="2868149" cy="2104628"/>
          </a:xfrm>
        </p:grpSpPr>
        <p:sp>
          <p:nvSpPr>
            <p:cNvPr id="7" name="圆角矩形 5"/>
            <p:cNvSpPr/>
            <p:nvPr>
              <p:custDataLst>
                <p:tags r:id="rId2"/>
              </p:custDataLst>
            </p:nvPr>
          </p:nvSpPr>
          <p:spPr>
            <a:xfrm>
              <a:off x="504632" y="3866260"/>
              <a:ext cx="2868149" cy="2104628"/>
            </a:xfrm>
            <a:prstGeom prst="roundRect">
              <a:avLst>
                <a:gd name="adj" fmla="val 825"/>
              </a:avLst>
            </a:prstGeom>
            <a:solidFill>
              <a:srgbClr val="F1F3F2"/>
            </a:solidFill>
            <a:ln>
              <a:noFill/>
            </a:ln>
            <a:effectLst>
              <a:outerShdw blurRad="50800" dist="254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900">
                <a:cs typeface="+mn-ea"/>
                <a:sym typeface="+mn-lt"/>
              </a:endParaRPr>
            </a:p>
          </p:txBody>
        </p:sp>
        <p:cxnSp>
          <p:nvCxnSpPr>
            <p:cNvPr id="8" name="直接连接符 7"/>
            <p:cNvCxnSpPr/>
            <p:nvPr>
              <p:custDataLst>
                <p:tags r:id="rId3"/>
              </p:custDataLst>
            </p:nvPr>
          </p:nvCxnSpPr>
          <p:spPr>
            <a:xfrm>
              <a:off x="1470224" y="4372313"/>
              <a:ext cx="936000" cy="0"/>
            </a:xfrm>
            <a:prstGeom prst="line">
              <a:avLst/>
            </a:prstGeom>
            <a:ln>
              <a:solidFill>
                <a:schemeClr val="bg1"/>
              </a:solidFill>
            </a:ln>
            <a:effectLst>
              <a:outerShdw blurRad="38100" dist="127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4"/>
            </p:custDataLst>
          </p:nvPr>
        </p:nvGrpSpPr>
        <p:grpSpPr>
          <a:xfrm>
            <a:off x="4251960" y="3765550"/>
            <a:ext cx="3483610" cy="2364740"/>
            <a:chOff x="504632" y="3866260"/>
            <a:chExt cx="2868149" cy="2104628"/>
          </a:xfrm>
        </p:grpSpPr>
        <p:sp>
          <p:nvSpPr>
            <p:cNvPr id="3" name="圆角矩形 5"/>
            <p:cNvSpPr/>
            <p:nvPr>
              <p:custDataLst>
                <p:tags r:id="rId5"/>
              </p:custDataLst>
            </p:nvPr>
          </p:nvSpPr>
          <p:spPr>
            <a:xfrm>
              <a:off x="504632" y="3866260"/>
              <a:ext cx="2868149" cy="2104628"/>
            </a:xfrm>
            <a:prstGeom prst="roundRect">
              <a:avLst>
                <a:gd name="adj" fmla="val 825"/>
              </a:avLst>
            </a:prstGeom>
            <a:solidFill>
              <a:srgbClr val="F1F3F2"/>
            </a:solidFill>
            <a:ln>
              <a:noFill/>
            </a:ln>
            <a:effectLst>
              <a:outerShdw blurRad="50800" dist="254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900">
                <a:cs typeface="+mn-ea"/>
                <a:sym typeface="+mn-lt"/>
              </a:endParaRPr>
            </a:p>
          </p:txBody>
        </p:sp>
        <p:cxnSp>
          <p:nvCxnSpPr>
            <p:cNvPr id="4" name="直接连接符 3"/>
            <p:cNvCxnSpPr/>
            <p:nvPr>
              <p:custDataLst>
                <p:tags r:id="rId6"/>
              </p:custDataLst>
            </p:nvPr>
          </p:nvCxnSpPr>
          <p:spPr>
            <a:xfrm>
              <a:off x="1530865" y="4372313"/>
              <a:ext cx="936000" cy="0"/>
            </a:xfrm>
            <a:prstGeom prst="line">
              <a:avLst/>
            </a:prstGeom>
            <a:ln>
              <a:solidFill>
                <a:schemeClr val="bg1"/>
              </a:solidFill>
            </a:ln>
            <a:effectLst>
              <a:outerShdw blurRad="38100" dist="127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275220" y="2023107"/>
            <a:ext cx="9653309" cy="1628913"/>
            <a:chOff x="1275220" y="2023107"/>
            <a:chExt cx="9653309" cy="1628913"/>
          </a:xfrm>
        </p:grpSpPr>
        <p:sp>
          <p:nvSpPr>
            <p:cNvPr id="36" name="文本框 35"/>
            <p:cNvSpPr txBox="1"/>
            <p:nvPr/>
          </p:nvSpPr>
          <p:spPr>
            <a:xfrm>
              <a:off x="1275221" y="2442345"/>
              <a:ext cx="9653308" cy="1209675"/>
            </a:xfrm>
            <a:prstGeom prst="rect">
              <a:avLst/>
            </a:prstGeom>
            <a:noFill/>
          </p:spPr>
          <p:txBody>
            <a:bodyPr wrap="square" rtlCol="0">
              <a:spAutoFit/>
            </a:bodyPr>
            <a:lstStyle/>
            <a:p>
              <a:pPr>
                <a:lnSpc>
                  <a:spcPct val="130000"/>
                </a:lnSpc>
              </a:pPr>
              <a:r>
                <a:rPr lang="en-US" altLang="zh-CN" sz="1400" spc="130" dirty="0">
                  <a:solidFill>
                    <a:schemeClr val="bg1"/>
                  </a:solidFill>
                  <a:cs typeface="+mn-ea"/>
                  <a:sym typeface="+mn-lt"/>
                </a:rPr>
                <a:t>The structure is simple and incurs low query overhead, making it well-suited for standalone financial applications. Additionally, “accounts.balance” is automatically updated via triggers on insert, update, or delete operations, eliminating the need for costly join-based aggregations on every query.</a:t>
              </a:r>
              <a:endParaRPr lang="en-US" altLang="zh-CN" sz="1400" spc="130" dirty="0">
                <a:solidFill>
                  <a:schemeClr val="bg1"/>
                </a:solidFill>
                <a:cs typeface="+mn-ea"/>
                <a:sym typeface="+mn-lt"/>
              </a:endParaRPr>
            </a:p>
          </p:txBody>
        </p:sp>
        <p:sp>
          <p:nvSpPr>
            <p:cNvPr id="37" name="文本框 36"/>
            <p:cNvSpPr txBox="1"/>
            <p:nvPr/>
          </p:nvSpPr>
          <p:spPr>
            <a:xfrm>
              <a:off x="1275220" y="2023107"/>
              <a:ext cx="4177665" cy="645160"/>
            </a:xfrm>
            <a:prstGeom prst="rect">
              <a:avLst/>
            </a:prstGeom>
            <a:noFill/>
          </p:spPr>
          <p:txBody>
            <a:bodyPr wrap="square" rtlCol="0">
              <a:spAutoFit/>
            </a:bodyPr>
            <a:lstStyle/>
            <a:p>
              <a:r>
                <a:rPr lang="en-US" altLang="zh-CN" b="1" spc="150" dirty="0">
                  <a:solidFill>
                    <a:schemeClr val="bg1"/>
                  </a:solidFill>
                  <a:cs typeface="+mn-ea"/>
                  <a:sym typeface="+mn-lt"/>
                </a:rPr>
                <a:t>Database Schema Design</a:t>
              </a:r>
              <a:endParaRPr lang="en-US" altLang="zh-CN" b="1" spc="150" dirty="0">
                <a:solidFill>
                  <a:schemeClr val="bg1"/>
                </a:solidFill>
                <a:cs typeface="+mn-ea"/>
                <a:sym typeface="+mn-lt"/>
              </a:endParaRPr>
            </a:p>
            <a:p>
              <a:endParaRPr lang="en-US" altLang="zh-CN" b="1" spc="150" dirty="0">
                <a:solidFill>
                  <a:schemeClr val="bg1"/>
                </a:solidFill>
                <a:cs typeface="+mn-ea"/>
                <a:sym typeface="+mn-lt"/>
              </a:endParaRPr>
            </a:p>
          </p:txBody>
        </p:sp>
      </p:grpSp>
      <p:sp>
        <p:nvSpPr>
          <p:cNvPr id="40" name="Freeform 505"/>
          <p:cNvSpPr>
            <a:spLocks noEditPoints="1"/>
          </p:cNvSpPr>
          <p:nvPr>
            <p:custDataLst>
              <p:tags r:id="rId7"/>
            </p:custDataLst>
          </p:nvPr>
        </p:nvSpPr>
        <p:spPr bwMode="auto">
          <a:xfrm>
            <a:off x="9732705" y="5638867"/>
            <a:ext cx="260558" cy="260556"/>
          </a:xfrm>
          <a:custGeom>
            <a:avLst/>
            <a:gdLst>
              <a:gd name="T0" fmla="*/ 112 w 176"/>
              <a:gd name="T1" fmla="*/ 118 h 174"/>
              <a:gd name="T2" fmla="*/ 120 w 176"/>
              <a:gd name="T3" fmla="*/ 102 h 174"/>
              <a:gd name="T4" fmla="*/ 64 w 176"/>
              <a:gd name="T5" fmla="*/ 94 h 174"/>
              <a:gd name="T6" fmla="*/ 56 w 176"/>
              <a:gd name="T7" fmla="*/ 110 h 174"/>
              <a:gd name="T8" fmla="*/ 64 w 176"/>
              <a:gd name="T9" fmla="*/ 102 h 174"/>
              <a:gd name="T10" fmla="*/ 112 w 176"/>
              <a:gd name="T11" fmla="*/ 110 h 174"/>
              <a:gd name="T12" fmla="*/ 64 w 176"/>
              <a:gd name="T13" fmla="*/ 102 h 174"/>
              <a:gd name="T14" fmla="*/ 152 w 176"/>
              <a:gd name="T15" fmla="*/ 46 h 174"/>
              <a:gd name="T16" fmla="*/ 128 w 176"/>
              <a:gd name="T17" fmla="*/ 17 h 174"/>
              <a:gd name="T18" fmla="*/ 70 w 176"/>
              <a:gd name="T19" fmla="*/ 4 h 174"/>
              <a:gd name="T20" fmla="*/ 28 w 176"/>
              <a:gd name="T21" fmla="*/ 46 h 174"/>
              <a:gd name="T22" fmla="*/ 0 w 176"/>
              <a:gd name="T23" fmla="*/ 54 h 174"/>
              <a:gd name="T24" fmla="*/ 8 w 176"/>
              <a:gd name="T25" fmla="*/ 78 h 174"/>
              <a:gd name="T26" fmla="*/ 16 w 176"/>
              <a:gd name="T27" fmla="*/ 166 h 174"/>
              <a:gd name="T28" fmla="*/ 152 w 176"/>
              <a:gd name="T29" fmla="*/ 174 h 174"/>
              <a:gd name="T30" fmla="*/ 160 w 176"/>
              <a:gd name="T31" fmla="*/ 78 h 174"/>
              <a:gd name="T32" fmla="*/ 176 w 176"/>
              <a:gd name="T33" fmla="*/ 70 h 174"/>
              <a:gd name="T34" fmla="*/ 168 w 176"/>
              <a:gd name="T35" fmla="*/ 46 h 174"/>
              <a:gd name="T36" fmla="*/ 140 w 176"/>
              <a:gd name="T37" fmla="*/ 30 h 174"/>
              <a:gd name="T38" fmla="*/ 143 w 176"/>
              <a:gd name="T39" fmla="*/ 46 h 174"/>
              <a:gd name="T40" fmla="*/ 134 w 176"/>
              <a:gd name="T41" fmla="*/ 40 h 174"/>
              <a:gd name="T42" fmla="*/ 124 w 176"/>
              <a:gd name="T43" fmla="*/ 34 h 174"/>
              <a:gd name="T44" fmla="*/ 115 w 176"/>
              <a:gd name="T45" fmla="*/ 30 h 174"/>
              <a:gd name="T46" fmla="*/ 130 w 176"/>
              <a:gd name="T47" fmla="*/ 24 h 174"/>
              <a:gd name="T48" fmla="*/ 74 w 176"/>
              <a:gd name="T49" fmla="*/ 46 h 174"/>
              <a:gd name="T50" fmla="*/ 127 w 176"/>
              <a:gd name="T51" fmla="*/ 46 h 174"/>
              <a:gd name="T52" fmla="*/ 66 w 176"/>
              <a:gd name="T53" fmla="*/ 11 h 174"/>
              <a:gd name="T54" fmla="*/ 65 w 176"/>
              <a:gd name="T55" fmla="*/ 46 h 174"/>
              <a:gd name="T56" fmla="*/ 46 w 176"/>
              <a:gd name="T57" fmla="*/ 46 h 174"/>
              <a:gd name="T58" fmla="*/ 37 w 176"/>
              <a:gd name="T59" fmla="*/ 46 h 174"/>
              <a:gd name="T60" fmla="*/ 152 w 176"/>
              <a:gd name="T61" fmla="*/ 166 h 174"/>
              <a:gd name="T62" fmla="*/ 24 w 176"/>
              <a:gd name="T63" fmla="*/ 78 h 174"/>
              <a:gd name="T64" fmla="*/ 152 w 176"/>
              <a:gd name="T65" fmla="*/ 166 h 174"/>
              <a:gd name="T66" fmla="*/ 8 w 176"/>
              <a:gd name="T67" fmla="*/ 70 h 174"/>
              <a:gd name="T68" fmla="*/ 168 w 176"/>
              <a:gd name="T69" fmla="*/ 54 h 174"/>
              <a:gd name="T70" fmla="*/ 69 w 176"/>
              <a:gd name="T71" fmla="*/ 22 h 174"/>
              <a:gd name="T72" fmla="*/ 58 w 176"/>
              <a:gd name="T73" fmla="*/ 25 h 174"/>
              <a:gd name="T74" fmla="*/ 69 w 176"/>
              <a:gd name="T75" fmla="*/ 22 h 174"/>
              <a:gd name="T76" fmla="*/ 54 w 176"/>
              <a:gd name="T77" fmla="*/ 32 h 174"/>
              <a:gd name="T78" fmla="*/ 57 w 176"/>
              <a:gd name="T79" fmla="*/ 4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6" h="174">
                <a:moveTo>
                  <a:pt x="64" y="118"/>
                </a:moveTo>
                <a:cubicBezTo>
                  <a:pt x="112" y="118"/>
                  <a:pt x="112" y="118"/>
                  <a:pt x="112" y="118"/>
                </a:cubicBezTo>
                <a:cubicBezTo>
                  <a:pt x="116" y="118"/>
                  <a:pt x="120" y="114"/>
                  <a:pt x="120" y="110"/>
                </a:cubicBezTo>
                <a:cubicBezTo>
                  <a:pt x="120" y="102"/>
                  <a:pt x="120" y="102"/>
                  <a:pt x="120" y="102"/>
                </a:cubicBezTo>
                <a:cubicBezTo>
                  <a:pt x="120" y="98"/>
                  <a:pt x="116" y="94"/>
                  <a:pt x="112" y="94"/>
                </a:cubicBezTo>
                <a:cubicBezTo>
                  <a:pt x="64" y="94"/>
                  <a:pt x="64" y="94"/>
                  <a:pt x="64" y="94"/>
                </a:cubicBezTo>
                <a:cubicBezTo>
                  <a:pt x="60" y="94"/>
                  <a:pt x="56" y="98"/>
                  <a:pt x="56" y="102"/>
                </a:cubicBezTo>
                <a:cubicBezTo>
                  <a:pt x="56" y="110"/>
                  <a:pt x="56" y="110"/>
                  <a:pt x="56" y="110"/>
                </a:cubicBezTo>
                <a:cubicBezTo>
                  <a:pt x="56" y="114"/>
                  <a:pt x="60" y="118"/>
                  <a:pt x="64" y="118"/>
                </a:cubicBezTo>
                <a:close/>
                <a:moveTo>
                  <a:pt x="64" y="102"/>
                </a:moveTo>
                <a:cubicBezTo>
                  <a:pt x="112" y="102"/>
                  <a:pt x="112" y="102"/>
                  <a:pt x="112" y="102"/>
                </a:cubicBezTo>
                <a:cubicBezTo>
                  <a:pt x="112" y="110"/>
                  <a:pt x="112" y="110"/>
                  <a:pt x="112" y="110"/>
                </a:cubicBezTo>
                <a:cubicBezTo>
                  <a:pt x="64" y="110"/>
                  <a:pt x="64" y="110"/>
                  <a:pt x="64" y="110"/>
                </a:cubicBezTo>
                <a:lnTo>
                  <a:pt x="64" y="102"/>
                </a:lnTo>
                <a:close/>
                <a:moveTo>
                  <a:pt x="168" y="46"/>
                </a:moveTo>
                <a:cubicBezTo>
                  <a:pt x="152" y="46"/>
                  <a:pt x="152" y="46"/>
                  <a:pt x="152" y="46"/>
                </a:cubicBezTo>
                <a:cubicBezTo>
                  <a:pt x="147" y="28"/>
                  <a:pt x="147" y="28"/>
                  <a:pt x="147" y="28"/>
                </a:cubicBezTo>
                <a:cubicBezTo>
                  <a:pt x="145" y="19"/>
                  <a:pt x="136" y="14"/>
                  <a:pt x="128" y="17"/>
                </a:cubicBezTo>
                <a:cubicBezTo>
                  <a:pt x="103" y="23"/>
                  <a:pt x="103" y="23"/>
                  <a:pt x="103" y="23"/>
                </a:cubicBezTo>
                <a:cubicBezTo>
                  <a:pt x="70" y="4"/>
                  <a:pt x="70" y="4"/>
                  <a:pt x="70" y="4"/>
                </a:cubicBezTo>
                <a:cubicBezTo>
                  <a:pt x="63" y="0"/>
                  <a:pt x="53" y="2"/>
                  <a:pt x="49" y="10"/>
                </a:cubicBezTo>
                <a:cubicBezTo>
                  <a:pt x="28" y="46"/>
                  <a:pt x="28" y="46"/>
                  <a:pt x="28" y="46"/>
                </a:cubicBezTo>
                <a:cubicBezTo>
                  <a:pt x="8" y="46"/>
                  <a:pt x="8" y="46"/>
                  <a:pt x="8" y="46"/>
                </a:cubicBezTo>
                <a:cubicBezTo>
                  <a:pt x="4" y="46"/>
                  <a:pt x="0" y="50"/>
                  <a:pt x="0" y="54"/>
                </a:cubicBezTo>
                <a:cubicBezTo>
                  <a:pt x="0" y="70"/>
                  <a:pt x="0" y="70"/>
                  <a:pt x="0" y="70"/>
                </a:cubicBezTo>
                <a:cubicBezTo>
                  <a:pt x="0" y="74"/>
                  <a:pt x="4" y="78"/>
                  <a:pt x="8" y="78"/>
                </a:cubicBezTo>
                <a:cubicBezTo>
                  <a:pt x="16" y="78"/>
                  <a:pt x="16" y="78"/>
                  <a:pt x="16" y="78"/>
                </a:cubicBezTo>
                <a:cubicBezTo>
                  <a:pt x="16" y="166"/>
                  <a:pt x="16" y="166"/>
                  <a:pt x="16" y="166"/>
                </a:cubicBezTo>
                <a:cubicBezTo>
                  <a:pt x="16" y="170"/>
                  <a:pt x="20" y="174"/>
                  <a:pt x="24" y="174"/>
                </a:cubicBezTo>
                <a:cubicBezTo>
                  <a:pt x="152" y="174"/>
                  <a:pt x="152" y="174"/>
                  <a:pt x="152" y="174"/>
                </a:cubicBezTo>
                <a:cubicBezTo>
                  <a:pt x="156" y="174"/>
                  <a:pt x="160" y="170"/>
                  <a:pt x="160" y="166"/>
                </a:cubicBezTo>
                <a:cubicBezTo>
                  <a:pt x="160" y="78"/>
                  <a:pt x="160" y="78"/>
                  <a:pt x="160" y="78"/>
                </a:cubicBezTo>
                <a:cubicBezTo>
                  <a:pt x="168" y="78"/>
                  <a:pt x="168" y="78"/>
                  <a:pt x="168" y="78"/>
                </a:cubicBezTo>
                <a:cubicBezTo>
                  <a:pt x="172" y="78"/>
                  <a:pt x="176" y="74"/>
                  <a:pt x="176" y="70"/>
                </a:cubicBezTo>
                <a:cubicBezTo>
                  <a:pt x="176" y="54"/>
                  <a:pt x="176" y="54"/>
                  <a:pt x="176" y="54"/>
                </a:cubicBezTo>
                <a:cubicBezTo>
                  <a:pt x="176" y="50"/>
                  <a:pt x="172" y="46"/>
                  <a:pt x="168" y="46"/>
                </a:cubicBezTo>
                <a:close/>
                <a:moveTo>
                  <a:pt x="130" y="24"/>
                </a:moveTo>
                <a:cubicBezTo>
                  <a:pt x="134" y="23"/>
                  <a:pt x="138" y="26"/>
                  <a:pt x="140" y="30"/>
                </a:cubicBezTo>
                <a:cubicBezTo>
                  <a:pt x="144" y="46"/>
                  <a:pt x="144" y="46"/>
                  <a:pt x="144" y="46"/>
                </a:cubicBezTo>
                <a:cubicBezTo>
                  <a:pt x="143" y="46"/>
                  <a:pt x="143" y="46"/>
                  <a:pt x="143" y="46"/>
                </a:cubicBezTo>
                <a:cubicBezTo>
                  <a:pt x="133" y="40"/>
                  <a:pt x="133" y="40"/>
                  <a:pt x="133" y="40"/>
                </a:cubicBezTo>
                <a:cubicBezTo>
                  <a:pt x="134" y="40"/>
                  <a:pt x="134" y="40"/>
                  <a:pt x="134" y="40"/>
                </a:cubicBezTo>
                <a:cubicBezTo>
                  <a:pt x="132" y="32"/>
                  <a:pt x="132" y="32"/>
                  <a:pt x="132" y="32"/>
                </a:cubicBezTo>
                <a:cubicBezTo>
                  <a:pt x="124" y="34"/>
                  <a:pt x="124" y="34"/>
                  <a:pt x="124" y="34"/>
                </a:cubicBezTo>
                <a:cubicBezTo>
                  <a:pt x="124" y="35"/>
                  <a:pt x="124" y="35"/>
                  <a:pt x="124" y="35"/>
                </a:cubicBezTo>
                <a:cubicBezTo>
                  <a:pt x="115" y="30"/>
                  <a:pt x="115" y="30"/>
                  <a:pt x="115" y="30"/>
                </a:cubicBezTo>
                <a:cubicBezTo>
                  <a:pt x="114" y="28"/>
                  <a:pt x="114" y="28"/>
                  <a:pt x="114" y="28"/>
                </a:cubicBezTo>
                <a:lnTo>
                  <a:pt x="130" y="24"/>
                </a:lnTo>
                <a:close/>
                <a:moveTo>
                  <a:pt x="127" y="46"/>
                </a:moveTo>
                <a:cubicBezTo>
                  <a:pt x="74" y="46"/>
                  <a:pt x="74" y="46"/>
                  <a:pt x="74" y="46"/>
                </a:cubicBezTo>
                <a:cubicBezTo>
                  <a:pt x="87" y="23"/>
                  <a:pt x="87" y="23"/>
                  <a:pt x="87" y="23"/>
                </a:cubicBezTo>
                <a:lnTo>
                  <a:pt x="127" y="46"/>
                </a:lnTo>
                <a:close/>
                <a:moveTo>
                  <a:pt x="56" y="14"/>
                </a:moveTo>
                <a:cubicBezTo>
                  <a:pt x="58" y="10"/>
                  <a:pt x="63" y="9"/>
                  <a:pt x="66" y="11"/>
                </a:cubicBezTo>
                <a:cubicBezTo>
                  <a:pt x="80" y="19"/>
                  <a:pt x="80" y="19"/>
                  <a:pt x="80" y="19"/>
                </a:cubicBezTo>
                <a:cubicBezTo>
                  <a:pt x="65" y="46"/>
                  <a:pt x="65" y="46"/>
                  <a:pt x="65" y="46"/>
                </a:cubicBezTo>
                <a:cubicBezTo>
                  <a:pt x="47" y="46"/>
                  <a:pt x="47" y="46"/>
                  <a:pt x="47" y="46"/>
                </a:cubicBezTo>
                <a:cubicBezTo>
                  <a:pt x="46" y="46"/>
                  <a:pt x="46" y="46"/>
                  <a:pt x="46" y="46"/>
                </a:cubicBezTo>
                <a:cubicBezTo>
                  <a:pt x="46" y="46"/>
                  <a:pt x="46" y="46"/>
                  <a:pt x="46" y="46"/>
                </a:cubicBezTo>
                <a:cubicBezTo>
                  <a:pt x="37" y="46"/>
                  <a:pt x="37" y="46"/>
                  <a:pt x="37" y="46"/>
                </a:cubicBezTo>
                <a:lnTo>
                  <a:pt x="56" y="14"/>
                </a:lnTo>
                <a:close/>
                <a:moveTo>
                  <a:pt x="152" y="166"/>
                </a:moveTo>
                <a:cubicBezTo>
                  <a:pt x="24" y="166"/>
                  <a:pt x="24" y="166"/>
                  <a:pt x="24" y="166"/>
                </a:cubicBezTo>
                <a:cubicBezTo>
                  <a:pt x="24" y="78"/>
                  <a:pt x="24" y="78"/>
                  <a:pt x="24" y="78"/>
                </a:cubicBezTo>
                <a:cubicBezTo>
                  <a:pt x="152" y="78"/>
                  <a:pt x="152" y="78"/>
                  <a:pt x="152" y="78"/>
                </a:cubicBezTo>
                <a:lnTo>
                  <a:pt x="152" y="166"/>
                </a:lnTo>
                <a:close/>
                <a:moveTo>
                  <a:pt x="168" y="70"/>
                </a:moveTo>
                <a:cubicBezTo>
                  <a:pt x="8" y="70"/>
                  <a:pt x="8" y="70"/>
                  <a:pt x="8" y="70"/>
                </a:cubicBezTo>
                <a:cubicBezTo>
                  <a:pt x="8" y="54"/>
                  <a:pt x="8" y="54"/>
                  <a:pt x="8" y="54"/>
                </a:cubicBezTo>
                <a:cubicBezTo>
                  <a:pt x="168" y="54"/>
                  <a:pt x="168" y="54"/>
                  <a:pt x="168" y="54"/>
                </a:cubicBezTo>
                <a:lnTo>
                  <a:pt x="168" y="70"/>
                </a:lnTo>
                <a:close/>
                <a:moveTo>
                  <a:pt x="69" y="22"/>
                </a:moveTo>
                <a:cubicBezTo>
                  <a:pt x="62" y="18"/>
                  <a:pt x="62" y="18"/>
                  <a:pt x="62" y="18"/>
                </a:cubicBezTo>
                <a:cubicBezTo>
                  <a:pt x="58" y="25"/>
                  <a:pt x="58" y="25"/>
                  <a:pt x="58" y="25"/>
                </a:cubicBezTo>
                <a:cubicBezTo>
                  <a:pt x="65" y="29"/>
                  <a:pt x="65" y="29"/>
                  <a:pt x="65" y="29"/>
                </a:cubicBezTo>
                <a:lnTo>
                  <a:pt x="69" y="22"/>
                </a:lnTo>
                <a:close/>
                <a:moveTo>
                  <a:pt x="61" y="36"/>
                </a:moveTo>
                <a:cubicBezTo>
                  <a:pt x="54" y="32"/>
                  <a:pt x="54" y="32"/>
                  <a:pt x="54" y="32"/>
                </a:cubicBezTo>
                <a:cubicBezTo>
                  <a:pt x="50" y="39"/>
                  <a:pt x="50" y="39"/>
                  <a:pt x="50" y="39"/>
                </a:cubicBezTo>
                <a:cubicBezTo>
                  <a:pt x="57" y="43"/>
                  <a:pt x="57" y="43"/>
                  <a:pt x="57" y="43"/>
                </a:cubicBezTo>
                <a:lnTo>
                  <a:pt x="61" y="36"/>
                </a:lnTo>
                <a:close/>
              </a:path>
            </a:pathLst>
          </a:custGeom>
          <a:solidFill>
            <a:srgbClr val="388BA5"/>
          </a:solidFill>
          <a:ln>
            <a:noFill/>
          </a:ln>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cs typeface="+mn-ea"/>
              <a:sym typeface="+mn-lt"/>
            </a:endParaRPr>
          </a:p>
        </p:txBody>
      </p:sp>
      <p:sp>
        <p:nvSpPr>
          <p:cNvPr id="43" name="文本框 42"/>
          <p:cNvSpPr txBox="1"/>
          <p:nvPr>
            <p:custDataLst>
              <p:tags r:id="rId8"/>
            </p:custDataLst>
          </p:nvPr>
        </p:nvSpPr>
        <p:spPr>
          <a:xfrm>
            <a:off x="9122720" y="3913370"/>
            <a:ext cx="1480510" cy="368300"/>
          </a:xfrm>
          <a:prstGeom prst="rect">
            <a:avLst/>
          </a:prstGeom>
          <a:noFill/>
        </p:spPr>
        <p:txBody>
          <a:bodyPr wrap="square" rtlCol="0">
            <a:spAutoFit/>
          </a:bodyPr>
          <a:lstStyle/>
          <a:p>
            <a:pPr algn="ctr"/>
            <a:r>
              <a:rPr lang="en-US" altLang="zh-CN" spc="150" dirty="0">
                <a:solidFill>
                  <a:srgbClr val="009B97"/>
                </a:solidFill>
                <a:cs typeface="+mn-ea"/>
                <a:sym typeface="+mn-lt"/>
              </a:rPr>
              <a:t>Design 3</a:t>
            </a:r>
            <a:endParaRPr lang="en-US" altLang="zh-CN" spc="150" dirty="0">
              <a:solidFill>
                <a:srgbClr val="009B97"/>
              </a:solidFill>
              <a:cs typeface="+mn-ea"/>
              <a:sym typeface="+mn-lt"/>
            </a:endParaRPr>
          </a:p>
        </p:txBody>
      </p:sp>
      <p:sp>
        <p:nvSpPr>
          <p:cNvPr id="44" name="文本框 43"/>
          <p:cNvSpPr txBox="1"/>
          <p:nvPr>
            <p:custDataLst>
              <p:tags r:id="rId9"/>
            </p:custDataLst>
          </p:nvPr>
        </p:nvSpPr>
        <p:spPr>
          <a:xfrm>
            <a:off x="7973695" y="4438650"/>
            <a:ext cx="3792220" cy="1106805"/>
          </a:xfrm>
          <a:prstGeom prst="rect">
            <a:avLst/>
          </a:prstGeom>
          <a:noFill/>
        </p:spPr>
        <p:txBody>
          <a:bodyPr wrap="square" rtlCol="0">
            <a:spAutoFit/>
          </a:bodyPr>
          <a:lstStyle/>
          <a:p>
            <a:pPr algn="ctr">
              <a:lnSpc>
                <a:spcPct val="150000"/>
              </a:lnSpc>
            </a:pPr>
            <a:r>
              <a:rPr lang="en-US" altLang="zh-CN" sz="1100" spc="100" dirty="0">
                <a:solidFill>
                  <a:srgbClr val="388BA5"/>
                </a:solidFill>
                <a:cs typeface="+mn-ea"/>
                <a:sym typeface="+mn-lt"/>
              </a:rPr>
              <a:t>During the initialization phase, a default user and a primary account are automatically inserted to ensure that usable data is available upon the first load of the interface.</a:t>
            </a:r>
            <a:endParaRPr lang="en-US" altLang="zh-CN" sz="1100" spc="100" dirty="0">
              <a:solidFill>
                <a:srgbClr val="388BA5"/>
              </a:solidFill>
              <a:cs typeface="+mn-ea"/>
              <a:sym typeface="+mn-lt"/>
            </a:endParaRPr>
          </a:p>
        </p:txBody>
      </p:sp>
      <p:sp>
        <p:nvSpPr>
          <p:cNvPr id="39" name="Freeform 504"/>
          <p:cNvSpPr>
            <a:spLocks noEditPoints="1"/>
          </p:cNvSpPr>
          <p:nvPr>
            <p:custDataLst>
              <p:tags r:id="rId10"/>
            </p:custDataLst>
          </p:nvPr>
        </p:nvSpPr>
        <p:spPr bwMode="auto">
          <a:xfrm>
            <a:off x="5862049" y="5641082"/>
            <a:ext cx="267418" cy="267416"/>
          </a:xfrm>
          <a:custGeom>
            <a:avLst/>
            <a:gdLst>
              <a:gd name="T0" fmla="*/ 112 w 176"/>
              <a:gd name="T1" fmla="*/ 120 h 176"/>
              <a:gd name="T2" fmla="*/ 120 w 176"/>
              <a:gd name="T3" fmla="*/ 104 h 176"/>
              <a:gd name="T4" fmla="*/ 64 w 176"/>
              <a:gd name="T5" fmla="*/ 96 h 176"/>
              <a:gd name="T6" fmla="*/ 56 w 176"/>
              <a:gd name="T7" fmla="*/ 112 h 176"/>
              <a:gd name="T8" fmla="*/ 64 w 176"/>
              <a:gd name="T9" fmla="*/ 104 h 176"/>
              <a:gd name="T10" fmla="*/ 112 w 176"/>
              <a:gd name="T11" fmla="*/ 112 h 176"/>
              <a:gd name="T12" fmla="*/ 64 w 176"/>
              <a:gd name="T13" fmla="*/ 104 h 176"/>
              <a:gd name="T14" fmla="*/ 152 w 176"/>
              <a:gd name="T15" fmla="*/ 48 h 176"/>
              <a:gd name="T16" fmla="*/ 144 w 176"/>
              <a:gd name="T17" fmla="*/ 8 h 176"/>
              <a:gd name="T18" fmla="*/ 104 w 176"/>
              <a:gd name="T19" fmla="*/ 0 h 176"/>
              <a:gd name="T20" fmla="*/ 24 w 176"/>
              <a:gd name="T21" fmla="*/ 8 h 176"/>
              <a:gd name="T22" fmla="*/ 8 w 176"/>
              <a:gd name="T23" fmla="*/ 48 h 176"/>
              <a:gd name="T24" fmla="*/ 0 w 176"/>
              <a:gd name="T25" fmla="*/ 72 h 176"/>
              <a:gd name="T26" fmla="*/ 16 w 176"/>
              <a:gd name="T27" fmla="*/ 80 h 176"/>
              <a:gd name="T28" fmla="*/ 24 w 176"/>
              <a:gd name="T29" fmla="*/ 176 h 176"/>
              <a:gd name="T30" fmla="*/ 160 w 176"/>
              <a:gd name="T31" fmla="*/ 168 h 176"/>
              <a:gd name="T32" fmla="*/ 168 w 176"/>
              <a:gd name="T33" fmla="*/ 80 h 176"/>
              <a:gd name="T34" fmla="*/ 176 w 176"/>
              <a:gd name="T35" fmla="*/ 56 h 176"/>
              <a:gd name="T36" fmla="*/ 144 w 176"/>
              <a:gd name="T37" fmla="*/ 16 h 176"/>
              <a:gd name="T38" fmla="*/ 128 w 176"/>
              <a:gd name="T39" fmla="*/ 48 h 176"/>
              <a:gd name="T40" fmla="*/ 120 w 176"/>
              <a:gd name="T41" fmla="*/ 16 h 176"/>
              <a:gd name="T42" fmla="*/ 104 w 176"/>
              <a:gd name="T43" fmla="*/ 12 h 176"/>
              <a:gd name="T44" fmla="*/ 104 w 176"/>
              <a:gd name="T45" fmla="*/ 24 h 176"/>
              <a:gd name="T46" fmla="*/ 32 w 176"/>
              <a:gd name="T47" fmla="*/ 8 h 176"/>
              <a:gd name="T48" fmla="*/ 96 w 176"/>
              <a:gd name="T49" fmla="*/ 28 h 176"/>
              <a:gd name="T50" fmla="*/ 120 w 176"/>
              <a:gd name="T51" fmla="*/ 32 h 176"/>
              <a:gd name="T52" fmla="*/ 32 w 176"/>
              <a:gd name="T53" fmla="*/ 48 h 176"/>
              <a:gd name="T54" fmla="*/ 152 w 176"/>
              <a:gd name="T55" fmla="*/ 168 h 176"/>
              <a:gd name="T56" fmla="*/ 24 w 176"/>
              <a:gd name="T57" fmla="*/ 80 h 176"/>
              <a:gd name="T58" fmla="*/ 152 w 176"/>
              <a:gd name="T59" fmla="*/ 168 h 176"/>
              <a:gd name="T60" fmla="*/ 8 w 176"/>
              <a:gd name="T61" fmla="*/ 72 h 176"/>
              <a:gd name="T62" fmla="*/ 168 w 176"/>
              <a:gd name="T63" fmla="*/ 5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6" h="176">
                <a:moveTo>
                  <a:pt x="64" y="120"/>
                </a:moveTo>
                <a:cubicBezTo>
                  <a:pt x="112" y="120"/>
                  <a:pt x="112" y="120"/>
                  <a:pt x="112" y="120"/>
                </a:cubicBezTo>
                <a:cubicBezTo>
                  <a:pt x="116" y="120"/>
                  <a:pt x="120" y="116"/>
                  <a:pt x="120" y="112"/>
                </a:cubicBezTo>
                <a:cubicBezTo>
                  <a:pt x="120" y="104"/>
                  <a:pt x="120" y="104"/>
                  <a:pt x="120" y="104"/>
                </a:cubicBezTo>
                <a:cubicBezTo>
                  <a:pt x="120" y="100"/>
                  <a:pt x="116" y="96"/>
                  <a:pt x="112" y="96"/>
                </a:cubicBezTo>
                <a:cubicBezTo>
                  <a:pt x="64" y="96"/>
                  <a:pt x="64" y="96"/>
                  <a:pt x="64" y="96"/>
                </a:cubicBezTo>
                <a:cubicBezTo>
                  <a:pt x="60" y="96"/>
                  <a:pt x="56" y="100"/>
                  <a:pt x="56" y="104"/>
                </a:cubicBezTo>
                <a:cubicBezTo>
                  <a:pt x="56" y="112"/>
                  <a:pt x="56" y="112"/>
                  <a:pt x="56" y="112"/>
                </a:cubicBezTo>
                <a:cubicBezTo>
                  <a:pt x="56" y="116"/>
                  <a:pt x="60" y="120"/>
                  <a:pt x="64" y="120"/>
                </a:cubicBezTo>
                <a:close/>
                <a:moveTo>
                  <a:pt x="64" y="104"/>
                </a:moveTo>
                <a:cubicBezTo>
                  <a:pt x="112" y="104"/>
                  <a:pt x="112" y="104"/>
                  <a:pt x="112" y="104"/>
                </a:cubicBezTo>
                <a:cubicBezTo>
                  <a:pt x="112" y="112"/>
                  <a:pt x="112" y="112"/>
                  <a:pt x="112" y="112"/>
                </a:cubicBezTo>
                <a:cubicBezTo>
                  <a:pt x="64" y="112"/>
                  <a:pt x="64" y="112"/>
                  <a:pt x="64" y="112"/>
                </a:cubicBezTo>
                <a:lnTo>
                  <a:pt x="64" y="104"/>
                </a:lnTo>
                <a:close/>
                <a:moveTo>
                  <a:pt x="168" y="48"/>
                </a:moveTo>
                <a:cubicBezTo>
                  <a:pt x="152" y="48"/>
                  <a:pt x="152" y="48"/>
                  <a:pt x="152" y="48"/>
                </a:cubicBezTo>
                <a:cubicBezTo>
                  <a:pt x="152" y="16"/>
                  <a:pt x="152" y="16"/>
                  <a:pt x="152" y="16"/>
                </a:cubicBezTo>
                <a:cubicBezTo>
                  <a:pt x="152" y="12"/>
                  <a:pt x="148" y="8"/>
                  <a:pt x="144" y="8"/>
                </a:cubicBezTo>
                <a:cubicBezTo>
                  <a:pt x="112" y="8"/>
                  <a:pt x="112" y="8"/>
                  <a:pt x="112" y="8"/>
                </a:cubicBezTo>
                <a:cubicBezTo>
                  <a:pt x="104" y="0"/>
                  <a:pt x="104" y="0"/>
                  <a:pt x="104" y="0"/>
                </a:cubicBezTo>
                <a:cubicBezTo>
                  <a:pt x="32" y="0"/>
                  <a:pt x="32" y="0"/>
                  <a:pt x="32" y="0"/>
                </a:cubicBezTo>
                <a:cubicBezTo>
                  <a:pt x="28" y="0"/>
                  <a:pt x="24" y="4"/>
                  <a:pt x="24" y="8"/>
                </a:cubicBezTo>
                <a:cubicBezTo>
                  <a:pt x="24" y="48"/>
                  <a:pt x="24" y="48"/>
                  <a:pt x="24" y="48"/>
                </a:cubicBezTo>
                <a:cubicBezTo>
                  <a:pt x="8" y="48"/>
                  <a:pt x="8" y="48"/>
                  <a:pt x="8" y="48"/>
                </a:cubicBezTo>
                <a:cubicBezTo>
                  <a:pt x="4" y="48"/>
                  <a:pt x="0" y="52"/>
                  <a:pt x="0" y="56"/>
                </a:cubicBezTo>
                <a:cubicBezTo>
                  <a:pt x="0" y="72"/>
                  <a:pt x="0" y="72"/>
                  <a:pt x="0" y="72"/>
                </a:cubicBezTo>
                <a:cubicBezTo>
                  <a:pt x="0" y="76"/>
                  <a:pt x="4" y="80"/>
                  <a:pt x="8" y="80"/>
                </a:cubicBezTo>
                <a:cubicBezTo>
                  <a:pt x="16" y="80"/>
                  <a:pt x="16" y="80"/>
                  <a:pt x="16" y="80"/>
                </a:cubicBezTo>
                <a:cubicBezTo>
                  <a:pt x="16" y="168"/>
                  <a:pt x="16" y="168"/>
                  <a:pt x="16" y="168"/>
                </a:cubicBezTo>
                <a:cubicBezTo>
                  <a:pt x="16" y="172"/>
                  <a:pt x="20" y="176"/>
                  <a:pt x="24" y="176"/>
                </a:cubicBezTo>
                <a:cubicBezTo>
                  <a:pt x="152" y="176"/>
                  <a:pt x="152" y="176"/>
                  <a:pt x="152" y="176"/>
                </a:cubicBezTo>
                <a:cubicBezTo>
                  <a:pt x="156" y="176"/>
                  <a:pt x="160" y="172"/>
                  <a:pt x="160" y="168"/>
                </a:cubicBezTo>
                <a:cubicBezTo>
                  <a:pt x="160" y="80"/>
                  <a:pt x="160" y="80"/>
                  <a:pt x="160" y="80"/>
                </a:cubicBezTo>
                <a:cubicBezTo>
                  <a:pt x="168" y="80"/>
                  <a:pt x="168" y="80"/>
                  <a:pt x="168" y="80"/>
                </a:cubicBezTo>
                <a:cubicBezTo>
                  <a:pt x="172" y="80"/>
                  <a:pt x="176" y="76"/>
                  <a:pt x="176" y="72"/>
                </a:cubicBezTo>
                <a:cubicBezTo>
                  <a:pt x="176" y="56"/>
                  <a:pt x="176" y="56"/>
                  <a:pt x="176" y="56"/>
                </a:cubicBezTo>
                <a:cubicBezTo>
                  <a:pt x="176" y="52"/>
                  <a:pt x="172" y="48"/>
                  <a:pt x="168" y="48"/>
                </a:cubicBezTo>
                <a:close/>
                <a:moveTo>
                  <a:pt x="144" y="16"/>
                </a:moveTo>
                <a:cubicBezTo>
                  <a:pt x="144" y="48"/>
                  <a:pt x="144" y="48"/>
                  <a:pt x="144" y="48"/>
                </a:cubicBezTo>
                <a:cubicBezTo>
                  <a:pt x="128" y="48"/>
                  <a:pt x="128" y="48"/>
                  <a:pt x="128" y="48"/>
                </a:cubicBezTo>
                <a:cubicBezTo>
                  <a:pt x="128" y="24"/>
                  <a:pt x="128" y="24"/>
                  <a:pt x="128" y="24"/>
                </a:cubicBezTo>
                <a:cubicBezTo>
                  <a:pt x="120" y="16"/>
                  <a:pt x="120" y="16"/>
                  <a:pt x="120" y="16"/>
                </a:cubicBezTo>
                <a:lnTo>
                  <a:pt x="144" y="16"/>
                </a:lnTo>
                <a:close/>
                <a:moveTo>
                  <a:pt x="104" y="12"/>
                </a:moveTo>
                <a:cubicBezTo>
                  <a:pt x="116" y="24"/>
                  <a:pt x="116" y="24"/>
                  <a:pt x="116" y="24"/>
                </a:cubicBezTo>
                <a:cubicBezTo>
                  <a:pt x="104" y="24"/>
                  <a:pt x="104" y="24"/>
                  <a:pt x="104" y="24"/>
                </a:cubicBezTo>
                <a:lnTo>
                  <a:pt x="104" y="12"/>
                </a:lnTo>
                <a:close/>
                <a:moveTo>
                  <a:pt x="32" y="8"/>
                </a:moveTo>
                <a:cubicBezTo>
                  <a:pt x="96" y="8"/>
                  <a:pt x="96" y="8"/>
                  <a:pt x="96" y="8"/>
                </a:cubicBezTo>
                <a:cubicBezTo>
                  <a:pt x="96" y="28"/>
                  <a:pt x="96" y="28"/>
                  <a:pt x="96" y="28"/>
                </a:cubicBezTo>
                <a:cubicBezTo>
                  <a:pt x="96" y="30"/>
                  <a:pt x="98" y="32"/>
                  <a:pt x="100" y="32"/>
                </a:cubicBezTo>
                <a:cubicBezTo>
                  <a:pt x="120" y="32"/>
                  <a:pt x="120" y="32"/>
                  <a:pt x="120" y="32"/>
                </a:cubicBezTo>
                <a:cubicBezTo>
                  <a:pt x="120" y="48"/>
                  <a:pt x="120" y="48"/>
                  <a:pt x="120" y="48"/>
                </a:cubicBezTo>
                <a:cubicBezTo>
                  <a:pt x="32" y="48"/>
                  <a:pt x="32" y="48"/>
                  <a:pt x="32" y="48"/>
                </a:cubicBezTo>
                <a:lnTo>
                  <a:pt x="32" y="8"/>
                </a:lnTo>
                <a:close/>
                <a:moveTo>
                  <a:pt x="152" y="168"/>
                </a:moveTo>
                <a:cubicBezTo>
                  <a:pt x="24" y="168"/>
                  <a:pt x="24" y="168"/>
                  <a:pt x="24" y="168"/>
                </a:cubicBezTo>
                <a:cubicBezTo>
                  <a:pt x="24" y="80"/>
                  <a:pt x="24" y="80"/>
                  <a:pt x="24" y="80"/>
                </a:cubicBezTo>
                <a:cubicBezTo>
                  <a:pt x="152" y="80"/>
                  <a:pt x="152" y="80"/>
                  <a:pt x="152" y="80"/>
                </a:cubicBezTo>
                <a:lnTo>
                  <a:pt x="152" y="168"/>
                </a:lnTo>
                <a:close/>
                <a:moveTo>
                  <a:pt x="168" y="72"/>
                </a:moveTo>
                <a:cubicBezTo>
                  <a:pt x="8" y="72"/>
                  <a:pt x="8" y="72"/>
                  <a:pt x="8" y="72"/>
                </a:cubicBezTo>
                <a:cubicBezTo>
                  <a:pt x="8" y="56"/>
                  <a:pt x="8" y="56"/>
                  <a:pt x="8" y="56"/>
                </a:cubicBezTo>
                <a:cubicBezTo>
                  <a:pt x="168" y="56"/>
                  <a:pt x="168" y="56"/>
                  <a:pt x="168" y="56"/>
                </a:cubicBezTo>
                <a:lnTo>
                  <a:pt x="168" y="72"/>
                </a:lnTo>
                <a:close/>
              </a:path>
            </a:pathLst>
          </a:custGeom>
          <a:solidFill>
            <a:srgbClr val="388BA5"/>
          </a:solidFill>
          <a:ln>
            <a:noFill/>
          </a:ln>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cs typeface="+mn-ea"/>
              <a:sym typeface="+mn-lt"/>
            </a:endParaRPr>
          </a:p>
        </p:txBody>
      </p:sp>
      <p:sp>
        <p:nvSpPr>
          <p:cNvPr id="42" name="文本框 41"/>
          <p:cNvSpPr txBox="1"/>
          <p:nvPr>
            <p:custDataLst>
              <p:tags r:id="rId11"/>
            </p:custDataLst>
          </p:nvPr>
        </p:nvSpPr>
        <p:spPr>
          <a:xfrm>
            <a:off x="5271760" y="3903210"/>
            <a:ext cx="1444000" cy="368300"/>
          </a:xfrm>
          <a:prstGeom prst="rect">
            <a:avLst/>
          </a:prstGeom>
          <a:noFill/>
        </p:spPr>
        <p:txBody>
          <a:bodyPr wrap="square" rtlCol="0">
            <a:spAutoFit/>
          </a:bodyPr>
          <a:lstStyle/>
          <a:p>
            <a:pPr algn="ctr"/>
            <a:r>
              <a:rPr lang="en-US" altLang="zh-CN" spc="150" dirty="0">
                <a:solidFill>
                  <a:srgbClr val="009B97"/>
                </a:solidFill>
                <a:cs typeface="+mn-ea"/>
                <a:sym typeface="+mn-lt"/>
              </a:rPr>
              <a:t>Design 2</a:t>
            </a:r>
            <a:endParaRPr lang="en-US" altLang="zh-CN" spc="150" dirty="0">
              <a:solidFill>
                <a:srgbClr val="009B97"/>
              </a:solidFill>
              <a:cs typeface="+mn-ea"/>
              <a:sym typeface="+mn-lt"/>
            </a:endParaRPr>
          </a:p>
        </p:txBody>
      </p:sp>
      <p:sp>
        <p:nvSpPr>
          <p:cNvPr id="45" name="文本框 44"/>
          <p:cNvSpPr txBox="1"/>
          <p:nvPr>
            <p:custDataLst>
              <p:tags r:id="rId12"/>
            </p:custDataLst>
          </p:nvPr>
        </p:nvSpPr>
        <p:spPr>
          <a:xfrm>
            <a:off x="4189730" y="4438650"/>
            <a:ext cx="3590290" cy="1106805"/>
          </a:xfrm>
          <a:prstGeom prst="rect">
            <a:avLst/>
          </a:prstGeom>
          <a:noFill/>
        </p:spPr>
        <p:txBody>
          <a:bodyPr wrap="square" rtlCol="0">
            <a:spAutoFit/>
          </a:bodyPr>
          <a:lstStyle/>
          <a:p>
            <a:pPr algn="ctr">
              <a:lnSpc>
                <a:spcPct val="150000"/>
              </a:lnSpc>
            </a:pPr>
            <a:r>
              <a:rPr lang="en-US" altLang="zh-CN" sz="1100" spc="100" dirty="0">
                <a:solidFill>
                  <a:srgbClr val="388BA5"/>
                </a:solidFill>
                <a:latin typeface="Times New Roman" panose="02020603050405020304" charset="0"/>
                <a:cs typeface="Times New Roman" panose="02020603050405020304" charset="0"/>
                <a:sym typeface="+mn-lt"/>
              </a:rPr>
              <a:t>The core consists of three tables: users, accounts, and transactions, establishing a hierarchical relationship from user </a:t>
            </a:r>
            <a:r>
              <a:rPr lang="en-US" altLang="en-US" sz="1100" spc="100" dirty="0">
                <a:solidFill>
                  <a:srgbClr val="388BA5"/>
                </a:solidFill>
                <a:latin typeface="Times New Roman" panose="02020603050405020304" charset="0"/>
                <a:cs typeface="Times New Roman" panose="02020603050405020304" charset="0"/>
                <a:sym typeface="+mn-lt"/>
              </a:rPr>
              <a:t>→</a:t>
            </a:r>
            <a:r>
              <a:rPr lang="en-US" altLang="zh-CN" sz="1100" spc="100" dirty="0">
                <a:solidFill>
                  <a:srgbClr val="388BA5"/>
                </a:solidFill>
                <a:latin typeface="Times New Roman" panose="02020603050405020304" charset="0"/>
                <a:cs typeface="Times New Roman" panose="02020603050405020304" charset="0"/>
                <a:sym typeface="+mn-lt"/>
              </a:rPr>
              <a:t> account </a:t>
            </a:r>
            <a:r>
              <a:rPr lang="en-US" altLang="en-US" sz="1100" spc="100" dirty="0">
                <a:solidFill>
                  <a:srgbClr val="388BA5"/>
                </a:solidFill>
                <a:latin typeface="Times New Roman" panose="02020603050405020304" charset="0"/>
                <a:cs typeface="Times New Roman" panose="02020603050405020304" charset="0"/>
                <a:sym typeface="+mn-lt"/>
              </a:rPr>
              <a:t>→</a:t>
            </a:r>
            <a:r>
              <a:rPr lang="en-US" altLang="zh-CN" sz="1100" spc="100" dirty="0">
                <a:solidFill>
                  <a:srgbClr val="388BA5"/>
                </a:solidFill>
                <a:latin typeface="Times New Roman" panose="02020603050405020304" charset="0"/>
                <a:cs typeface="Times New Roman" panose="02020603050405020304" charset="0"/>
                <a:sym typeface="+mn-lt"/>
              </a:rPr>
              <a:t> transaction, which facilitates aggregated statistics.</a:t>
            </a:r>
            <a:endParaRPr lang="en-US" altLang="zh-CN" sz="1100" spc="100" dirty="0">
              <a:solidFill>
                <a:srgbClr val="388BA5"/>
              </a:solidFill>
              <a:latin typeface="Times New Roman" panose="02020603050405020304" charset="0"/>
              <a:cs typeface="Times New Roman" panose="02020603050405020304" charset="0"/>
              <a:sym typeface="+mn-lt"/>
            </a:endParaRPr>
          </a:p>
        </p:txBody>
      </p:sp>
      <p:grpSp>
        <p:nvGrpSpPr>
          <p:cNvPr id="35" name="组合 34"/>
          <p:cNvGrpSpPr/>
          <p:nvPr>
            <p:custDataLst>
              <p:tags r:id="rId13"/>
            </p:custDataLst>
          </p:nvPr>
        </p:nvGrpSpPr>
        <p:grpSpPr>
          <a:xfrm>
            <a:off x="512445" y="3765550"/>
            <a:ext cx="3483610" cy="2364740"/>
            <a:chOff x="588282" y="3866260"/>
            <a:chExt cx="2868149" cy="2104628"/>
          </a:xfrm>
        </p:grpSpPr>
        <p:sp>
          <p:nvSpPr>
            <p:cNvPr id="15" name="圆角矩形 5"/>
            <p:cNvSpPr/>
            <p:nvPr>
              <p:custDataLst>
                <p:tags r:id="rId14"/>
              </p:custDataLst>
            </p:nvPr>
          </p:nvSpPr>
          <p:spPr>
            <a:xfrm>
              <a:off x="588282" y="3866260"/>
              <a:ext cx="2868149" cy="2104628"/>
            </a:xfrm>
            <a:prstGeom prst="roundRect">
              <a:avLst>
                <a:gd name="adj" fmla="val 825"/>
              </a:avLst>
            </a:prstGeom>
            <a:solidFill>
              <a:srgbClr val="F1F3F2"/>
            </a:solidFill>
            <a:ln>
              <a:noFill/>
            </a:ln>
            <a:effectLst>
              <a:outerShdw blurRad="50800" dist="254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custDataLst>
                <p:tags r:id="rId15"/>
              </p:custDataLst>
            </p:nvPr>
          </p:nvCxnSpPr>
          <p:spPr>
            <a:xfrm>
              <a:off x="1624971" y="4372313"/>
              <a:ext cx="936000" cy="0"/>
            </a:xfrm>
            <a:prstGeom prst="line">
              <a:avLst/>
            </a:prstGeom>
            <a:ln>
              <a:solidFill>
                <a:schemeClr val="bg1"/>
              </a:solidFill>
            </a:ln>
            <a:effectLst>
              <a:outerShdw blurRad="38100" dist="12700" dir="2700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grpSp>
      <p:sp>
        <p:nvSpPr>
          <p:cNvPr id="38" name="Freeform 503"/>
          <p:cNvSpPr>
            <a:spLocks noEditPoints="1"/>
          </p:cNvSpPr>
          <p:nvPr>
            <p:custDataLst>
              <p:tags r:id="rId16"/>
            </p:custDataLst>
          </p:nvPr>
        </p:nvSpPr>
        <p:spPr bwMode="auto">
          <a:xfrm>
            <a:off x="2120557" y="5615682"/>
            <a:ext cx="267418" cy="267416"/>
          </a:xfrm>
          <a:custGeom>
            <a:avLst/>
            <a:gdLst>
              <a:gd name="T0" fmla="*/ 64 w 176"/>
              <a:gd name="T1" fmla="*/ 32 h 176"/>
              <a:gd name="T2" fmla="*/ 67 w 176"/>
              <a:gd name="T3" fmla="*/ 31 h 176"/>
              <a:gd name="T4" fmla="*/ 84 w 176"/>
              <a:gd name="T5" fmla="*/ 14 h 176"/>
              <a:gd name="T6" fmla="*/ 84 w 176"/>
              <a:gd name="T7" fmla="*/ 124 h 176"/>
              <a:gd name="T8" fmla="*/ 84 w 176"/>
              <a:gd name="T9" fmla="*/ 124 h 176"/>
              <a:gd name="T10" fmla="*/ 88 w 176"/>
              <a:gd name="T11" fmla="*/ 128 h 176"/>
              <a:gd name="T12" fmla="*/ 92 w 176"/>
              <a:gd name="T13" fmla="*/ 124 h 176"/>
              <a:gd name="T14" fmla="*/ 92 w 176"/>
              <a:gd name="T15" fmla="*/ 14 h 176"/>
              <a:gd name="T16" fmla="*/ 109 w 176"/>
              <a:gd name="T17" fmla="*/ 31 h 176"/>
              <a:gd name="T18" fmla="*/ 112 w 176"/>
              <a:gd name="T19" fmla="*/ 32 h 176"/>
              <a:gd name="T20" fmla="*/ 116 w 176"/>
              <a:gd name="T21" fmla="*/ 28 h 176"/>
              <a:gd name="T22" fmla="*/ 115 w 176"/>
              <a:gd name="T23" fmla="*/ 25 h 176"/>
              <a:gd name="T24" fmla="*/ 91 w 176"/>
              <a:gd name="T25" fmla="*/ 1 h 176"/>
              <a:gd name="T26" fmla="*/ 88 w 176"/>
              <a:gd name="T27" fmla="*/ 0 h 176"/>
              <a:gd name="T28" fmla="*/ 85 w 176"/>
              <a:gd name="T29" fmla="*/ 1 h 176"/>
              <a:gd name="T30" fmla="*/ 61 w 176"/>
              <a:gd name="T31" fmla="*/ 25 h 176"/>
              <a:gd name="T32" fmla="*/ 60 w 176"/>
              <a:gd name="T33" fmla="*/ 28 h 176"/>
              <a:gd name="T34" fmla="*/ 64 w 176"/>
              <a:gd name="T35" fmla="*/ 32 h 176"/>
              <a:gd name="T36" fmla="*/ 168 w 176"/>
              <a:gd name="T37" fmla="*/ 40 h 176"/>
              <a:gd name="T38" fmla="*/ 104 w 176"/>
              <a:gd name="T39" fmla="*/ 40 h 176"/>
              <a:gd name="T40" fmla="*/ 100 w 176"/>
              <a:gd name="T41" fmla="*/ 44 h 176"/>
              <a:gd name="T42" fmla="*/ 104 w 176"/>
              <a:gd name="T43" fmla="*/ 48 h 176"/>
              <a:gd name="T44" fmla="*/ 168 w 176"/>
              <a:gd name="T45" fmla="*/ 48 h 176"/>
              <a:gd name="T46" fmla="*/ 168 w 176"/>
              <a:gd name="T47" fmla="*/ 64 h 176"/>
              <a:gd name="T48" fmla="*/ 104 w 176"/>
              <a:gd name="T49" fmla="*/ 64 h 176"/>
              <a:gd name="T50" fmla="*/ 100 w 176"/>
              <a:gd name="T51" fmla="*/ 68 h 176"/>
              <a:gd name="T52" fmla="*/ 104 w 176"/>
              <a:gd name="T53" fmla="*/ 72 h 176"/>
              <a:gd name="T54" fmla="*/ 152 w 176"/>
              <a:gd name="T55" fmla="*/ 72 h 176"/>
              <a:gd name="T56" fmla="*/ 152 w 176"/>
              <a:gd name="T57" fmla="*/ 168 h 176"/>
              <a:gd name="T58" fmla="*/ 24 w 176"/>
              <a:gd name="T59" fmla="*/ 168 h 176"/>
              <a:gd name="T60" fmla="*/ 24 w 176"/>
              <a:gd name="T61" fmla="*/ 72 h 176"/>
              <a:gd name="T62" fmla="*/ 72 w 176"/>
              <a:gd name="T63" fmla="*/ 72 h 176"/>
              <a:gd name="T64" fmla="*/ 76 w 176"/>
              <a:gd name="T65" fmla="*/ 68 h 176"/>
              <a:gd name="T66" fmla="*/ 72 w 176"/>
              <a:gd name="T67" fmla="*/ 64 h 176"/>
              <a:gd name="T68" fmla="*/ 8 w 176"/>
              <a:gd name="T69" fmla="*/ 64 h 176"/>
              <a:gd name="T70" fmla="*/ 8 w 176"/>
              <a:gd name="T71" fmla="*/ 48 h 176"/>
              <a:gd name="T72" fmla="*/ 72 w 176"/>
              <a:gd name="T73" fmla="*/ 48 h 176"/>
              <a:gd name="T74" fmla="*/ 76 w 176"/>
              <a:gd name="T75" fmla="*/ 44 h 176"/>
              <a:gd name="T76" fmla="*/ 72 w 176"/>
              <a:gd name="T77" fmla="*/ 40 h 176"/>
              <a:gd name="T78" fmla="*/ 8 w 176"/>
              <a:gd name="T79" fmla="*/ 40 h 176"/>
              <a:gd name="T80" fmla="*/ 0 w 176"/>
              <a:gd name="T81" fmla="*/ 48 h 176"/>
              <a:gd name="T82" fmla="*/ 0 w 176"/>
              <a:gd name="T83" fmla="*/ 64 h 176"/>
              <a:gd name="T84" fmla="*/ 8 w 176"/>
              <a:gd name="T85" fmla="*/ 72 h 176"/>
              <a:gd name="T86" fmla="*/ 16 w 176"/>
              <a:gd name="T87" fmla="*/ 72 h 176"/>
              <a:gd name="T88" fmla="*/ 16 w 176"/>
              <a:gd name="T89" fmla="*/ 168 h 176"/>
              <a:gd name="T90" fmla="*/ 24 w 176"/>
              <a:gd name="T91" fmla="*/ 176 h 176"/>
              <a:gd name="T92" fmla="*/ 152 w 176"/>
              <a:gd name="T93" fmla="*/ 176 h 176"/>
              <a:gd name="T94" fmla="*/ 160 w 176"/>
              <a:gd name="T95" fmla="*/ 168 h 176"/>
              <a:gd name="T96" fmla="*/ 160 w 176"/>
              <a:gd name="T97" fmla="*/ 72 h 176"/>
              <a:gd name="T98" fmla="*/ 168 w 176"/>
              <a:gd name="T99" fmla="*/ 72 h 176"/>
              <a:gd name="T100" fmla="*/ 176 w 176"/>
              <a:gd name="T101" fmla="*/ 64 h 176"/>
              <a:gd name="T102" fmla="*/ 176 w 176"/>
              <a:gd name="T103" fmla="*/ 48 h 176"/>
              <a:gd name="T104" fmla="*/ 168 w 176"/>
              <a:gd name="T105" fmla="*/ 4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76" h="176">
                <a:moveTo>
                  <a:pt x="64" y="32"/>
                </a:moveTo>
                <a:cubicBezTo>
                  <a:pt x="65" y="32"/>
                  <a:pt x="66" y="32"/>
                  <a:pt x="67" y="31"/>
                </a:cubicBezTo>
                <a:cubicBezTo>
                  <a:pt x="84" y="14"/>
                  <a:pt x="84" y="14"/>
                  <a:pt x="84" y="14"/>
                </a:cubicBezTo>
                <a:cubicBezTo>
                  <a:pt x="84" y="124"/>
                  <a:pt x="84" y="124"/>
                  <a:pt x="84" y="124"/>
                </a:cubicBezTo>
                <a:cubicBezTo>
                  <a:pt x="84" y="124"/>
                  <a:pt x="84" y="124"/>
                  <a:pt x="84" y="124"/>
                </a:cubicBezTo>
                <a:cubicBezTo>
                  <a:pt x="84" y="126"/>
                  <a:pt x="86" y="128"/>
                  <a:pt x="88" y="128"/>
                </a:cubicBezTo>
                <a:cubicBezTo>
                  <a:pt x="90" y="128"/>
                  <a:pt x="92" y="126"/>
                  <a:pt x="92" y="124"/>
                </a:cubicBezTo>
                <a:cubicBezTo>
                  <a:pt x="92" y="14"/>
                  <a:pt x="92" y="14"/>
                  <a:pt x="92" y="14"/>
                </a:cubicBezTo>
                <a:cubicBezTo>
                  <a:pt x="109" y="31"/>
                  <a:pt x="109" y="31"/>
                  <a:pt x="109" y="31"/>
                </a:cubicBezTo>
                <a:cubicBezTo>
                  <a:pt x="110" y="32"/>
                  <a:pt x="111" y="32"/>
                  <a:pt x="112" y="32"/>
                </a:cubicBezTo>
                <a:cubicBezTo>
                  <a:pt x="114" y="32"/>
                  <a:pt x="116" y="30"/>
                  <a:pt x="116" y="28"/>
                </a:cubicBezTo>
                <a:cubicBezTo>
                  <a:pt x="116" y="27"/>
                  <a:pt x="116" y="26"/>
                  <a:pt x="115" y="25"/>
                </a:cubicBezTo>
                <a:cubicBezTo>
                  <a:pt x="91" y="1"/>
                  <a:pt x="91" y="1"/>
                  <a:pt x="91" y="1"/>
                </a:cubicBezTo>
                <a:cubicBezTo>
                  <a:pt x="90" y="0"/>
                  <a:pt x="89" y="0"/>
                  <a:pt x="88" y="0"/>
                </a:cubicBezTo>
                <a:cubicBezTo>
                  <a:pt x="87" y="0"/>
                  <a:pt x="86" y="0"/>
                  <a:pt x="85" y="1"/>
                </a:cubicBezTo>
                <a:cubicBezTo>
                  <a:pt x="61" y="25"/>
                  <a:pt x="61" y="25"/>
                  <a:pt x="61" y="25"/>
                </a:cubicBezTo>
                <a:cubicBezTo>
                  <a:pt x="60" y="26"/>
                  <a:pt x="60" y="27"/>
                  <a:pt x="60" y="28"/>
                </a:cubicBezTo>
                <a:cubicBezTo>
                  <a:pt x="60" y="30"/>
                  <a:pt x="62" y="32"/>
                  <a:pt x="64" y="32"/>
                </a:cubicBezTo>
                <a:close/>
                <a:moveTo>
                  <a:pt x="168" y="40"/>
                </a:moveTo>
                <a:cubicBezTo>
                  <a:pt x="104" y="40"/>
                  <a:pt x="104" y="40"/>
                  <a:pt x="104" y="40"/>
                </a:cubicBezTo>
                <a:cubicBezTo>
                  <a:pt x="102" y="40"/>
                  <a:pt x="100" y="42"/>
                  <a:pt x="100" y="44"/>
                </a:cubicBezTo>
                <a:cubicBezTo>
                  <a:pt x="100" y="46"/>
                  <a:pt x="102" y="48"/>
                  <a:pt x="104" y="48"/>
                </a:cubicBezTo>
                <a:cubicBezTo>
                  <a:pt x="168" y="48"/>
                  <a:pt x="168" y="48"/>
                  <a:pt x="168" y="48"/>
                </a:cubicBezTo>
                <a:cubicBezTo>
                  <a:pt x="168" y="64"/>
                  <a:pt x="168" y="64"/>
                  <a:pt x="168" y="64"/>
                </a:cubicBezTo>
                <a:cubicBezTo>
                  <a:pt x="104" y="64"/>
                  <a:pt x="104" y="64"/>
                  <a:pt x="104" y="64"/>
                </a:cubicBezTo>
                <a:cubicBezTo>
                  <a:pt x="102" y="64"/>
                  <a:pt x="100" y="66"/>
                  <a:pt x="100" y="68"/>
                </a:cubicBezTo>
                <a:cubicBezTo>
                  <a:pt x="100" y="70"/>
                  <a:pt x="102" y="72"/>
                  <a:pt x="104" y="72"/>
                </a:cubicBezTo>
                <a:cubicBezTo>
                  <a:pt x="152" y="72"/>
                  <a:pt x="152" y="72"/>
                  <a:pt x="152" y="72"/>
                </a:cubicBezTo>
                <a:cubicBezTo>
                  <a:pt x="152" y="168"/>
                  <a:pt x="152" y="168"/>
                  <a:pt x="152" y="168"/>
                </a:cubicBezTo>
                <a:cubicBezTo>
                  <a:pt x="24" y="168"/>
                  <a:pt x="24" y="168"/>
                  <a:pt x="24" y="168"/>
                </a:cubicBezTo>
                <a:cubicBezTo>
                  <a:pt x="24" y="72"/>
                  <a:pt x="24" y="72"/>
                  <a:pt x="24" y="72"/>
                </a:cubicBezTo>
                <a:cubicBezTo>
                  <a:pt x="72" y="72"/>
                  <a:pt x="72" y="72"/>
                  <a:pt x="72" y="72"/>
                </a:cubicBezTo>
                <a:cubicBezTo>
                  <a:pt x="74" y="72"/>
                  <a:pt x="76" y="70"/>
                  <a:pt x="76" y="68"/>
                </a:cubicBezTo>
                <a:cubicBezTo>
                  <a:pt x="76" y="66"/>
                  <a:pt x="74" y="64"/>
                  <a:pt x="72" y="64"/>
                </a:cubicBezTo>
                <a:cubicBezTo>
                  <a:pt x="8" y="64"/>
                  <a:pt x="8" y="64"/>
                  <a:pt x="8" y="64"/>
                </a:cubicBezTo>
                <a:cubicBezTo>
                  <a:pt x="8" y="48"/>
                  <a:pt x="8" y="48"/>
                  <a:pt x="8" y="48"/>
                </a:cubicBezTo>
                <a:cubicBezTo>
                  <a:pt x="72" y="48"/>
                  <a:pt x="72" y="48"/>
                  <a:pt x="72" y="48"/>
                </a:cubicBezTo>
                <a:cubicBezTo>
                  <a:pt x="74" y="48"/>
                  <a:pt x="76" y="46"/>
                  <a:pt x="76" y="44"/>
                </a:cubicBezTo>
                <a:cubicBezTo>
                  <a:pt x="76" y="42"/>
                  <a:pt x="74" y="40"/>
                  <a:pt x="72" y="40"/>
                </a:cubicBezTo>
                <a:cubicBezTo>
                  <a:pt x="8" y="40"/>
                  <a:pt x="8" y="40"/>
                  <a:pt x="8" y="40"/>
                </a:cubicBezTo>
                <a:cubicBezTo>
                  <a:pt x="4" y="40"/>
                  <a:pt x="0" y="44"/>
                  <a:pt x="0" y="48"/>
                </a:cubicBezTo>
                <a:cubicBezTo>
                  <a:pt x="0" y="64"/>
                  <a:pt x="0" y="64"/>
                  <a:pt x="0" y="64"/>
                </a:cubicBezTo>
                <a:cubicBezTo>
                  <a:pt x="0" y="68"/>
                  <a:pt x="4" y="72"/>
                  <a:pt x="8" y="72"/>
                </a:cubicBezTo>
                <a:cubicBezTo>
                  <a:pt x="16" y="72"/>
                  <a:pt x="16" y="72"/>
                  <a:pt x="16" y="72"/>
                </a:cubicBezTo>
                <a:cubicBezTo>
                  <a:pt x="16" y="168"/>
                  <a:pt x="16" y="168"/>
                  <a:pt x="16" y="168"/>
                </a:cubicBezTo>
                <a:cubicBezTo>
                  <a:pt x="16" y="172"/>
                  <a:pt x="20" y="176"/>
                  <a:pt x="24" y="176"/>
                </a:cubicBezTo>
                <a:cubicBezTo>
                  <a:pt x="152" y="176"/>
                  <a:pt x="152" y="176"/>
                  <a:pt x="152" y="176"/>
                </a:cubicBezTo>
                <a:cubicBezTo>
                  <a:pt x="156" y="176"/>
                  <a:pt x="160" y="172"/>
                  <a:pt x="160" y="168"/>
                </a:cubicBezTo>
                <a:cubicBezTo>
                  <a:pt x="160" y="72"/>
                  <a:pt x="160" y="72"/>
                  <a:pt x="160" y="72"/>
                </a:cubicBezTo>
                <a:cubicBezTo>
                  <a:pt x="168" y="72"/>
                  <a:pt x="168" y="72"/>
                  <a:pt x="168" y="72"/>
                </a:cubicBezTo>
                <a:cubicBezTo>
                  <a:pt x="172" y="72"/>
                  <a:pt x="176" y="68"/>
                  <a:pt x="176" y="64"/>
                </a:cubicBezTo>
                <a:cubicBezTo>
                  <a:pt x="176" y="48"/>
                  <a:pt x="176" y="48"/>
                  <a:pt x="176" y="48"/>
                </a:cubicBezTo>
                <a:cubicBezTo>
                  <a:pt x="176" y="44"/>
                  <a:pt x="172" y="40"/>
                  <a:pt x="168" y="40"/>
                </a:cubicBezTo>
                <a:close/>
              </a:path>
            </a:pathLst>
          </a:custGeom>
          <a:solidFill>
            <a:srgbClr val="388BA5"/>
          </a:solidFill>
          <a:ln>
            <a:noFill/>
          </a:ln>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cs typeface="+mn-ea"/>
              <a:sym typeface="+mn-lt"/>
            </a:endParaRPr>
          </a:p>
        </p:txBody>
      </p:sp>
      <p:sp>
        <p:nvSpPr>
          <p:cNvPr id="41" name="文本框 40"/>
          <p:cNvSpPr txBox="1"/>
          <p:nvPr>
            <p:custDataLst>
              <p:tags r:id="rId17"/>
            </p:custDataLst>
          </p:nvPr>
        </p:nvSpPr>
        <p:spPr>
          <a:xfrm>
            <a:off x="1513864" y="3885651"/>
            <a:ext cx="1683996" cy="368300"/>
          </a:xfrm>
          <a:prstGeom prst="rect">
            <a:avLst/>
          </a:prstGeom>
          <a:noFill/>
        </p:spPr>
        <p:txBody>
          <a:bodyPr wrap="square" rtlCol="0">
            <a:spAutoFit/>
          </a:bodyPr>
          <a:lstStyle/>
          <a:p>
            <a:pPr algn="ctr"/>
            <a:r>
              <a:rPr lang="en-US" altLang="zh-CN" spc="150" dirty="0">
                <a:solidFill>
                  <a:srgbClr val="009B97"/>
                </a:solidFill>
                <a:cs typeface="+mn-ea"/>
                <a:sym typeface="+mn-lt"/>
              </a:rPr>
              <a:t>Design 1</a:t>
            </a:r>
            <a:endParaRPr lang="en-US" altLang="zh-CN" spc="150" dirty="0">
              <a:solidFill>
                <a:srgbClr val="009B97"/>
              </a:solidFill>
              <a:cs typeface="+mn-ea"/>
              <a:sym typeface="+mn-lt"/>
            </a:endParaRPr>
          </a:p>
        </p:txBody>
      </p:sp>
      <p:sp>
        <p:nvSpPr>
          <p:cNvPr id="46" name="文本框 45"/>
          <p:cNvSpPr txBox="1"/>
          <p:nvPr>
            <p:custDataLst>
              <p:tags r:id="rId18"/>
            </p:custDataLst>
          </p:nvPr>
        </p:nvSpPr>
        <p:spPr>
          <a:xfrm>
            <a:off x="448310" y="4434205"/>
            <a:ext cx="3644265" cy="1106805"/>
          </a:xfrm>
          <a:prstGeom prst="rect">
            <a:avLst/>
          </a:prstGeom>
          <a:noFill/>
        </p:spPr>
        <p:txBody>
          <a:bodyPr wrap="square" rtlCol="0">
            <a:spAutoFit/>
          </a:bodyPr>
          <a:lstStyle/>
          <a:p>
            <a:pPr algn="ctr">
              <a:lnSpc>
                <a:spcPct val="150000"/>
              </a:lnSpc>
            </a:pPr>
            <a:r>
              <a:rPr lang="en-US" altLang="zh-CN" sz="1100" spc="100" dirty="0">
                <a:solidFill>
                  <a:srgbClr val="388BA5"/>
                </a:solidFill>
                <a:latin typeface="Times New Roman" panose="02020603050405020304" charset="0"/>
                <a:cs typeface="Times New Roman" panose="02020603050405020304" charset="0"/>
                <a:sym typeface="+mn-lt"/>
              </a:rPr>
              <a:t>Utilizes embedded SQLite with a fixed storage path in the local FinanceTracker application directory, facilitating offline operation and quick startup on desktop devices.</a:t>
            </a:r>
            <a:endParaRPr lang="en-US" altLang="zh-CN" sz="1100" spc="100" dirty="0">
              <a:solidFill>
                <a:srgbClr val="388BA5"/>
              </a:solidFill>
              <a:latin typeface="Times New Roman" panose="02020603050405020304" charset="0"/>
              <a:cs typeface="Times New Roman" panose="02020603050405020304" charset="0"/>
              <a:sym typeface="+mn-lt"/>
            </a:endParaRPr>
          </a:p>
        </p:txBody>
      </p:sp>
      <p:pic>
        <p:nvPicPr>
          <p:cNvPr id="9" name="图片 8" descr="10757629902"/>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90525" y="93980"/>
            <a:ext cx="699770" cy="6997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a:off x="1283233" y="214158"/>
            <a:ext cx="4345397" cy="460375"/>
          </a:xfrm>
          <a:prstGeom prst="rect">
            <a:avLst/>
          </a:prstGeom>
          <a:noFill/>
        </p:spPr>
        <p:txBody>
          <a:bodyPr wrap="square" rtlCol="0">
            <a:spAutoFit/>
          </a:bodyPr>
          <a:lstStyle>
            <a:defPPr>
              <a:defRPr lang="zh-CN"/>
            </a:defPPr>
            <a:lvl1pPr>
              <a:defRPr sz="2400" b="1">
                <a:solidFill>
                  <a:srgbClr val="267CA0"/>
                </a:solidFill>
                <a:latin typeface="包图粗黑体" panose="02000800000000000000" pitchFamily="2" charset="-122"/>
                <a:ea typeface="包图粗黑体" panose="02000800000000000000" pitchFamily="2" charset="-122"/>
              </a:defRPr>
            </a:lvl1pPr>
          </a:lstStyle>
          <a:p>
            <a:pPr algn="l"/>
            <a:r>
              <a:rPr lang="en-US" altLang="zh-CN" dirty="0">
                <a:latin typeface="Times New Roman" panose="02020603050405020304" charset="0"/>
                <a:cs typeface="Times New Roman" panose="02020603050405020304" charset="0"/>
                <a:sym typeface="+mn-lt"/>
              </a:rPr>
              <a:t>API Endpoint Documentation</a:t>
            </a:r>
            <a:endParaRPr lang="zh-CN" altLang="en-US" b="0" dirty="0">
              <a:latin typeface="+mn-lt"/>
              <a:ea typeface="+mn-ea"/>
              <a:cs typeface="+mn-ea"/>
              <a:sym typeface="+mn-lt"/>
            </a:endParaRPr>
          </a:p>
        </p:txBody>
      </p:sp>
      <p:sp>
        <p:nvSpPr>
          <p:cNvPr id="3" name="文本框 2"/>
          <p:cNvSpPr txBox="1"/>
          <p:nvPr/>
        </p:nvSpPr>
        <p:spPr>
          <a:xfrm>
            <a:off x="639445" y="1301115"/>
            <a:ext cx="10913110" cy="4584700"/>
          </a:xfrm>
          <a:prstGeom prst="rect">
            <a:avLst/>
          </a:prstGeom>
        </p:spPr>
        <p:txBody>
          <a:bodyPr wrap="square">
            <a:spAutoFit/>
          </a:bodyPr>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GET /api/transactions: Returns all transactions, sorted by date desc, created_at desc.</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GET /api/transactions/{id}: Returns details of a single transaction.</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POST /api/transactions: Creates a new transaction (request body: CreateTransaction), returns { id } on success.</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PUT /api/transactions/{id}: Partial update — allows modifying amount, type, category, description, and date; automatically recalculates account balance.</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DELETE /api/transactions/{id}: Deletes the transaction and rolls back the account balance.</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GET /api/accounts: Lists all accounts.</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POST /api/accounts: Creates a new account (requires user_id, name, account_type, balance).</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GET /api/stats?start_date&amp;end_date: Returns income, expenses, net amount, and categorized aggregations (defaults to full range).</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sz="1800" b="1" i="0" spc="150" dirty="0">
                <a:solidFill>
                  <a:schemeClr val="tx1">
                    <a:lumMod val="50000"/>
                    <a:lumOff val="50000"/>
                  </a:schemeClr>
                </a:solidFill>
                <a:latin typeface="Times New Roman" panose="02020603050405020304" charset="0"/>
                <a:cs typeface="Times New Roman" panose="02020603050405020304" charset="0"/>
              </a:rPr>
              <a:t>- GET /api/trends?months=6: Returns monthly aggregated income/expense/net trends, defaulting to the last 6 months.</a:t>
            </a:r>
            <a:endParaRPr lang="en-US" altLang="zh-CN" sz="1800" b="1" i="0" spc="150" dirty="0">
              <a:solidFill>
                <a:schemeClr val="tx1">
                  <a:lumMod val="50000"/>
                  <a:lumOff val="50000"/>
                </a:schemeClr>
              </a:solidFill>
              <a:latin typeface="Times New Roman" panose="02020603050405020304" charset="0"/>
              <a:cs typeface="Times New Roman" panose="02020603050405020304" charset="0"/>
            </a:endParaRPr>
          </a:p>
        </p:txBody>
      </p:sp>
      <p:pic>
        <p:nvPicPr>
          <p:cNvPr id="2" name="图片 1" descr="1075762990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0525" y="93980"/>
            <a:ext cx="699770" cy="6997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283233" y="214158"/>
            <a:ext cx="4345397" cy="460375"/>
          </a:xfrm>
          <a:prstGeom prst="rect">
            <a:avLst/>
          </a:prstGeom>
          <a:noFill/>
        </p:spPr>
        <p:txBody>
          <a:bodyPr wrap="square" rtlCol="0">
            <a:spAutoFit/>
          </a:bodyPr>
          <a:lstStyle>
            <a:defPPr>
              <a:defRPr lang="zh-CN"/>
            </a:defPPr>
            <a:lvl1pPr>
              <a:defRPr sz="2400" b="1">
                <a:solidFill>
                  <a:srgbClr val="267CA0"/>
                </a:solidFill>
                <a:latin typeface="包图粗黑体" panose="02000800000000000000" pitchFamily="2" charset="-122"/>
                <a:ea typeface="包图粗黑体" panose="02000800000000000000" pitchFamily="2" charset="-122"/>
              </a:defRPr>
            </a:lvl1pPr>
          </a:lstStyle>
          <a:p>
            <a:pPr algn="dist"/>
            <a:r>
              <a:rPr lang="en-US" altLang="zh-CN" dirty="0">
                <a:latin typeface="Times New Roman" panose="02020603050405020304" charset="0"/>
                <a:cs typeface="Times New Roman" panose="02020603050405020304" charset="0"/>
                <a:sym typeface="+mn-lt"/>
              </a:rPr>
              <a:t>Database Schema Design</a:t>
            </a:r>
            <a:endParaRPr lang="zh-CN" altLang="en-US" b="0" dirty="0">
              <a:latin typeface="+mn-lt"/>
              <a:ea typeface="+mn-ea"/>
              <a:cs typeface="+mn-ea"/>
              <a:sym typeface="+mn-lt"/>
            </a:endParaRPr>
          </a:p>
        </p:txBody>
      </p:sp>
      <p:pic>
        <p:nvPicPr>
          <p:cNvPr id="7" name="图片 6"/>
          <p:cNvPicPr>
            <a:picLocks noChangeAspect="1"/>
          </p:cNvPicPr>
          <p:nvPr/>
        </p:nvPicPr>
        <p:blipFill>
          <a:blip r:embed="rId1"/>
          <a:stretch>
            <a:fillRect/>
          </a:stretch>
        </p:blipFill>
        <p:spPr>
          <a:xfrm>
            <a:off x="441960" y="5006340"/>
            <a:ext cx="6028055" cy="1238250"/>
          </a:xfrm>
          <a:prstGeom prst="rect">
            <a:avLst/>
          </a:prstGeom>
        </p:spPr>
      </p:pic>
      <p:pic>
        <p:nvPicPr>
          <p:cNvPr id="8" name="图片 7"/>
          <p:cNvPicPr>
            <a:picLocks noChangeAspect="1"/>
          </p:cNvPicPr>
          <p:nvPr/>
        </p:nvPicPr>
        <p:blipFill>
          <a:blip r:embed="rId2"/>
          <a:stretch>
            <a:fillRect/>
          </a:stretch>
        </p:blipFill>
        <p:spPr>
          <a:xfrm>
            <a:off x="441960" y="908050"/>
            <a:ext cx="6000115" cy="3906520"/>
          </a:xfrm>
          <a:prstGeom prst="rect">
            <a:avLst/>
          </a:prstGeom>
        </p:spPr>
      </p:pic>
      <p:pic>
        <p:nvPicPr>
          <p:cNvPr id="9" name="图片 8"/>
          <p:cNvPicPr>
            <a:picLocks noChangeAspect="1"/>
          </p:cNvPicPr>
          <p:nvPr/>
        </p:nvPicPr>
        <p:blipFill>
          <a:blip r:embed="rId3"/>
          <a:stretch>
            <a:fillRect/>
          </a:stretch>
        </p:blipFill>
        <p:spPr>
          <a:xfrm>
            <a:off x="6586855" y="908050"/>
            <a:ext cx="5126355" cy="5342255"/>
          </a:xfrm>
          <a:prstGeom prst="rect">
            <a:avLst/>
          </a:prstGeom>
        </p:spPr>
      </p:pic>
      <p:pic>
        <p:nvPicPr>
          <p:cNvPr id="5" name="图片 4" descr="1075762990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0525" y="93980"/>
            <a:ext cx="699770" cy="6997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文本框 128"/>
          <p:cNvSpPr txBox="1"/>
          <p:nvPr>
            <p:custDataLst>
              <p:tags r:id="rId1"/>
            </p:custDataLst>
          </p:nvPr>
        </p:nvSpPr>
        <p:spPr>
          <a:xfrm>
            <a:off x="1774825" y="2961640"/>
            <a:ext cx="9276715" cy="1198880"/>
          </a:xfrm>
          <a:prstGeom prst="rect">
            <a:avLst/>
          </a:prstGeom>
          <a:noFill/>
        </p:spPr>
        <p:txBody>
          <a:bodyPr wrap="square" rtlCol="0">
            <a:spAutoFit/>
          </a:bodyPr>
          <a:lstStyle/>
          <a:p>
            <a:pPr algn="l"/>
            <a:r>
              <a:rPr lang="en-US" altLang="zh-CN" b="1" spc="150" dirty="0">
                <a:solidFill>
                  <a:schemeClr val="tx1">
                    <a:lumMod val="50000"/>
                    <a:lumOff val="50000"/>
                  </a:schemeClr>
                </a:solidFill>
                <a:latin typeface="Times New Roman" panose="02020603050405020304" charset="0"/>
                <a:cs typeface="Times New Roman" panose="02020603050405020304" charset="0"/>
                <a:sym typeface="+mn-lt"/>
              </a:rPr>
              <a:t>Actix-web + Tokio: Launch an Actix HTTP server in the background within lib.rs, sharing the same Arc&lt;Mutex&lt;Connection&gt;&gt;. This setup allows serving Tauri frontend commands while simultaneously exposing a REST API externally for other clients or mobile applications.</a:t>
            </a:r>
            <a:endParaRPr lang="en-US" altLang="zh-CN" b="1" spc="150" dirty="0">
              <a:solidFill>
                <a:schemeClr val="tx1">
                  <a:lumMod val="50000"/>
                  <a:lumOff val="50000"/>
                </a:schemeClr>
              </a:solidFill>
              <a:latin typeface="Times New Roman" panose="02020603050405020304" charset="0"/>
              <a:cs typeface="Times New Roman" panose="02020603050405020304" charset="0"/>
              <a:sym typeface="+mn-lt"/>
            </a:endParaRPr>
          </a:p>
        </p:txBody>
      </p:sp>
      <p:sp>
        <p:nvSpPr>
          <p:cNvPr id="86" name="文本框 85"/>
          <p:cNvSpPr txBox="1"/>
          <p:nvPr/>
        </p:nvSpPr>
        <p:spPr>
          <a:xfrm>
            <a:off x="1283335" y="213995"/>
            <a:ext cx="5430520" cy="460375"/>
          </a:xfrm>
          <a:prstGeom prst="rect">
            <a:avLst/>
          </a:prstGeom>
          <a:noFill/>
        </p:spPr>
        <p:txBody>
          <a:bodyPr wrap="square" rtlCol="0">
            <a:spAutoFit/>
          </a:bodyPr>
          <a:lstStyle>
            <a:defPPr>
              <a:defRPr lang="zh-CN"/>
            </a:defPPr>
            <a:lvl1pPr>
              <a:defRPr sz="2400" b="1">
                <a:solidFill>
                  <a:srgbClr val="267CA0"/>
                </a:solidFill>
                <a:latin typeface="包图粗黑体" panose="02000800000000000000" pitchFamily="2" charset="-122"/>
                <a:ea typeface="包图粗黑体" panose="02000800000000000000" pitchFamily="2" charset="-122"/>
              </a:defRPr>
            </a:lvl1pPr>
          </a:lstStyle>
          <a:p>
            <a:pPr algn="l"/>
            <a:r>
              <a:rPr lang="en-US" altLang="zh-CN" dirty="0">
                <a:latin typeface="Times New Roman" panose="02020603050405020304" charset="0"/>
                <a:cs typeface="Times New Roman" panose="02020603050405020304" charset="0"/>
                <a:sym typeface="+mn-lt"/>
              </a:rPr>
              <a:t>Reasonableness of Web Framework</a:t>
            </a:r>
            <a:endParaRPr lang="zh-CN" altLang="en-US" b="0" dirty="0">
              <a:latin typeface="+mn-lt"/>
              <a:ea typeface="+mn-ea"/>
              <a:cs typeface="+mn-ea"/>
              <a:sym typeface="+mn-lt"/>
            </a:endParaRPr>
          </a:p>
        </p:txBody>
      </p:sp>
      <p:sp>
        <p:nvSpPr>
          <p:cNvPr id="60" name="TextBox 59"/>
          <p:cNvSpPr txBox="1"/>
          <p:nvPr/>
        </p:nvSpPr>
        <p:spPr>
          <a:xfrm>
            <a:off x="285857" y="6714170"/>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95000"/>
                  </a:schemeClr>
                </a:solidFill>
                <a:effectLst/>
                <a:uLnTx/>
                <a:uFillTx/>
              </a:rPr>
              <a:t>PPT</a:t>
            </a:r>
            <a:r>
              <a:rPr kumimoji="0" lang="zh-CN" altLang="en-US" sz="100" b="0" i="0" u="none" strike="noStrike" kern="0" cap="none" spc="0" normalizeH="0" baseline="0" noProof="0" dirty="0" smtClean="0">
                <a:ln>
                  <a:noFill/>
                </a:ln>
                <a:solidFill>
                  <a:schemeClr val="bg1">
                    <a:lumMod val="95000"/>
                  </a:schemeClr>
                </a:solidFill>
                <a:effectLst/>
                <a:uLnTx/>
                <a:uFillTx/>
              </a:rPr>
              <a:t>模板 </a:t>
            </a:r>
            <a:r>
              <a:rPr kumimoji="0" lang="en-US" altLang="zh-CN" sz="100" b="0" i="0" u="none" strike="noStrike" kern="0" cap="none" spc="0" normalizeH="0" baseline="0" noProof="0" dirty="0" smtClean="0">
                <a:ln>
                  <a:noFill/>
                </a:ln>
                <a:solidFill>
                  <a:schemeClr val="bg1">
                    <a:lumMod val="95000"/>
                  </a:schemeClr>
                </a:solidFill>
                <a:effectLst/>
                <a:uLnTx/>
                <a:uFillTx/>
              </a:rPr>
              <a:t>http://www.1ppt.com/moban/</a:t>
            </a:r>
            <a:r>
              <a:rPr kumimoji="0" lang="zh-CN" altLang="en-US" sz="100" b="0" i="0" u="none" strike="noStrike" kern="0" cap="none" spc="0" normalizeH="0" baseline="0" noProof="0" dirty="0" smtClean="0">
                <a:ln>
                  <a:noFill/>
                </a:ln>
                <a:solidFill>
                  <a:schemeClr val="bg1">
                    <a:lumMod val="95000"/>
                  </a:schemeClr>
                </a:solidFill>
                <a:effectLst/>
                <a:uLnTx/>
                <a:uFillTx/>
              </a:rPr>
              <a:t> </a:t>
            </a:r>
            <a:endParaRPr kumimoji="0" lang="en-US" altLang="zh-CN" sz="100" b="0" i="0" u="none" strike="noStrike" kern="0" cap="none" spc="0" normalizeH="0" baseline="0" noProof="0" dirty="0" smtClean="0">
              <a:ln>
                <a:noFill/>
              </a:ln>
              <a:solidFill>
                <a:schemeClr val="bg1">
                  <a:lumMod val="95000"/>
                </a:schemeClr>
              </a:solidFill>
              <a:effectLst/>
              <a:uLnTx/>
              <a:uFillTx/>
            </a:endParaRPr>
          </a:p>
        </p:txBody>
      </p:sp>
      <p:sp>
        <p:nvSpPr>
          <p:cNvPr id="4" name="文本框 3"/>
          <p:cNvSpPr txBox="1"/>
          <p:nvPr>
            <p:custDataLst>
              <p:tags r:id="rId2"/>
            </p:custDataLst>
          </p:nvPr>
        </p:nvSpPr>
        <p:spPr>
          <a:xfrm>
            <a:off x="1774825" y="4385945"/>
            <a:ext cx="8971280" cy="922020"/>
          </a:xfrm>
          <a:prstGeom prst="rect">
            <a:avLst/>
          </a:prstGeom>
          <a:noFill/>
        </p:spPr>
        <p:txBody>
          <a:bodyPr wrap="square" rtlCol="0">
            <a:spAutoFit/>
          </a:bodyPr>
          <a:lstStyle/>
          <a:p>
            <a:pPr algn="l"/>
            <a:r>
              <a:rPr lang="en-US" altLang="zh-CN" b="1" spc="150" dirty="0">
                <a:solidFill>
                  <a:schemeClr val="tx1">
                    <a:lumMod val="50000"/>
                    <a:lumOff val="50000"/>
                  </a:schemeClr>
                </a:solidFill>
                <a:latin typeface="Times New Roman" panose="02020603050405020304" charset="0"/>
                <a:cs typeface="Times New Roman" panose="02020603050405020304" charset="0"/>
                <a:sym typeface="+mn-lt"/>
              </a:rPr>
              <a:t>Actix provides mature routing, middleware, and CORS management; the Tauri command layer reuses the same logic to avoid redundant implementation.</a:t>
            </a:r>
            <a:endParaRPr lang="en-US" altLang="zh-CN" b="1" spc="150" dirty="0">
              <a:solidFill>
                <a:schemeClr val="tx1">
                  <a:lumMod val="50000"/>
                  <a:lumOff val="50000"/>
                </a:schemeClr>
              </a:solidFill>
              <a:latin typeface="Times New Roman" panose="02020603050405020304" charset="0"/>
              <a:cs typeface="Times New Roman" panose="02020603050405020304" charset="0"/>
              <a:sym typeface="+mn-lt"/>
            </a:endParaRPr>
          </a:p>
        </p:txBody>
      </p:sp>
      <p:sp>
        <p:nvSpPr>
          <p:cNvPr id="8" name="Freeform 29"/>
          <p:cNvSpPr>
            <a:spLocks noChangeArrowheads="1"/>
          </p:cNvSpPr>
          <p:nvPr>
            <p:custDataLst>
              <p:tags r:id="rId3"/>
            </p:custDataLst>
          </p:nvPr>
        </p:nvSpPr>
        <p:spPr bwMode="auto">
          <a:xfrm>
            <a:off x="1105140" y="3355478"/>
            <a:ext cx="381196" cy="393298"/>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rgbClr val="509FA4"/>
          </a:solidFill>
          <a:ln>
            <a:noFill/>
          </a:ln>
          <a:effectLst/>
        </p:spPr>
        <p:txBody>
          <a:bodyPr wrap="none" lIns="34278" tIns="17139" rIns="34278" bIns="17139" anchor="ctr"/>
          <a:lstStyle/>
          <a:p>
            <a:endParaRPr lang="en-US" dirty="0">
              <a:solidFill>
                <a:schemeClr val="tx1">
                  <a:lumMod val="50000"/>
                  <a:lumOff val="50000"/>
                </a:schemeClr>
              </a:solidFill>
              <a:cs typeface="+mn-ea"/>
              <a:sym typeface="+mn-lt"/>
            </a:endParaRPr>
          </a:p>
        </p:txBody>
      </p:sp>
      <p:grpSp>
        <p:nvGrpSpPr>
          <p:cNvPr id="9" name="组合 8"/>
          <p:cNvGrpSpPr/>
          <p:nvPr>
            <p:custDataLst>
              <p:tags r:id="rId4"/>
            </p:custDataLst>
          </p:nvPr>
        </p:nvGrpSpPr>
        <p:grpSpPr>
          <a:xfrm>
            <a:off x="1124240" y="1596917"/>
            <a:ext cx="9801225" cy="1198880"/>
            <a:chOff x="6402506" y="5051288"/>
            <a:chExt cx="9801225" cy="1198880"/>
          </a:xfrm>
        </p:grpSpPr>
        <p:sp>
          <p:nvSpPr>
            <p:cNvPr id="10" name="Freeform 123"/>
            <p:cNvSpPr>
              <a:spLocks noChangeArrowheads="1"/>
            </p:cNvSpPr>
            <p:nvPr>
              <p:custDataLst>
                <p:tags r:id="rId5"/>
              </p:custDataLst>
            </p:nvPr>
          </p:nvSpPr>
          <p:spPr bwMode="auto">
            <a:xfrm>
              <a:off x="6402506" y="5369423"/>
              <a:ext cx="387246" cy="396322"/>
            </a:xfrm>
            <a:custGeom>
              <a:avLst/>
              <a:gdLst>
                <a:gd name="T0" fmla="*/ 123628 w 452"/>
                <a:gd name="T1" fmla="*/ 135490 h 462"/>
                <a:gd name="T2" fmla="*/ 123628 w 452"/>
                <a:gd name="T3" fmla="*/ 135490 h 462"/>
                <a:gd name="T4" fmla="*/ 195108 w 452"/>
                <a:gd name="T5" fmla="*/ 11703 h 462"/>
                <a:gd name="T6" fmla="*/ 195108 w 452"/>
                <a:gd name="T7" fmla="*/ 8102 h 462"/>
                <a:gd name="T8" fmla="*/ 191062 w 452"/>
                <a:gd name="T9" fmla="*/ 8102 h 462"/>
                <a:gd name="T10" fmla="*/ 71480 w 452"/>
                <a:gd name="T11" fmla="*/ 80124 h 462"/>
                <a:gd name="T12" fmla="*/ 4046 w 452"/>
                <a:gd name="T13" fmla="*/ 135490 h 462"/>
                <a:gd name="T14" fmla="*/ 15735 w 452"/>
                <a:gd name="T15" fmla="*/ 147644 h 462"/>
                <a:gd name="T16" fmla="*/ 39561 w 452"/>
                <a:gd name="T17" fmla="*/ 139542 h 462"/>
                <a:gd name="T18" fmla="*/ 67883 w 452"/>
                <a:gd name="T19" fmla="*/ 167450 h 462"/>
                <a:gd name="T20" fmla="*/ 59791 w 452"/>
                <a:gd name="T21" fmla="*/ 191307 h 462"/>
                <a:gd name="T22" fmla="*/ 67883 w 452"/>
                <a:gd name="T23" fmla="*/ 203461 h 462"/>
                <a:gd name="T24" fmla="*/ 123628 w 452"/>
                <a:gd name="T25" fmla="*/ 135490 h 462"/>
                <a:gd name="T26" fmla="*/ 135317 w 452"/>
                <a:gd name="T27" fmla="*/ 67520 h 462"/>
                <a:gd name="T28" fmla="*/ 135317 w 452"/>
                <a:gd name="T29" fmla="*/ 67520 h 462"/>
                <a:gd name="T30" fmla="*/ 135317 w 452"/>
                <a:gd name="T31" fmla="*/ 43663 h 462"/>
                <a:gd name="T32" fmla="*/ 159143 w 452"/>
                <a:gd name="T33" fmla="*/ 43663 h 462"/>
                <a:gd name="T34" fmla="*/ 159143 w 452"/>
                <a:gd name="T35" fmla="*/ 67520 h 462"/>
                <a:gd name="T36" fmla="*/ 135317 w 452"/>
                <a:gd name="T37" fmla="*/ 67520 h 4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52" h="462">
                  <a:moveTo>
                    <a:pt x="275" y="301"/>
                  </a:moveTo>
                  <a:lnTo>
                    <a:pt x="275" y="301"/>
                  </a:lnTo>
                  <a:cubicBezTo>
                    <a:pt x="275" y="301"/>
                    <a:pt x="451" y="169"/>
                    <a:pt x="434" y="26"/>
                  </a:cubicBezTo>
                  <a:lnTo>
                    <a:pt x="434" y="18"/>
                  </a:lnTo>
                  <a:cubicBezTo>
                    <a:pt x="425" y="18"/>
                    <a:pt x="425" y="18"/>
                    <a:pt x="425" y="18"/>
                  </a:cubicBezTo>
                  <a:cubicBezTo>
                    <a:pt x="284" y="0"/>
                    <a:pt x="159" y="178"/>
                    <a:pt x="159" y="178"/>
                  </a:cubicBezTo>
                  <a:cubicBezTo>
                    <a:pt x="53" y="159"/>
                    <a:pt x="62" y="186"/>
                    <a:pt x="9" y="301"/>
                  </a:cubicBezTo>
                  <a:cubicBezTo>
                    <a:pt x="0" y="328"/>
                    <a:pt x="18" y="328"/>
                    <a:pt x="35" y="328"/>
                  </a:cubicBezTo>
                  <a:cubicBezTo>
                    <a:pt x="53" y="319"/>
                    <a:pt x="88" y="310"/>
                    <a:pt x="88" y="310"/>
                  </a:cubicBezTo>
                  <a:cubicBezTo>
                    <a:pt x="151" y="372"/>
                    <a:pt x="151" y="372"/>
                    <a:pt x="151" y="372"/>
                  </a:cubicBezTo>
                  <a:cubicBezTo>
                    <a:pt x="151" y="372"/>
                    <a:pt x="141" y="407"/>
                    <a:pt x="133" y="425"/>
                  </a:cubicBezTo>
                  <a:cubicBezTo>
                    <a:pt x="124" y="443"/>
                    <a:pt x="133" y="461"/>
                    <a:pt x="151" y="452"/>
                  </a:cubicBezTo>
                  <a:cubicBezTo>
                    <a:pt x="266" y="398"/>
                    <a:pt x="292" y="407"/>
                    <a:pt x="275" y="301"/>
                  </a:cubicBezTo>
                  <a:close/>
                  <a:moveTo>
                    <a:pt x="301" y="150"/>
                  </a:moveTo>
                  <a:lnTo>
                    <a:pt x="301" y="150"/>
                  </a:lnTo>
                  <a:cubicBezTo>
                    <a:pt x="284" y="133"/>
                    <a:pt x="284" y="115"/>
                    <a:pt x="301" y="97"/>
                  </a:cubicBezTo>
                  <a:cubicBezTo>
                    <a:pt x="319" y="80"/>
                    <a:pt x="345" y="80"/>
                    <a:pt x="354" y="97"/>
                  </a:cubicBezTo>
                  <a:cubicBezTo>
                    <a:pt x="372" y="115"/>
                    <a:pt x="372" y="133"/>
                    <a:pt x="354" y="150"/>
                  </a:cubicBezTo>
                  <a:cubicBezTo>
                    <a:pt x="345" y="169"/>
                    <a:pt x="319" y="169"/>
                    <a:pt x="301" y="150"/>
                  </a:cubicBezTo>
                  <a:close/>
                </a:path>
              </a:pathLst>
            </a:custGeom>
            <a:solidFill>
              <a:srgbClr val="5BAAA4"/>
            </a:solidFill>
            <a:ln>
              <a:noFill/>
            </a:ln>
            <a:effectLst/>
          </p:spPr>
          <p:txBody>
            <a:bodyPr wrap="none" lIns="34278" tIns="17139" rIns="34278" bIns="17139" anchor="ctr"/>
            <a:lstStyle/>
            <a:p>
              <a:endParaRPr lang="en-US" dirty="0">
                <a:solidFill>
                  <a:schemeClr val="tx1">
                    <a:lumMod val="50000"/>
                    <a:lumOff val="50000"/>
                  </a:schemeClr>
                </a:solidFill>
                <a:cs typeface="+mn-ea"/>
                <a:sym typeface="+mn-lt"/>
              </a:endParaRPr>
            </a:p>
          </p:txBody>
        </p:sp>
        <p:sp>
          <p:nvSpPr>
            <p:cNvPr id="11" name="文本框 10"/>
            <p:cNvSpPr txBox="1"/>
            <p:nvPr>
              <p:custDataLst>
                <p:tags r:id="rId6"/>
              </p:custDataLst>
            </p:nvPr>
          </p:nvSpPr>
          <p:spPr>
            <a:xfrm>
              <a:off x="7053381" y="5051288"/>
              <a:ext cx="9150350" cy="1198880"/>
            </a:xfrm>
            <a:prstGeom prst="rect">
              <a:avLst/>
            </a:prstGeom>
            <a:noFill/>
          </p:spPr>
          <p:txBody>
            <a:bodyPr wrap="square" rtlCol="0">
              <a:spAutoFit/>
            </a:bodyPr>
            <a:lstStyle/>
            <a:p>
              <a:pPr algn="l"/>
              <a:r>
                <a:rPr lang="en-US" altLang="zh-CN" b="1" spc="150" dirty="0">
                  <a:solidFill>
                    <a:schemeClr val="tx1">
                      <a:lumMod val="50000"/>
                      <a:lumOff val="50000"/>
                    </a:schemeClr>
                  </a:solidFill>
                  <a:latin typeface="Times New Roman" panose="02020603050405020304" charset="0"/>
                  <a:cs typeface="Times New Roman" panose="02020603050405020304" charset="0"/>
                  <a:sym typeface="+mn-lt"/>
                </a:rPr>
                <a:t>Tauri Sheall: Provides a cross-platform desktop container with a built-in command system that exposes Rust backend capabilities to the frontend via invoke. It also allows direct access to local files and SQLite, delivering an optimal user experience for offline use cases such as offline expense tracking.</a:t>
              </a:r>
              <a:endParaRPr lang="en-US" altLang="zh-CN" b="1" spc="150" dirty="0">
                <a:solidFill>
                  <a:schemeClr val="tx1">
                    <a:lumMod val="50000"/>
                    <a:lumOff val="50000"/>
                  </a:schemeClr>
                </a:solidFill>
                <a:latin typeface="Times New Roman" panose="02020603050405020304" charset="0"/>
                <a:cs typeface="Times New Roman" panose="02020603050405020304" charset="0"/>
                <a:sym typeface="+mn-lt"/>
              </a:endParaRPr>
            </a:p>
          </p:txBody>
        </p:sp>
      </p:grpSp>
      <p:sp>
        <p:nvSpPr>
          <p:cNvPr id="12" name="Freeform 100"/>
          <p:cNvSpPr>
            <a:spLocks noChangeArrowheads="1"/>
          </p:cNvSpPr>
          <p:nvPr>
            <p:custDataLst>
              <p:tags r:id="rId7"/>
            </p:custDataLst>
          </p:nvPr>
        </p:nvSpPr>
        <p:spPr bwMode="auto">
          <a:xfrm>
            <a:off x="1104900" y="4679950"/>
            <a:ext cx="360045" cy="356870"/>
          </a:xfrm>
          <a:custGeom>
            <a:avLst/>
            <a:gdLst>
              <a:gd name="T0" fmla="*/ 172604 w 417"/>
              <a:gd name="T1" fmla="*/ 91192 h 417"/>
              <a:gd name="T2" fmla="*/ 172604 w 417"/>
              <a:gd name="T3" fmla="*/ 91192 h 417"/>
              <a:gd name="T4" fmla="*/ 188460 w 417"/>
              <a:gd name="T5" fmla="*/ 63340 h 417"/>
              <a:gd name="T6" fmla="*/ 184836 w 417"/>
              <a:gd name="T7" fmla="*/ 47617 h 417"/>
              <a:gd name="T8" fmla="*/ 152671 w 417"/>
              <a:gd name="T9" fmla="*/ 35488 h 417"/>
              <a:gd name="T10" fmla="*/ 144516 w 417"/>
              <a:gd name="T11" fmla="*/ 7637 h 417"/>
              <a:gd name="T12" fmla="*/ 124583 w 417"/>
              <a:gd name="T13" fmla="*/ 0 h 417"/>
              <a:gd name="T14" fmla="*/ 96495 w 417"/>
              <a:gd name="T15" fmla="*/ 15723 h 417"/>
              <a:gd name="T16" fmla="*/ 68407 w 417"/>
              <a:gd name="T17" fmla="*/ 0 h 417"/>
              <a:gd name="T18" fmla="*/ 48474 w 417"/>
              <a:gd name="T19" fmla="*/ 7637 h 417"/>
              <a:gd name="T20" fmla="*/ 40320 w 417"/>
              <a:gd name="T21" fmla="*/ 35488 h 417"/>
              <a:gd name="T22" fmla="*/ 8155 w 417"/>
              <a:gd name="T23" fmla="*/ 47617 h 417"/>
              <a:gd name="T24" fmla="*/ 0 w 417"/>
              <a:gd name="T25" fmla="*/ 63340 h 417"/>
              <a:gd name="T26" fmla="*/ 19933 w 417"/>
              <a:gd name="T27" fmla="*/ 91192 h 417"/>
              <a:gd name="T28" fmla="*/ 0 w 417"/>
              <a:gd name="T29" fmla="*/ 123536 h 417"/>
              <a:gd name="T30" fmla="*/ 8155 w 417"/>
              <a:gd name="T31" fmla="*/ 139258 h 417"/>
              <a:gd name="T32" fmla="*/ 40320 w 417"/>
              <a:gd name="T33" fmla="*/ 147344 h 417"/>
              <a:gd name="T34" fmla="*/ 48474 w 417"/>
              <a:gd name="T35" fmla="*/ 178790 h 417"/>
              <a:gd name="T36" fmla="*/ 68407 w 417"/>
              <a:gd name="T37" fmla="*/ 186876 h 417"/>
              <a:gd name="T38" fmla="*/ 96495 w 417"/>
              <a:gd name="T39" fmla="*/ 167110 h 417"/>
              <a:gd name="T40" fmla="*/ 124583 w 417"/>
              <a:gd name="T41" fmla="*/ 186876 h 417"/>
              <a:gd name="T42" fmla="*/ 144516 w 417"/>
              <a:gd name="T43" fmla="*/ 178790 h 417"/>
              <a:gd name="T44" fmla="*/ 152671 w 417"/>
              <a:gd name="T45" fmla="*/ 147344 h 417"/>
              <a:gd name="T46" fmla="*/ 184836 w 417"/>
              <a:gd name="T47" fmla="*/ 139258 h 417"/>
              <a:gd name="T48" fmla="*/ 188460 w 417"/>
              <a:gd name="T49" fmla="*/ 119043 h 417"/>
              <a:gd name="T50" fmla="*/ 172604 w 417"/>
              <a:gd name="T51" fmla="*/ 91192 h 417"/>
              <a:gd name="T52" fmla="*/ 96495 w 417"/>
              <a:gd name="T53" fmla="*/ 131172 h 417"/>
              <a:gd name="T54" fmla="*/ 96495 w 417"/>
              <a:gd name="T55" fmla="*/ 131172 h 417"/>
              <a:gd name="T56" fmla="*/ 56629 w 417"/>
              <a:gd name="T57" fmla="*/ 91192 h 417"/>
              <a:gd name="T58" fmla="*/ 96495 w 417"/>
              <a:gd name="T59" fmla="*/ 51660 h 417"/>
              <a:gd name="T60" fmla="*/ 136362 w 417"/>
              <a:gd name="T61" fmla="*/ 91192 h 417"/>
              <a:gd name="T62" fmla="*/ 96495 w 417"/>
              <a:gd name="T63" fmla="*/ 131172 h 4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17" h="417">
                <a:moveTo>
                  <a:pt x="381" y="203"/>
                </a:moveTo>
                <a:lnTo>
                  <a:pt x="381" y="203"/>
                </a:lnTo>
                <a:cubicBezTo>
                  <a:pt x="381" y="177"/>
                  <a:pt x="399" y="159"/>
                  <a:pt x="416" y="141"/>
                </a:cubicBezTo>
                <a:cubicBezTo>
                  <a:pt x="416" y="132"/>
                  <a:pt x="408" y="115"/>
                  <a:pt x="408" y="106"/>
                </a:cubicBezTo>
                <a:cubicBezTo>
                  <a:pt x="372" y="115"/>
                  <a:pt x="354" y="97"/>
                  <a:pt x="337" y="79"/>
                </a:cubicBezTo>
                <a:cubicBezTo>
                  <a:pt x="319" y="62"/>
                  <a:pt x="310" y="44"/>
                  <a:pt x="319" y="17"/>
                </a:cubicBezTo>
                <a:cubicBezTo>
                  <a:pt x="310" y="9"/>
                  <a:pt x="293" y="0"/>
                  <a:pt x="275" y="0"/>
                </a:cubicBezTo>
                <a:cubicBezTo>
                  <a:pt x="266" y="17"/>
                  <a:pt x="240" y="35"/>
                  <a:pt x="213" y="35"/>
                </a:cubicBezTo>
                <a:cubicBezTo>
                  <a:pt x="187" y="35"/>
                  <a:pt x="160" y="17"/>
                  <a:pt x="151" y="0"/>
                </a:cubicBezTo>
                <a:cubicBezTo>
                  <a:pt x="133" y="0"/>
                  <a:pt x="116" y="9"/>
                  <a:pt x="107" y="17"/>
                </a:cubicBezTo>
                <a:cubicBezTo>
                  <a:pt x="116" y="44"/>
                  <a:pt x="107" y="62"/>
                  <a:pt x="89" y="79"/>
                </a:cubicBezTo>
                <a:cubicBezTo>
                  <a:pt x="72" y="97"/>
                  <a:pt x="44" y="115"/>
                  <a:pt x="18" y="106"/>
                </a:cubicBezTo>
                <a:cubicBezTo>
                  <a:pt x="18" y="115"/>
                  <a:pt x="9" y="132"/>
                  <a:pt x="0" y="141"/>
                </a:cubicBezTo>
                <a:cubicBezTo>
                  <a:pt x="27" y="159"/>
                  <a:pt x="44" y="177"/>
                  <a:pt x="44" y="203"/>
                </a:cubicBezTo>
                <a:cubicBezTo>
                  <a:pt x="44" y="230"/>
                  <a:pt x="27" y="256"/>
                  <a:pt x="0" y="275"/>
                </a:cubicBezTo>
                <a:cubicBezTo>
                  <a:pt x="9" y="283"/>
                  <a:pt x="18" y="301"/>
                  <a:pt x="18" y="310"/>
                </a:cubicBezTo>
                <a:cubicBezTo>
                  <a:pt x="44" y="310"/>
                  <a:pt x="72" y="310"/>
                  <a:pt x="89" y="328"/>
                </a:cubicBezTo>
                <a:cubicBezTo>
                  <a:pt x="107" y="345"/>
                  <a:pt x="116" y="372"/>
                  <a:pt x="107" y="398"/>
                </a:cubicBezTo>
                <a:cubicBezTo>
                  <a:pt x="116" y="407"/>
                  <a:pt x="133" y="407"/>
                  <a:pt x="151" y="416"/>
                </a:cubicBezTo>
                <a:cubicBezTo>
                  <a:pt x="160" y="389"/>
                  <a:pt x="187" y="372"/>
                  <a:pt x="213" y="372"/>
                </a:cubicBezTo>
                <a:cubicBezTo>
                  <a:pt x="240" y="372"/>
                  <a:pt x="266" y="389"/>
                  <a:pt x="275" y="416"/>
                </a:cubicBezTo>
                <a:cubicBezTo>
                  <a:pt x="293" y="407"/>
                  <a:pt x="310" y="407"/>
                  <a:pt x="319" y="398"/>
                </a:cubicBezTo>
                <a:cubicBezTo>
                  <a:pt x="310" y="372"/>
                  <a:pt x="319" y="345"/>
                  <a:pt x="337" y="328"/>
                </a:cubicBezTo>
                <a:cubicBezTo>
                  <a:pt x="354" y="310"/>
                  <a:pt x="372" y="301"/>
                  <a:pt x="408" y="310"/>
                </a:cubicBezTo>
                <a:cubicBezTo>
                  <a:pt x="408" y="292"/>
                  <a:pt x="416" y="283"/>
                  <a:pt x="416" y="265"/>
                </a:cubicBezTo>
                <a:cubicBezTo>
                  <a:pt x="399" y="256"/>
                  <a:pt x="381" y="230"/>
                  <a:pt x="381" y="203"/>
                </a:cubicBezTo>
                <a:close/>
                <a:moveTo>
                  <a:pt x="213" y="292"/>
                </a:moveTo>
                <a:lnTo>
                  <a:pt x="213" y="292"/>
                </a:lnTo>
                <a:cubicBezTo>
                  <a:pt x="160" y="292"/>
                  <a:pt x="125" y="256"/>
                  <a:pt x="125" y="203"/>
                </a:cubicBezTo>
                <a:cubicBezTo>
                  <a:pt x="125" y="159"/>
                  <a:pt x="160" y="115"/>
                  <a:pt x="213" y="115"/>
                </a:cubicBezTo>
                <a:cubicBezTo>
                  <a:pt x="266" y="115"/>
                  <a:pt x="301" y="159"/>
                  <a:pt x="301" y="203"/>
                </a:cubicBezTo>
                <a:cubicBezTo>
                  <a:pt x="301" y="256"/>
                  <a:pt x="266" y="292"/>
                  <a:pt x="213" y="292"/>
                </a:cubicBezTo>
                <a:close/>
              </a:path>
            </a:pathLst>
          </a:custGeom>
          <a:solidFill>
            <a:srgbClr val="267CA0"/>
          </a:solidFill>
          <a:ln>
            <a:noFill/>
          </a:ln>
          <a:effectLst/>
        </p:spPr>
        <p:txBody>
          <a:bodyPr wrap="none" lIns="34278" tIns="17139" rIns="34278" bIns="17139" anchor="ctr"/>
          <a:lstStyle/>
          <a:p>
            <a:endParaRPr lang="en-US" dirty="0">
              <a:solidFill>
                <a:schemeClr val="tx1">
                  <a:lumMod val="50000"/>
                  <a:lumOff val="50000"/>
                </a:schemeClr>
              </a:solidFill>
              <a:cs typeface="+mn-ea"/>
              <a:sym typeface="+mn-lt"/>
            </a:endParaRPr>
          </a:p>
        </p:txBody>
      </p:sp>
      <p:pic>
        <p:nvPicPr>
          <p:cNvPr id="3" name="图片 2" descr="1075762990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0525" y="93980"/>
            <a:ext cx="699770" cy="6997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文本框 126"/>
          <p:cNvSpPr txBox="1"/>
          <p:nvPr>
            <p:custDataLst>
              <p:tags r:id="rId1"/>
            </p:custDataLst>
          </p:nvPr>
        </p:nvSpPr>
        <p:spPr>
          <a:xfrm>
            <a:off x="136525" y="4429760"/>
            <a:ext cx="3516630" cy="1641475"/>
          </a:xfrm>
          <a:prstGeom prst="rect">
            <a:avLst/>
          </a:prstGeom>
          <a:noFill/>
        </p:spPr>
        <p:txBody>
          <a:bodyPr wrap="square" rtlCol="0">
            <a:spAutoFit/>
          </a:bodyPr>
          <a:lstStyle/>
          <a:p>
            <a:pPr>
              <a:lnSpc>
                <a:spcPct val="120000"/>
              </a:lnSpc>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The frontend consolidates transactions, accounts, filter results, and chart instances into a unified state object. All UI rendering functions read from this single source, resolving inconsistencies caused by scattered state management.</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p:txBody>
      </p:sp>
      <p:sp>
        <p:nvSpPr>
          <p:cNvPr id="128" name="文本框 127"/>
          <p:cNvSpPr txBox="1"/>
          <p:nvPr>
            <p:custDataLst>
              <p:tags r:id="rId2"/>
            </p:custDataLst>
          </p:nvPr>
        </p:nvSpPr>
        <p:spPr>
          <a:xfrm>
            <a:off x="135890" y="4114800"/>
            <a:ext cx="3613785" cy="337185"/>
          </a:xfrm>
          <a:prstGeom prst="rect">
            <a:avLst/>
          </a:prstGeom>
          <a:noFill/>
        </p:spPr>
        <p:txBody>
          <a:bodyPr wrap="square" rtlCol="0">
            <a:spAutoFit/>
          </a:bodyPr>
          <a:lstStyle/>
          <a:p>
            <a:r>
              <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rPr>
              <a:t>Single Source of Truth for State</a:t>
            </a:r>
            <a:endPar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endParaRPr>
          </a:p>
        </p:txBody>
      </p:sp>
      <p:sp>
        <p:nvSpPr>
          <p:cNvPr id="139" name="文本框 138"/>
          <p:cNvSpPr txBox="1"/>
          <p:nvPr>
            <p:custDataLst>
              <p:tags r:id="rId3"/>
            </p:custDataLst>
          </p:nvPr>
        </p:nvSpPr>
        <p:spPr>
          <a:xfrm>
            <a:off x="136525" y="2538095"/>
            <a:ext cx="3984625" cy="1124585"/>
          </a:xfrm>
          <a:prstGeom prst="rect">
            <a:avLst/>
          </a:prstGeom>
          <a:noFill/>
        </p:spPr>
        <p:txBody>
          <a:bodyPr wrap="square" rtlCol="0">
            <a:spAutoFit/>
          </a:bodyPr>
          <a:lstStyle/>
          <a:p>
            <a:pPr algn="l">
              <a:lnSpc>
                <a:spcPct val="120000"/>
              </a:lnSpc>
              <a:buClrTx/>
              <a:buSzTx/>
              <a:buFontTx/>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Every database operation (CRUD, stats, trends) is routed through Tauri’s invoke—no direct REST calls—improving security and maintainability.</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p:txBody>
      </p:sp>
      <p:sp>
        <p:nvSpPr>
          <p:cNvPr id="140" name="文本框 139"/>
          <p:cNvSpPr txBox="1"/>
          <p:nvPr>
            <p:custDataLst>
              <p:tags r:id="rId4"/>
            </p:custDataLst>
          </p:nvPr>
        </p:nvSpPr>
        <p:spPr>
          <a:xfrm>
            <a:off x="539750" y="2231390"/>
            <a:ext cx="3350260" cy="337185"/>
          </a:xfrm>
          <a:prstGeom prst="rect">
            <a:avLst/>
          </a:prstGeom>
          <a:noFill/>
        </p:spPr>
        <p:txBody>
          <a:bodyPr wrap="square" rtlCol="0">
            <a:spAutoFit/>
          </a:bodyPr>
          <a:lstStyle/>
          <a:p>
            <a:r>
              <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rPr>
              <a:t>Encapsulated invoke Calls</a:t>
            </a:r>
            <a:endPar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endParaRPr>
          </a:p>
        </p:txBody>
      </p:sp>
      <p:grpSp>
        <p:nvGrpSpPr>
          <p:cNvPr id="25" name="Group 98"/>
          <p:cNvGrpSpPr/>
          <p:nvPr>
            <p:custDataLst>
              <p:tags r:id="rId5"/>
            </p:custDataLst>
          </p:nvPr>
        </p:nvGrpSpPr>
        <p:grpSpPr>
          <a:xfrm>
            <a:off x="5287036" y="3418190"/>
            <a:ext cx="1470456" cy="3455851"/>
            <a:chOff x="8211059" y="3333470"/>
            <a:chExt cx="1495699" cy="3514092"/>
          </a:xfrm>
        </p:grpSpPr>
        <p:sp>
          <p:nvSpPr>
            <p:cNvPr id="61" name="Oval 5"/>
            <p:cNvSpPr>
              <a:spLocks noChangeArrowheads="1"/>
            </p:cNvSpPr>
            <p:nvPr>
              <p:custDataLst>
                <p:tags r:id="rId6"/>
              </p:custDataLst>
            </p:nvPr>
          </p:nvSpPr>
          <p:spPr bwMode="auto">
            <a:xfrm>
              <a:off x="8311636" y="3445476"/>
              <a:ext cx="1247305" cy="1248066"/>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p>
              <a:endParaRPr lang="en-US">
                <a:cs typeface="+mn-ea"/>
                <a:sym typeface="+mn-lt"/>
              </a:endParaRPr>
            </a:p>
          </p:txBody>
        </p:sp>
        <p:sp>
          <p:nvSpPr>
            <p:cNvPr id="62" name="Freeform 9"/>
            <p:cNvSpPr>
              <a:spLocks noEditPoints="1"/>
            </p:cNvSpPr>
            <p:nvPr>
              <p:custDataLst>
                <p:tags r:id="rId7"/>
              </p:custDataLst>
            </p:nvPr>
          </p:nvSpPr>
          <p:spPr bwMode="auto">
            <a:xfrm>
              <a:off x="8211059" y="3333470"/>
              <a:ext cx="1449220" cy="1621420"/>
            </a:xfrm>
            <a:custGeom>
              <a:avLst/>
              <a:gdLst>
                <a:gd name="T0" fmla="*/ 804 w 804"/>
                <a:gd name="T1" fmla="*/ 402 h 900"/>
                <a:gd name="T2" fmla="*/ 402 w 804"/>
                <a:gd name="T3" fmla="*/ 0 h 900"/>
                <a:gd name="T4" fmla="*/ 0 w 804"/>
                <a:gd name="T5" fmla="*/ 402 h 900"/>
                <a:gd name="T6" fmla="*/ 333 w 804"/>
                <a:gd name="T7" fmla="*/ 798 h 900"/>
                <a:gd name="T8" fmla="*/ 333 w 804"/>
                <a:gd name="T9" fmla="*/ 900 h 900"/>
                <a:gd name="T10" fmla="*/ 471 w 804"/>
                <a:gd name="T11" fmla="*/ 900 h 900"/>
                <a:gd name="T12" fmla="*/ 471 w 804"/>
                <a:gd name="T13" fmla="*/ 798 h 900"/>
                <a:gd name="T14" fmla="*/ 804 w 804"/>
                <a:gd name="T15" fmla="*/ 402 h 900"/>
                <a:gd name="T16" fmla="*/ 402 w 804"/>
                <a:gd name="T17" fmla="*/ 704 h 900"/>
                <a:gd name="T18" fmla="*/ 100 w 804"/>
                <a:gd name="T19" fmla="*/ 402 h 900"/>
                <a:gd name="T20" fmla="*/ 402 w 804"/>
                <a:gd name="T21" fmla="*/ 100 h 900"/>
                <a:gd name="T22" fmla="*/ 704 w 804"/>
                <a:gd name="T23" fmla="*/ 402 h 900"/>
                <a:gd name="T24" fmla="*/ 402 w 804"/>
                <a:gd name="T25" fmla="*/ 704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4" h="900">
                  <a:moveTo>
                    <a:pt x="804" y="402"/>
                  </a:moveTo>
                  <a:cubicBezTo>
                    <a:pt x="804" y="180"/>
                    <a:pt x="624" y="0"/>
                    <a:pt x="402" y="0"/>
                  </a:cubicBezTo>
                  <a:cubicBezTo>
                    <a:pt x="180" y="0"/>
                    <a:pt x="0" y="180"/>
                    <a:pt x="0" y="402"/>
                  </a:cubicBezTo>
                  <a:cubicBezTo>
                    <a:pt x="0" y="600"/>
                    <a:pt x="144" y="765"/>
                    <a:pt x="333" y="798"/>
                  </a:cubicBezTo>
                  <a:cubicBezTo>
                    <a:pt x="333" y="900"/>
                    <a:pt x="333" y="900"/>
                    <a:pt x="333" y="900"/>
                  </a:cubicBezTo>
                  <a:cubicBezTo>
                    <a:pt x="471" y="900"/>
                    <a:pt x="471" y="900"/>
                    <a:pt x="471" y="900"/>
                  </a:cubicBezTo>
                  <a:cubicBezTo>
                    <a:pt x="471" y="798"/>
                    <a:pt x="471" y="798"/>
                    <a:pt x="471" y="798"/>
                  </a:cubicBezTo>
                  <a:cubicBezTo>
                    <a:pt x="660" y="765"/>
                    <a:pt x="804" y="600"/>
                    <a:pt x="804" y="402"/>
                  </a:cubicBezTo>
                  <a:close/>
                  <a:moveTo>
                    <a:pt x="402" y="704"/>
                  </a:moveTo>
                  <a:cubicBezTo>
                    <a:pt x="235" y="704"/>
                    <a:pt x="100" y="569"/>
                    <a:pt x="100" y="402"/>
                  </a:cubicBezTo>
                  <a:cubicBezTo>
                    <a:pt x="100" y="235"/>
                    <a:pt x="235" y="100"/>
                    <a:pt x="402" y="100"/>
                  </a:cubicBezTo>
                  <a:cubicBezTo>
                    <a:pt x="569" y="100"/>
                    <a:pt x="704" y="235"/>
                    <a:pt x="704" y="402"/>
                  </a:cubicBezTo>
                  <a:cubicBezTo>
                    <a:pt x="704" y="569"/>
                    <a:pt x="569" y="704"/>
                    <a:pt x="402" y="704"/>
                  </a:cubicBezTo>
                  <a:close/>
                </a:path>
              </a:pathLst>
            </a:custGeom>
            <a:solidFill>
              <a:srgbClr val="5BAAA4"/>
            </a:solidFill>
            <a:ln>
              <a:noFill/>
            </a:ln>
          </p:spPr>
          <p:txBody>
            <a:bodyPr vert="horz" wrap="square" lIns="91440" tIns="45720" rIns="91440" bIns="45720" numCol="1" anchor="t" anchorCtr="0" compatLnSpc="1"/>
            <a:lstStyle/>
            <a:p>
              <a:endParaRPr lang="en-US">
                <a:cs typeface="+mn-ea"/>
                <a:sym typeface="+mn-lt"/>
              </a:endParaRPr>
            </a:p>
          </p:txBody>
        </p:sp>
        <p:sp>
          <p:nvSpPr>
            <p:cNvPr id="63" name="Rectangle 10"/>
            <p:cNvSpPr>
              <a:spLocks noChangeArrowheads="1"/>
            </p:cNvSpPr>
            <p:nvPr/>
          </p:nvSpPr>
          <p:spPr bwMode="auto">
            <a:xfrm>
              <a:off x="8780233" y="5629212"/>
              <a:ext cx="668988" cy="998148"/>
            </a:xfrm>
            <a:prstGeom prst="rect">
              <a:avLst/>
            </a:prstGeom>
            <a:solidFill>
              <a:srgbClr val="F1ACA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sp>
          <p:nvSpPr>
            <p:cNvPr id="64" name="Rectangle 11"/>
            <p:cNvSpPr>
              <a:spLocks noChangeArrowheads="1"/>
            </p:cNvSpPr>
            <p:nvPr/>
          </p:nvSpPr>
          <p:spPr bwMode="auto">
            <a:xfrm>
              <a:off x="8780233" y="5629212"/>
              <a:ext cx="668988" cy="998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sp>
          <p:nvSpPr>
            <p:cNvPr id="65" name="Rectangle 12"/>
            <p:cNvSpPr>
              <a:spLocks noChangeArrowheads="1"/>
            </p:cNvSpPr>
            <p:nvPr/>
          </p:nvSpPr>
          <p:spPr bwMode="auto">
            <a:xfrm>
              <a:off x="8470883" y="6174765"/>
              <a:ext cx="970718" cy="672797"/>
            </a:xfrm>
            <a:prstGeom prst="rect">
              <a:avLst/>
            </a:prstGeom>
            <a:solidFill>
              <a:srgbClr val="FDCF9D"/>
            </a:solidFill>
            <a:ln>
              <a:noFill/>
            </a:ln>
          </p:spPr>
          <p:txBody>
            <a:bodyPr vert="horz" wrap="square" lIns="91440" tIns="45720" rIns="91440" bIns="45720" numCol="1" anchor="t" anchorCtr="0" compatLnSpc="1"/>
            <a:lstStyle/>
            <a:p>
              <a:endParaRPr lang="en-US">
                <a:cs typeface="+mn-ea"/>
                <a:sym typeface="+mn-lt"/>
              </a:endParaRPr>
            </a:p>
          </p:txBody>
        </p:sp>
        <p:sp>
          <p:nvSpPr>
            <p:cNvPr id="66" name="Rectangle 13"/>
            <p:cNvSpPr>
              <a:spLocks noChangeArrowheads="1"/>
            </p:cNvSpPr>
            <p:nvPr/>
          </p:nvSpPr>
          <p:spPr bwMode="auto">
            <a:xfrm>
              <a:off x="8470883" y="6174765"/>
              <a:ext cx="970718" cy="672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sp>
          <p:nvSpPr>
            <p:cNvPr id="67" name="Freeform 14"/>
            <p:cNvSpPr/>
            <p:nvPr/>
          </p:nvSpPr>
          <p:spPr bwMode="auto">
            <a:xfrm>
              <a:off x="8221727" y="5102707"/>
              <a:ext cx="1227494" cy="1168062"/>
            </a:xfrm>
            <a:custGeom>
              <a:avLst/>
              <a:gdLst>
                <a:gd name="T0" fmla="*/ 0 w 681"/>
                <a:gd name="T1" fmla="*/ 110 h 648"/>
                <a:gd name="T2" fmla="*/ 109 w 681"/>
                <a:gd name="T3" fmla="*/ 0 h 648"/>
                <a:gd name="T4" fmla="*/ 571 w 681"/>
                <a:gd name="T5" fmla="*/ 0 h 648"/>
                <a:gd name="T6" fmla="*/ 681 w 681"/>
                <a:gd name="T7" fmla="*/ 110 h 648"/>
                <a:gd name="T8" fmla="*/ 681 w 681"/>
                <a:gd name="T9" fmla="*/ 538 h 648"/>
                <a:gd name="T10" fmla="*/ 571 w 681"/>
                <a:gd name="T11" fmla="*/ 648 h 648"/>
                <a:gd name="T12" fmla="*/ 109 w 681"/>
                <a:gd name="T13" fmla="*/ 648 h 648"/>
                <a:gd name="T14" fmla="*/ 0 w 681"/>
                <a:gd name="T15" fmla="*/ 538 h 648"/>
                <a:gd name="T16" fmla="*/ 0 w 681"/>
                <a:gd name="T17" fmla="*/ 110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1" h="648">
                  <a:moveTo>
                    <a:pt x="0" y="110"/>
                  </a:moveTo>
                  <a:cubicBezTo>
                    <a:pt x="0" y="49"/>
                    <a:pt x="49" y="0"/>
                    <a:pt x="109" y="0"/>
                  </a:cubicBezTo>
                  <a:cubicBezTo>
                    <a:pt x="571" y="0"/>
                    <a:pt x="571" y="0"/>
                    <a:pt x="571" y="0"/>
                  </a:cubicBezTo>
                  <a:cubicBezTo>
                    <a:pt x="632" y="0"/>
                    <a:pt x="681" y="49"/>
                    <a:pt x="681" y="110"/>
                  </a:cubicBezTo>
                  <a:cubicBezTo>
                    <a:pt x="681" y="538"/>
                    <a:pt x="681" y="538"/>
                    <a:pt x="681" y="538"/>
                  </a:cubicBezTo>
                  <a:cubicBezTo>
                    <a:pt x="681" y="598"/>
                    <a:pt x="632" y="648"/>
                    <a:pt x="571" y="648"/>
                  </a:cubicBezTo>
                  <a:cubicBezTo>
                    <a:pt x="109" y="648"/>
                    <a:pt x="109" y="648"/>
                    <a:pt x="109" y="648"/>
                  </a:cubicBezTo>
                  <a:cubicBezTo>
                    <a:pt x="49" y="648"/>
                    <a:pt x="0" y="598"/>
                    <a:pt x="0" y="538"/>
                  </a:cubicBezTo>
                  <a:cubicBezTo>
                    <a:pt x="0" y="110"/>
                    <a:pt x="0" y="110"/>
                    <a:pt x="0" y="110"/>
                  </a:cubicBezTo>
                </a:path>
              </a:pathLst>
            </a:custGeom>
            <a:solidFill>
              <a:srgbClr val="FDCF9D"/>
            </a:solidFill>
            <a:ln>
              <a:noFill/>
            </a:ln>
          </p:spPr>
          <p:txBody>
            <a:bodyPr vert="horz" wrap="square" lIns="91440" tIns="45720" rIns="91440" bIns="45720" numCol="1" anchor="t" anchorCtr="0" compatLnSpc="1"/>
            <a:lstStyle/>
            <a:p>
              <a:endParaRPr lang="en-US">
                <a:cs typeface="+mn-ea"/>
                <a:sym typeface="+mn-lt"/>
              </a:endParaRPr>
            </a:p>
          </p:txBody>
        </p:sp>
        <p:sp>
          <p:nvSpPr>
            <p:cNvPr id="68" name="Rectangle 15"/>
            <p:cNvSpPr>
              <a:spLocks noChangeArrowheads="1"/>
            </p:cNvSpPr>
            <p:nvPr/>
          </p:nvSpPr>
          <p:spPr bwMode="auto">
            <a:xfrm>
              <a:off x="8762708" y="4954890"/>
              <a:ext cx="371067" cy="1053009"/>
            </a:xfrm>
            <a:prstGeom prst="rect">
              <a:avLst/>
            </a:prstGeom>
            <a:solidFill>
              <a:srgbClr val="267CA0"/>
            </a:solidFill>
            <a:ln>
              <a:noFill/>
            </a:ln>
          </p:spPr>
          <p:txBody>
            <a:bodyPr vert="horz" wrap="square" lIns="91440" tIns="45720" rIns="91440" bIns="45720" numCol="1" anchor="t" anchorCtr="0" compatLnSpc="1"/>
            <a:lstStyle/>
            <a:p>
              <a:endParaRPr lang="en-US">
                <a:cs typeface="+mn-ea"/>
                <a:sym typeface="+mn-lt"/>
              </a:endParaRPr>
            </a:p>
          </p:txBody>
        </p:sp>
        <p:sp>
          <p:nvSpPr>
            <p:cNvPr id="69" name="Rectangle 16"/>
            <p:cNvSpPr>
              <a:spLocks noChangeArrowheads="1"/>
            </p:cNvSpPr>
            <p:nvPr/>
          </p:nvSpPr>
          <p:spPr bwMode="auto">
            <a:xfrm>
              <a:off x="8762708" y="4954890"/>
              <a:ext cx="371067" cy="1053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sp>
          <p:nvSpPr>
            <p:cNvPr id="70" name="Freeform 17"/>
            <p:cNvSpPr/>
            <p:nvPr/>
          </p:nvSpPr>
          <p:spPr bwMode="auto">
            <a:xfrm>
              <a:off x="8854142" y="4858123"/>
              <a:ext cx="793185" cy="491454"/>
            </a:xfrm>
            <a:custGeom>
              <a:avLst/>
              <a:gdLst>
                <a:gd name="T0" fmla="*/ 425 w 440"/>
                <a:gd name="T1" fmla="*/ 67 h 273"/>
                <a:gd name="T2" fmla="*/ 372 w 440"/>
                <a:gd name="T3" fmla="*/ 174 h 273"/>
                <a:gd name="T4" fmla="*/ 121 w 440"/>
                <a:gd name="T5" fmla="*/ 258 h 273"/>
                <a:gd name="T6" fmla="*/ 15 w 440"/>
                <a:gd name="T7" fmla="*/ 205 h 273"/>
                <a:gd name="T8" fmla="*/ 68 w 440"/>
                <a:gd name="T9" fmla="*/ 98 h 273"/>
                <a:gd name="T10" fmla="*/ 319 w 440"/>
                <a:gd name="T11" fmla="*/ 14 h 273"/>
                <a:gd name="T12" fmla="*/ 425 w 440"/>
                <a:gd name="T13" fmla="*/ 67 h 273"/>
              </a:gdLst>
              <a:ahLst/>
              <a:cxnLst>
                <a:cxn ang="0">
                  <a:pos x="T0" y="T1"/>
                </a:cxn>
                <a:cxn ang="0">
                  <a:pos x="T2" y="T3"/>
                </a:cxn>
                <a:cxn ang="0">
                  <a:pos x="T4" y="T5"/>
                </a:cxn>
                <a:cxn ang="0">
                  <a:pos x="T6" y="T7"/>
                </a:cxn>
                <a:cxn ang="0">
                  <a:pos x="T8" y="T9"/>
                </a:cxn>
                <a:cxn ang="0">
                  <a:pos x="T10" y="T11"/>
                </a:cxn>
                <a:cxn ang="0">
                  <a:pos x="T12" y="T13"/>
                </a:cxn>
              </a:cxnLst>
              <a:rect l="0" t="0" r="r" b="b"/>
              <a:pathLst>
                <a:path w="440" h="273">
                  <a:moveTo>
                    <a:pt x="425" y="67"/>
                  </a:moveTo>
                  <a:cubicBezTo>
                    <a:pt x="440" y="112"/>
                    <a:pt x="416" y="159"/>
                    <a:pt x="372" y="174"/>
                  </a:cubicBezTo>
                  <a:cubicBezTo>
                    <a:pt x="121" y="258"/>
                    <a:pt x="121" y="258"/>
                    <a:pt x="121" y="258"/>
                  </a:cubicBezTo>
                  <a:cubicBezTo>
                    <a:pt x="77" y="273"/>
                    <a:pt x="29" y="249"/>
                    <a:pt x="15" y="205"/>
                  </a:cubicBezTo>
                  <a:cubicBezTo>
                    <a:pt x="0" y="161"/>
                    <a:pt x="24" y="113"/>
                    <a:pt x="68" y="98"/>
                  </a:cubicBezTo>
                  <a:cubicBezTo>
                    <a:pt x="319" y="14"/>
                    <a:pt x="319" y="14"/>
                    <a:pt x="319" y="14"/>
                  </a:cubicBezTo>
                  <a:cubicBezTo>
                    <a:pt x="363" y="0"/>
                    <a:pt x="410" y="23"/>
                    <a:pt x="425" y="67"/>
                  </a:cubicBezTo>
                </a:path>
              </a:pathLst>
            </a:custGeom>
            <a:solidFill>
              <a:srgbClr val="F1ACA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71" name="Freeform 18"/>
            <p:cNvSpPr/>
            <p:nvPr/>
          </p:nvSpPr>
          <p:spPr bwMode="auto">
            <a:xfrm>
              <a:off x="9344834" y="5670357"/>
              <a:ext cx="361924" cy="641558"/>
            </a:xfrm>
            <a:custGeom>
              <a:avLst/>
              <a:gdLst>
                <a:gd name="T0" fmla="*/ 57 w 201"/>
                <a:gd name="T1" fmla="*/ 356 h 356"/>
                <a:gd name="T2" fmla="*/ 163 w 201"/>
                <a:gd name="T3" fmla="*/ 119 h 356"/>
                <a:gd name="T4" fmla="*/ 0 w 201"/>
                <a:gd name="T5" fmla="*/ 164 h 356"/>
                <a:gd name="T6" fmla="*/ 57 w 201"/>
                <a:gd name="T7" fmla="*/ 356 h 356"/>
              </a:gdLst>
              <a:ahLst/>
              <a:cxnLst>
                <a:cxn ang="0">
                  <a:pos x="T0" y="T1"/>
                </a:cxn>
                <a:cxn ang="0">
                  <a:pos x="T2" y="T3"/>
                </a:cxn>
                <a:cxn ang="0">
                  <a:pos x="T4" y="T5"/>
                </a:cxn>
                <a:cxn ang="0">
                  <a:pos x="T6" y="T7"/>
                </a:cxn>
              </a:cxnLst>
              <a:rect l="0" t="0" r="r" b="b"/>
              <a:pathLst>
                <a:path w="201" h="356">
                  <a:moveTo>
                    <a:pt x="57" y="356"/>
                  </a:moveTo>
                  <a:cubicBezTo>
                    <a:pt x="57" y="356"/>
                    <a:pt x="201" y="219"/>
                    <a:pt x="163" y="119"/>
                  </a:cubicBezTo>
                  <a:cubicBezTo>
                    <a:pt x="118" y="0"/>
                    <a:pt x="0" y="164"/>
                    <a:pt x="0" y="164"/>
                  </a:cubicBezTo>
                  <a:cubicBezTo>
                    <a:pt x="57" y="356"/>
                    <a:pt x="57" y="356"/>
                    <a:pt x="57" y="356"/>
                  </a:cubicBezTo>
                </a:path>
              </a:pathLst>
            </a:custGeom>
            <a:solidFill>
              <a:srgbClr val="F1ACA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72" name="Freeform 19"/>
            <p:cNvSpPr/>
            <p:nvPr/>
          </p:nvSpPr>
          <p:spPr bwMode="auto">
            <a:xfrm>
              <a:off x="8839665" y="5102707"/>
              <a:ext cx="52574" cy="0"/>
            </a:xfrm>
            <a:custGeom>
              <a:avLst/>
              <a:gdLst>
                <a:gd name="T0" fmla="*/ 29 w 29"/>
                <a:gd name="T1" fmla="*/ 0 w 29"/>
                <a:gd name="T2" fmla="*/ 0 w 29"/>
                <a:gd name="T3" fmla="*/ 29 w 29"/>
                <a:gd name="T4" fmla="*/ 29 w 29"/>
              </a:gdLst>
              <a:ahLst/>
              <a:cxnLst>
                <a:cxn ang="0">
                  <a:pos x="T0" y="0"/>
                </a:cxn>
                <a:cxn ang="0">
                  <a:pos x="T1" y="0"/>
                </a:cxn>
                <a:cxn ang="0">
                  <a:pos x="T2" y="0"/>
                </a:cxn>
                <a:cxn ang="0">
                  <a:pos x="T3" y="0"/>
                </a:cxn>
                <a:cxn ang="0">
                  <a:pos x="T4" y="0"/>
                </a:cxn>
              </a:cxnLst>
              <a:rect l="0" t="0" r="r" b="b"/>
              <a:pathLst>
                <a:path w="29">
                  <a:moveTo>
                    <a:pt x="29" y="0"/>
                  </a:moveTo>
                  <a:cubicBezTo>
                    <a:pt x="0" y="0"/>
                    <a:pt x="0" y="0"/>
                    <a:pt x="0" y="0"/>
                  </a:cubicBezTo>
                  <a:cubicBezTo>
                    <a:pt x="0" y="0"/>
                    <a:pt x="0" y="0"/>
                    <a:pt x="0" y="0"/>
                  </a:cubicBezTo>
                  <a:cubicBezTo>
                    <a:pt x="29" y="0"/>
                    <a:pt x="29" y="0"/>
                    <a:pt x="29" y="0"/>
                  </a:cubicBezTo>
                  <a:cubicBezTo>
                    <a:pt x="29" y="0"/>
                    <a:pt x="29" y="0"/>
                    <a:pt x="29" y="0"/>
                  </a:cubicBezTo>
                </a:path>
              </a:pathLst>
            </a:custGeom>
            <a:solidFill>
              <a:srgbClr val="13978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73" name="Rectangle 20"/>
            <p:cNvSpPr>
              <a:spLocks noChangeArrowheads="1"/>
            </p:cNvSpPr>
            <p:nvPr/>
          </p:nvSpPr>
          <p:spPr bwMode="auto">
            <a:xfrm>
              <a:off x="9441601" y="6627360"/>
              <a:ext cx="7619" cy="220202"/>
            </a:xfrm>
            <a:prstGeom prst="rect">
              <a:avLst/>
            </a:prstGeom>
            <a:solidFill>
              <a:srgbClr val="FBE6E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sp>
          <p:nvSpPr>
            <p:cNvPr id="74" name="Rectangle 21"/>
            <p:cNvSpPr>
              <a:spLocks noChangeArrowheads="1"/>
            </p:cNvSpPr>
            <p:nvPr/>
          </p:nvSpPr>
          <p:spPr bwMode="auto">
            <a:xfrm>
              <a:off x="9441601" y="6627360"/>
              <a:ext cx="7619" cy="220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cs typeface="+mn-ea"/>
                <a:sym typeface="+mn-lt"/>
              </a:endParaRPr>
            </a:p>
          </p:txBody>
        </p:sp>
        <p:sp>
          <p:nvSpPr>
            <p:cNvPr id="75" name="Freeform 22"/>
            <p:cNvSpPr/>
            <p:nvPr/>
          </p:nvSpPr>
          <p:spPr bwMode="auto">
            <a:xfrm>
              <a:off x="9441601" y="6290580"/>
              <a:ext cx="7619" cy="336780"/>
            </a:xfrm>
            <a:custGeom>
              <a:avLst/>
              <a:gdLst>
                <a:gd name="T0" fmla="*/ 0 w 4"/>
                <a:gd name="T1" fmla="*/ 0 h 187"/>
                <a:gd name="T2" fmla="*/ 0 w 4"/>
                <a:gd name="T3" fmla="*/ 187 h 187"/>
                <a:gd name="T4" fmla="*/ 4 w 4"/>
                <a:gd name="T5" fmla="*/ 187 h 187"/>
                <a:gd name="T6" fmla="*/ 4 w 4"/>
                <a:gd name="T7" fmla="*/ 12 h 187"/>
                <a:gd name="T8" fmla="*/ 3 w 4"/>
                <a:gd name="T9" fmla="*/ 12 h 187"/>
                <a:gd name="T10" fmla="*/ 0 w 4"/>
                <a:gd name="T11" fmla="*/ 0 h 187"/>
              </a:gdLst>
              <a:ahLst/>
              <a:cxnLst>
                <a:cxn ang="0">
                  <a:pos x="T0" y="T1"/>
                </a:cxn>
                <a:cxn ang="0">
                  <a:pos x="T2" y="T3"/>
                </a:cxn>
                <a:cxn ang="0">
                  <a:pos x="T4" y="T5"/>
                </a:cxn>
                <a:cxn ang="0">
                  <a:pos x="T6" y="T7"/>
                </a:cxn>
                <a:cxn ang="0">
                  <a:pos x="T8" y="T9"/>
                </a:cxn>
                <a:cxn ang="0">
                  <a:pos x="T10" y="T11"/>
                </a:cxn>
              </a:cxnLst>
              <a:rect l="0" t="0" r="r" b="b"/>
              <a:pathLst>
                <a:path w="4" h="187">
                  <a:moveTo>
                    <a:pt x="0" y="0"/>
                  </a:moveTo>
                  <a:cubicBezTo>
                    <a:pt x="0" y="187"/>
                    <a:pt x="0" y="187"/>
                    <a:pt x="0" y="187"/>
                  </a:cubicBezTo>
                  <a:cubicBezTo>
                    <a:pt x="4" y="187"/>
                    <a:pt x="4" y="187"/>
                    <a:pt x="4" y="187"/>
                  </a:cubicBezTo>
                  <a:cubicBezTo>
                    <a:pt x="4" y="12"/>
                    <a:pt x="4" y="12"/>
                    <a:pt x="4" y="12"/>
                  </a:cubicBezTo>
                  <a:cubicBezTo>
                    <a:pt x="4" y="12"/>
                    <a:pt x="3" y="12"/>
                    <a:pt x="3" y="12"/>
                  </a:cubicBezTo>
                  <a:cubicBezTo>
                    <a:pt x="0" y="0"/>
                    <a:pt x="0" y="0"/>
                    <a:pt x="0" y="0"/>
                  </a:cubicBezTo>
                </a:path>
              </a:pathLst>
            </a:custGeom>
            <a:solidFill>
              <a:srgbClr val="ED9B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76" name="Freeform 23"/>
            <p:cNvSpPr/>
            <p:nvPr/>
          </p:nvSpPr>
          <p:spPr bwMode="auto">
            <a:xfrm>
              <a:off x="8955480" y="6189242"/>
              <a:ext cx="486121" cy="658320"/>
            </a:xfrm>
            <a:custGeom>
              <a:avLst/>
              <a:gdLst>
                <a:gd name="T0" fmla="*/ 253 w 270"/>
                <a:gd name="T1" fmla="*/ 0 h 365"/>
                <a:gd name="T2" fmla="*/ 164 w 270"/>
                <a:gd name="T3" fmla="*/ 45 h 365"/>
                <a:gd name="T4" fmla="*/ 0 w 270"/>
                <a:gd name="T5" fmla="*/ 45 h 365"/>
                <a:gd name="T6" fmla="*/ 0 w 270"/>
                <a:gd name="T7" fmla="*/ 365 h 365"/>
                <a:gd name="T8" fmla="*/ 270 w 270"/>
                <a:gd name="T9" fmla="*/ 365 h 365"/>
                <a:gd name="T10" fmla="*/ 270 w 270"/>
                <a:gd name="T11" fmla="*/ 243 h 365"/>
                <a:gd name="T12" fmla="*/ 270 w 270"/>
                <a:gd name="T13" fmla="*/ 56 h 365"/>
                <a:gd name="T14" fmla="*/ 253 w 270"/>
                <a:gd name="T15" fmla="*/ 0 h 3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0" h="365">
                  <a:moveTo>
                    <a:pt x="253" y="0"/>
                  </a:moveTo>
                  <a:cubicBezTo>
                    <a:pt x="233" y="27"/>
                    <a:pt x="201" y="45"/>
                    <a:pt x="164" y="45"/>
                  </a:cubicBezTo>
                  <a:cubicBezTo>
                    <a:pt x="0" y="45"/>
                    <a:pt x="0" y="45"/>
                    <a:pt x="0" y="45"/>
                  </a:cubicBezTo>
                  <a:cubicBezTo>
                    <a:pt x="0" y="365"/>
                    <a:pt x="0" y="365"/>
                    <a:pt x="0" y="365"/>
                  </a:cubicBezTo>
                  <a:cubicBezTo>
                    <a:pt x="270" y="365"/>
                    <a:pt x="270" y="365"/>
                    <a:pt x="270" y="365"/>
                  </a:cubicBezTo>
                  <a:cubicBezTo>
                    <a:pt x="270" y="243"/>
                    <a:pt x="270" y="243"/>
                    <a:pt x="270" y="243"/>
                  </a:cubicBezTo>
                  <a:cubicBezTo>
                    <a:pt x="270" y="56"/>
                    <a:pt x="270" y="56"/>
                    <a:pt x="270" y="56"/>
                  </a:cubicBezTo>
                  <a:cubicBezTo>
                    <a:pt x="253" y="0"/>
                    <a:pt x="253" y="0"/>
                    <a:pt x="253" y="0"/>
                  </a:cubicBezTo>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77" name="Freeform 24"/>
            <p:cNvSpPr/>
            <p:nvPr/>
          </p:nvSpPr>
          <p:spPr bwMode="auto">
            <a:xfrm>
              <a:off x="8955480" y="6126762"/>
              <a:ext cx="455644" cy="144008"/>
            </a:xfrm>
            <a:custGeom>
              <a:avLst/>
              <a:gdLst>
                <a:gd name="T0" fmla="*/ 243 w 253"/>
                <a:gd name="T1" fmla="*/ 0 h 80"/>
                <a:gd name="T2" fmla="*/ 75 w 253"/>
                <a:gd name="T3" fmla="*/ 57 h 80"/>
                <a:gd name="T4" fmla="*/ 48 w 253"/>
                <a:gd name="T5" fmla="*/ 61 h 80"/>
                <a:gd name="T6" fmla="*/ 0 w 253"/>
                <a:gd name="T7" fmla="*/ 46 h 80"/>
                <a:gd name="T8" fmla="*/ 0 w 253"/>
                <a:gd name="T9" fmla="*/ 80 h 80"/>
                <a:gd name="T10" fmla="*/ 164 w 253"/>
                <a:gd name="T11" fmla="*/ 80 h 80"/>
                <a:gd name="T12" fmla="*/ 253 w 253"/>
                <a:gd name="T13" fmla="*/ 35 h 80"/>
                <a:gd name="T14" fmla="*/ 243 w 253"/>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3" h="80">
                  <a:moveTo>
                    <a:pt x="243" y="0"/>
                  </a:moveTo>
                  <a:cubicBezTo>
                    <a:pt x="75" y="57"/>
                    <a:pt x="75" y="57"/>
                    <a:pt x="75" y="57"/>
                  </a:cubicBezTo>
                  <a:cubicBezTo>
                    <a:pt x="66" y="59"/>
                    <a:pt x="57" y="61"/>
                    <a:pt x="48" y="61"/>
                  </a:cubicBezTo>
                  <a:cubicBezTo>
                    <a:pt x="31" y="61"/>
                    <a:pt x="14" y="55"/>
                    <a:pt x="0" y="46"/>
                  </a:cubicBezTo>
                  <a:cubicBezTo>
                    <a:pt x="0" y="80"/>
                    <a:pt x="0" y="80"/>
                    <a:pt x="0" y="80"/>
                  </a:cubicBezTo>
                  <a:cubicBezTo>
                    <a:pt x="164" y="80"/>
                    <a:pt x="164" y="80"/>
                    <a:pt x="164" y="80"/>
                  </a:cubicBezTo>
                  <a:cubicBezTo>
                    <a:pt x="201" y="80"/>
                    <a:pt x="233" y="62"/>
                    <a:pt x="253" y="35"/>
                  </a:cubicBezTo>
                  <a:cubicBezTo>
                    <a:pt x="243" y="0"/>
                    <a:pt x="243" y="0"/>
                    <a:pt x="243" y="0"/>
                  </a:cubicBezTo>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78" name="Freeform 25"/>
            <p:cNvSpPr>
              <a:spLocks noEditPoints="1"/>
            </p:cNvSpPr>
            <p:nvPr/>
          </p:nvSpPr>
          <p:spPr bwMode="auto">
            <a:xfrm>
              <a:off x="8955480" y="5313766"/>
              <a:ext cx="55622" cy="645368"/>
            </a:xfrm>
            <a:custGeom>
              <a:avLst/>
              <a:gdLst>
                <a:gd name="T0" fmla="*/ 0 w 31"/>
                <a:gd name="T1" fmla="*/ 336 h 358"/>
                <a:gd name="T2" fmla="*/ 0 w 31"/>
                <a:gd name="T3" fmla="*/ 358 h 358"/>
                <a:gd name="T4" fmla="*/ 22 w 31"/>
                <a:gd name="T5" fmla="*/ 348 h 358"/>
                <a:gd name="T6" fmla="*/ 31 w 31"/>
                <a:gd name="T7" fmla="*/ 345 h 358"/>
                <a:gd name="T8" fmla="*/ 0 w 31"/>
                <a:gd name="T9" fmla="*/ 336 h 358"/>
                <a:gd name="T10" fmla="*/ 0 w 31"/>
                <a:gd name="T11" fmla="*/ 169 h 358"/>
                <a:gd name="T12" fmla="*/ 0 w 31"/>
                <a:gd name="T13" fmla="*/ 186 h 358"/>
                <a:gd name="T14" fmla="*/ 12 w 31"/>
                <a:gd name="T15" fmla="*/ 181 h 358"/>
                <a:gd name="T16" fmla="*/ 25 w 31"/>
                <a:gd name="T17" fmla="*/ 177 h 358"/>
                <a:gd name="T18" fmla="*/ 0 w 31"/>
                <a:gd name="T19" fmla="*/ 169 h 358"/>
                <a:gd name="T20" fmla="*/ 0 w 31"/>
                <a:gd name="T21" fmla="*/ 0 h 358"/>
                <a:gd name="T22" fmla="*/ 0 w 31"/>
                <a:gd name="T23" fmla="*/ 18 h 358"/>
                <a:gd name="T24" fmla="*/ 12 w 31"/>
                <a:gd name="T25" fmla="*/ 14 h 358"/>
                <a:gd name="T26" fmla="*/ 27 w 31"/>
                <a:gd name="T27" fmla="*/ 9 h 358"/>
                <a:gd name="T28" fmla="*/ 0 w 31"/>
                <a:gd name="T29" fmla="*/ 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58">
                  <a:moveTo>
                    <a:pt x="0" y="336"/>
                  </a:moveTo>
                  <a:cubicBezTo>
                    <a:pt x="0" y="358"/>
                    <a:pt x="0" y="358"/>
                    <a:pt x="0" y="358"/>
                  </a:cubicBezTo>
                  <a:cubicBezTo>
                    <a:pt x="7" y="354"/>
                    <a:pt x="14" y="350"/>
                    <a:pt x="22" y="348"/>
                  </a:cubicBezTo>
                  <a:cubicBezTo>
                    <a:pt x="31" y="345"/>
                    <a:pt x="31" y="345"/>
                    <a:pt x="31" y="345"/>
                  </a:cubicBezTo>
                  <a:cubicBezTo>
                    <a:pt x="20" y="344"/>
                    <a:pt x="10" y="341"/>
                    <a:pt x="0" y="336"/>
                  </a:cubicBezTo>
                  <a:moveTo>
                    <a:pt x="0" y="169"/>
                  </a:moveTo>
                  <a:cubicBezTo>
                    <a:pt x="0" y="186"/>
                    <a:pt x="0" y="186"/>
                    <a:pt x="0" y="186"/>
                  </a:cubicBezTo>
                  <a:cubicBezTo>
                    <a:pt x="4" y="184"/>
                    <a:pt x="8" y="182"/>
                    <a:pt x="12" y="181"/>
                  </a:cubicBezTo>
                  <a:cubicBezTo>
                    <a:pt x="25" y="177"/>
                    <a:pt x="25" y="177"/>
                    <a:pt x="25" y="177"/>
                  </a:cubicBezTo>
                  <a:cubicBezTo>
                    <a:pt x="16" y="175"/>
                    <a:pt x="8" y="173"/>
                    <a:pt x="0" y="169"/>
                  </a:cubicBezTo>
                  <a:moveTo>
                    <a:pt x="0" y="0"/>
                  </a:moveTo>
                  <a:cubicBezTo>
                    <a:pt x="0" y="18"/>
                    <a:pt x="0" y="18"/>
                    <a:pt x="0" y="18"/>
                  </a:cubicBezTo>
                  <a:cubicBezTo>
                    <a:pt x="4" y="17"/>
                    <a:pt x="8" y="15"/>
                    <a:pt x="12" y="14"/>
                  </a:cubicBezTo>
                  <a:cubicBezTo>
                    <a:pt x="27" y="9"/>
                    <a:pt x="27" y="9"/>
                    <a:pt x="27" y="9"/>
                  </a:cubicBezTo>
                  <a:cubicBezTo>
                    <a:pt x="18" y="7"/>
                    <a:pt x="9" y="4"/>
                    <a:pt x="0" y="0"/>
                  </a:cubicBezTo>
                </a:path>
              </a:pathLst>
            </a:custGeom>
            <a:solidFill>
              <a:srgbClr val="13978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79" name="Freeform 26"/>
            <p:cNvSpPr>
              <a:spLocks noEditPoints="1"/>
            </p:cNvSpPr>
            <p:nvPr/>
          </p:nvSpPr>
          <p:spPr bwMode="auto">
            <a:xfrm>
              <a:off x="9465221" y="5885225"/>
              <a:ext cx="172962" cy="410689"/>
            </a:xfrm>
            <a:custGeom>
              <a:avLst/>
              <a:gdLst>
                <a:gd name="T0" fmla="*/ 63 w 96"/>
                <a:gd name="T1" fmla="*/ 148 h 228"/>
                <a:gd name="T2" fmla="*/ 0 w 96"/>
                <a:gd name="T3" fmla="*/ 228 h 228"/>
                <a:gd name="T4" fmla="*/ 63 w 96"/>
                <a:gd name="T5" fmla="*/ 148 h 228"/>
                <a:gd name="T6" fmla="*/ 63 w 96"/>
                <a:gd name="T7" fmla="*/ 148 h 228"/>
                <a:gd name="T8" fmla="*/ 63 w 96"/>
                <a:gd name="T9" fmla="*/ 148 h 228"/>
                <a:gd name="T10" fmla="*/ 63 w 96"/>
                <a:gd name="T11" fmla="*/ 148 h 228"/>
                <a:gd name="T12" fmla="*/ 63 w 96"/>
                <a:gd name="T13" fmla="*/ 148 h 228"/>
                <a:gd name="T14" fmla="*/ 63 w 96"/>
                <a:gd name="T15" fmla="*/ 148 h 228"/>
                <a:gd name="T16" fmla="*/ 63 w 96"/>
                <a:gd name="T17" fmla="*/ 148 h 228"/>
                <a:gd name="T18" fmla="*/ 96 w 96"/>
                <a:gd name="T19" fmla="*/ 1 h 228"/>
                <a:gd name="T20" fmla="*/ 96 w 96"/>
                <a:gd name="T21" fmla="*/ 1 h 228"/>
                <a:gd name="T22" fmla="*/ 96 w 96"/>
                <a:gd name="T23" fmla="*/ 1 h 228"/>
                <a:gd name="T24" fmla="*/ 96 w 96"/>
                <a:gd name="T25" fmla="*/ 0 h 228"/>
                <a:gd name="T26" fmla="*/ 96 w 96"/>
                <a:gd name="T27" fmla="*/ 0 h 228"/>
                <a:gd name="T28" fmla="*/ 96 w 96"/>
                <a:gd name="T29" fmla="*/ 0 h 228"/>
                <a:gd name="T30" fmla="*/ 96 w 96"/>
                <a:gd name="T31" fmla="*/ 0 h 228"/>
                <a:gd name="T32" fmla="*/ 96 w 96"/>
                <a:gd name="T33" fmla="*/ 0 h 228"/>
                <a:gd name="T34" fmla="*/ 96 w 96"/>
                <a:gd name="T35" fmla="*/ 0 h 228"/>
                <a:gd name="T36" fmla="*/ 96 w 96"/>
                <a:gd name="T37" fmla="*/ 0 h 228"/>
                <a:gd name="T38" fmla="*/ 96 w 96"/>
                <a:gd name="T39" fmla="*/ 0 h 228"/>
                <a:gd name="T40" fmla="*/ 96 w 96"/>
                <a:gd name="T41" fmla="*/ 0 h 228"/>
                <a:gd name="T42" fmla="*/ 96 w 96"/>
                <a:gd name="T43" fmla="*/ 0 h 228"/>
                <a:gd name="T44" fmla="*/ 96 w 96"/>
                <a:gd name="T45" fmla="*/ 0 h 228"/>
                <a:gd name="T46" fmla="*/ 96 w 96"/>
                <a:gd name="T47" fmla="*/ 0 h 228"/>
                <a:gd name="T48" fmla="*/ 96 w 96"/>
                <a:gd name="T49"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6" h="228">
                  <a:moveTo>
                    <a:pt x="63" y="148"/>
                  </a:moveTo>
                  <a:cubicBezTo>
                    <a:pt x="40" y="184"/>
                    <a:pt x="13" y="213"/>
                    <a:pt x="0" y="228"/>
                  </a:cubicBezTo>
                  <a:cubicBezTo>
                    <a:pt x="13" y="213"/>
                    <a:pt x="40" y="184"/>
                    <a:pt x="63" y="148"/>
                  </a:cubicBezTo>
                  <a:moveTo>
                    <a:pt x="63" y="148"/>
                  </a:moveTo>
                  <a:cubicBezTo>
                    <a:pt x="63" y="148"/>
                    <a:pt x="63" y="148"/>
                    <a:pt x="63" y="148"/>
                  </a:cubicBezTo>
                  <a:cubicBezTo>
                    <a:pt x="63" y="148"/>
                    <a:pt x="63" y="148"/>
                    <a:pt x="63" y="148"/>
                  </a:cubicBezTo>
                  <a:moveTo>
                    <a:pt x="63" y="148"/>
                  </a:moveTo>
                  <a:cubicBezTo>
                    <a:pt x="63" y="148"/>
                    <a:pt x="63" y="148"/>
                    <a:pt x="63" y="148"/>
                  </a:cubicBezTo>
                  <a:cubicBezTo>
                    <a:pt x="63" y="148"/>
                    <a:pt x="63" y="148"/>
                    <a:pt x="63" y="148"/>
                  </a:cubicBezTo>
                  <a:moveTo>
                    <a:pt x="96" y="1"/>
                  </a:moveTo>
                  <a:cubicBezTo>
                    <a:pt x="96" y="1"/>
                    <a:pt x="96" y="1"/>
                    <a:pt x="96" y="1"/>
                  </a:cubicBezTo>
                  <a:cubicBezTo>
                    <a:pt x="96" y="1"/>
                    <a:pt x="96" y="1"/>
                    <a:pt x="96" y="1"/>
                  </a:cubicBezTo>
                  <a:moveTo>
                    <a:pt x="96" y="0"/>
                  </a:moveTo>
                  <a:cubicBezTo>
                    <a:pt x="96" y="0"/>
                    <a:pt x="96" y="0"/>
                    <a:pt x="96" y="0"/>
                  </a:cubicBezTo>
                  <a:cubicBezTo>
                    <a:pt x="96" y="0"/>
                    <a:pt x="96" y="0"/>
                    <a:pt x="96" y="0"/>
                  </a:cubicBezTo>
                  <a:moveTo>
                    <a:pt x="96" y="0"/>
                  </a:moveTo>
                  <a:cubicBezTo>
                    <a:pt x="96" y="0"/>
                    <a:pt x="96" y="0"/>
                    <a:pt x="96" y="0"/>
                  </a:cubicBezTo>
                  <a:cubicBezTo>
                    <a:pt x="96" y="0"/>
                    <a:pt x="96" y="0"/>
                    <a:pt x="96" y="0"/>
                  </a:cubicBezTo>
                  <a:moveTo>
                    <a:pt x="96" y="0"/>
                  </a:moveTo>
                  <a:cubicBezTo>
                    <a:pt x="96" y="0"/>
                    <a:pt x="96" y="0"/>
                    <a:pt x="96" y="0"/>
                  </a:cubicBezTo>
                  <a:cubicBezTo>
                    <a:pt x="96" y="0"/>
                    <a:pt x="96" y="0"/>
                    <a:pt x="96" y="0"/>
                  </a:cubicBezTo>
                  <a:moveTo>
                    <a:pt x="96" y="0"/>
                  </a:moveTo>
                  <a:cubicBezTo>
                    <a:pt x="96" y="0"/>
                    <a:pt x="96" y="0"/>
                    <a:pt x="96" y="0"/>
                  </a:cubicBezTo>
                  <a:cubicBezTo>
                    <a:pt x="96" y="0"/>
                    <a:pt x="96" y="0"/>
                    <a:pt x="96" y="0"/>
                  </a:cubicBezTo>
                  <a:cubicBezTo>
                    <a:pt x="96" y="0"/>
                    <a:pt x="96" y="0"/>
                    <a:pt x="96" y="0"/>
                  </a:cubicBezTo>
                </a:path>
              </a:pathLst>
            </a:custGeom>
            <a:solidFill>
              <a:srgbClr val="FBE6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80" name="Freeform 27"/>
            <p:cNvSpPr>
              <a:spLocks noEditPoints="1"/>
            </p:cNvSpPr>
            <p:nvPr/>
          </p:nvSpPr>
          <p:spPr bwMode="auto">
            <a:xfrm>
              <a:off x="9393599" y="5834175"/>
              <a:ext cx="277348" cy="477740"/>
            </a:xfrm>
            <a:custGeom>
              <a:avLst/>
              <a:gdLst>
                <a:gd name="T0" fmla="*/ 136 w 154"/>
                <a:gd name="T1" fmla="*/ 28 h 265"/>
                <a:gd name="T2" fmla="*/ 141 w 154"/>
                <a:gd name="T3" fmla="*/ 55 h 265"/>
                <a:gd name="T4" fmla="*/ 83 w 154"/>
                <a:gd name="T5" fmla="*/ 135 h 265"/>
                <a:gd name="T6" fmla="*/ 0 w 154"/>
                <a:gd name="T7" fmla="*/ 162 h 265"/>
                <a:gd name="T8" fmla="*/ 10 w 154"/>
                <a:gd name="T9" fmla="*/ 197 h 265"/>
                <a:gd name="T10" fmla="*/ 27 w 154"/>
                <a:gd name="T11" fmla="*/ 253 h 265"/>
                <a:gd name="T12" fmla="*/ 30 w 154"/>
                <a:gd name="T13" fmla="*/ 265 h 265"/>
                <a:gd name="T14" fmla="*/ 31 w 154"/>
                <a:gd name="T15" fmla="*/ 265 h 265"/>
                <a:gd name="T16" fmla="*/ 31 w 154"/>
                <a:gd name="T17" fmla="*/ 265 h 265"/>
                <a:gd name="T18" fmla="*/ 40 w 154"/>
                <a:gd name="T19" fmla="*/ 256 h 265"/>
                <a:gd name="T20" fmla="*/ 103 w 154"/>
                <a:gd name="T21" fmla="*/ 176 h 265"/>
                <a:gd name="T22" fmla="*/ 103 w 154"/>
                <a:gd name="T23" fmla="*/ 176 h 265"/>
                <a:gd name="T24" fmla="*/ 103 w 154"/>
                <a:gd name="T25" fmla="*/ 176 h 265"/>
                <a:gd name="T26" fmla="*/ 103 w 154"/>
                <a:gd name="T27" fmla="*/ 176 h 265"/>
                <a:gd name="T28" fmla="*/ 103 w 154"/>
                <a:gd name="T29" fmla="*/ 176 h 265"/>
                <a:gd name="T30" fmla="*/ 136 w 154"/>
                <a:gd name="T31" fmla="*/ 29 h 265"/>
                <a:gd name="T32" fmla="*/ 136 w 154"/>
                <a:gd name="T33" fmla="*/ 29 h 265"/>
                <a:gd name="T34" fmla="*/ 136 w 154"/>
                <a:gd name="T35" fmla="*/ 28 h 265"/>
                <a:gd name="T36" fmla="*/ 136 w 154"/>
                <a:gd name="T37" fmla="*/ 28 h 265"/>
                <a:gd name="T38" fmla="*/ 136 w 154"/>
                <a:gd name="T39" fmla="*/ 28 h 265"/>
                <a:gd name="T40" fmla="*/ 136 w 154"/>
                <a:gd name="T41" fmla="*/ 28 h 265"/>
                <a:gd name="T42" fmla="*/ 136 w 154"/>
                <a:gd name="T43" fmla="*/ 28 h 265"/>
                <a:gd name="T44" fmla="*/ 136 w 154"/>
                <a:gd name="T45" fmla="*/ 28 h 265"/>
                <a:gd name="T46" fmla="*/ 136 w 154"/>
                <a:gd name="T47" fmla="*/ 28 h 265"/>
                <a:gd name="T48" fmla="*/ 136 w 154"/>
                <a:gd name="T49" fmla="*/ 28 h 265"/>
                <a:gd name="T50" fmla="*/ 121 w 154"/>
                <a:gd name="T51" fmla="*/ 0 h 265"/>
                <a:gd name="T52" fmla="*/ 124 w 154"/>
                <a:gd name="T53" fmla="*/ 4 h 265"/>
                <a:gd name="T54" fmla="*/ 121 w 154"/>
                <a:gd name="T55"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 h="265">
                  <a:moveTo>
                    <a:pt x="136" y="28"/>
                  </a:moveTo>
                  <a:cubicBezTo>
                    <a:pt x="139" y="37"/>
                    <a:pt x="141" y="46"/>
                    <a:pt x="141" y="55"/>
                  </a:cubicBezTo>
                  <a:cubicBezTo>
                    <a:pt x="141" y="90"/>
                    <a:pt x="118" y="123"/>
                    <a:pt x="83" y="135"/>
                  </a:cubicBezTo>
                  <a:cubicBezTo>
                    <a:pt x="0" y="162"/>
                    <a:pt x="0" y="162"/>
                    <a:pt x="0" y="162"/>
                  </a:cubicBezTo>
                  <a:cubicBezTo>
                    <a:pt x="10" y="197"/>
                    <a:pt x="10" y="197"/>
                    <a:pt x="10" y="197"/>
                  </a:cubicBezTo>
                  <a:cubicBezTo>
                    <a:pt x="27" y="253"/>
                    <a:pt x="27" y="253"/>
                    <a:pt x="27" y="253"/>
                  </a:cubicBezTo>
                  <a:cubicBezTo>
                    <a:pt x="30" y="265"/>
                    <a:pt x="30" y="265"/>
                    <a:pt x="30" y="265"/>
                  </a:cubicBezTo>
                  <a:cubicBezTo>
                    <a:pt x="30" y="265"/>
                    <a:pt x="31" y="265"/>
                    <a:pt x="31" y="265"/>
                  </a:cubicBezTo>
                  <a:cubicBezTo>
                    <a:pt x="31" y="265"/>
                    <a:pt x="31" y="265"/>
                    <a:pt x="31" y="265"/>
                  </a:cubicBezTo>
                  <a:cubicBezTo>
                    <a:pt x="32" y="264"/>
                    <a:pt x="35" y="260"/>
                    <a:pt x="40" y="256"/>
                  </a:cubicBezTo>
                  <a:cubicBezTo>
                    <a:pt x="53" y="241"/>
                    <a:pt x="80" y="212"/>
                    <a:pt x="103" y="176"/>
                  </a:cubicBezTo>
                  <a:cubicBezTo>
                    <a:pt x="103" y="176"/>
                    <a:pt x="103" y="176"/>
                    <a:pt x="103" y="176"/>
                  </a:cubicBezTo>
                  <a:cubicBezTo>
                    <a:pt x="103" y="176"/>
                    <a:pt x="103" y="176"/>
                    <a:pt x="103" y="176"/>
                  </a:cubicBezTo>
                  <a:cubicBezTo>
                    <a:pt x="103" y="176"/>
                    <a:pt x="103" y="176"/>
                    <a:pt x="103" y="176"/>
                  </a:cubicBezTo>
                  <a:cubicBezTo>
                    <a:pt x="103" y="176"/>
                    <a:pt x="103" y="176"/>
                    <a:pt x="103" y="176"/>
                  </a:cubicBezTo>
                  <a:cubicBezTo>
                    <a:pt x="131" y="130"/>
                    <a:pt x="154" y="75"/>
                    <a:pt x="136" y="29"/>
                  </a:cubicBezTo>
                  <a:cubicBezTo>
                    <a:pt x="136" y="29"/>
                    <a:pt x="136" y="29"/>
                    <a:pt x="136" y="29"/>
                  </a:cubicBezTo>
                  <a:cubicBezTo>
                    <a:pt x="136" y="29"/>
                    <a:pt x="136" y="29"/>
                    <a:pt x="136" y="28"/>
                  </a:cubicBezTo>
                  <a:cubicBezTo>
                    <a:pt x="136" y="28"/>
                    <a:pt x="136" y="28"/>
                    <a:pt x="136" y="28"/>
                  </a:cubicBezTo>
                  <a:cubicBezTo>
                    <a:pt x="136" y="28"/>
                    <a:pt x="136" y="28"/>
                    <a:pt x="136" y="28"/>
                  </a:cubicBezTo>
                  <a:cubicBezTo>
                    <a:pt x="136" y="28"/>
                    <a:pt x="136" y="28"/>
                    <a:pt x="136" y="28"/>
                  </a:cubicBezTo>
                  <a:cubicBezTo>
                    <a:pt x="136" y="28"/>
                    <a:pt x="136" y="28"/>
                    <a:pt x="136" y="28"/>
                  </a:cubicBezTo>
                  <a:cubicBezTo>
                    <a:pt x="136" y="28"/>
                    <a:pt x="136" y="28"/>
                    <a:pt x="136" y="28"/>
                  </a:cubicBezTo>
                  <a:cubicBezTo>
                    <a:pt x="136" y="28"/>
                    <a:pt x="136" y="28"/>
                    <a:pt x="136" y="28"/>
                  </a:cubicBezTo>
                  <a:cubicBezTo>
                    <a:pt x="136" y="28"/>
                    <a:pt x="136" y="28"/>
                    <a:pt x="136" y="28"/>
                  </a:cubicBezTo>
                  <a:moveTo>
                    <a:pt x="121" y="0"/>
                  </a:moveTo>
                  <a:cubicBezTo>
                    <a:pt x="122" y="2"/>
                    <a:pt x="123" y="3"/>
                    <a:pt x="124" y="4"/>
                  </a:cubicBezTo>
                  <a:cubicBezTo>
                    <a:pt x="123" y="3"/>
                    <a:pt x="122" y="2"/>
                    <a:pt x="121" y="0"/>
                  </a:cubicBezTo>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81" name="Freeform 28"/>
            <p:cNvSpPr/>
            <p:nvPr/>
          </p:nvSpPr>
          <p:spPr bwMode="auto">
            <a:xfrm>
              <a:off x="8854142" y="4858123"/>
              <a:ext cx="793185" cy="491454"/>
            </a:xfrm>
            <a:custGeom>
              <a:avLst/>
              <a:gdLst>
                <a:gd name="T0" fmla="*/ 425 w 440"/>
                <a:gd name="T1" fmla="*/ 67 h 273"/>
                <a:gd name="T2" fmla="*/ 372 w 440"/>
                <a:gd name="T3" fmla="*/ 174 h 273"/>
                <a:gd name="T4" fmla="*/ 121 w 440"/>
                <a:gd name="T5" fmla="*/ 258 h 273"/>
                <a:gd name="T6" fmla="*/ 15 w 440"/>
                <a:gd name="T7" fmla="*/ 205 h 273"/>
                <a:gd name="T8" fmla="*/ 68 w 440"/>
                <a:gd name="T9" fmla="*/ 98 h 273"/>
                <a:gd name="T10" fmla="*/ 319 w 440"/>
                <a:gd name="T11" fmla="*/ 14 h 273"/>
                <a:gd name="T12" fmla="*/ 425 w 440"/>
                <a:gd name="T13" fmla="*/ 67 h 273"/>
              </a:gdLst>
              <a:ahLst/>
              <a:cxnLst>
                <a:cxn ang="0">
                  <a:pos x="T0" y="T1"/>
                </a:cxn>
                <a:cxn ang="0">
                  <a:pos x="T2" y="T3"/>
                </a:cxn>
                <a:cxn ang="0">
                  <a:pos x="T4" y="T5"/>
                </a:cxn>
                <a:cxn ang="0">
                  <a:pos x="T6" y="T7"/>
                </a:cxn>
                <a:cxn ang="0">
                  <a:pos x="T8" y="T9"/>
                </a:cxn>
                <a:cxn ang="0">
                  <a:pos x="T10" y="T11"/>
                </a:cxn>
                <a:cxn ang="0">
                  <a:pos x="T12" y="T13"/>
                </a:cxn>
              </a:cxnLst>
              <a:rect l="0" t="0" r="r" b="b"/>
              <a:pathLst>
                <a:path w="440" h="273">
                  <a:moveTo>
                    <a:pt x="425" y="67"/>
                  </a:moveTo>
                  <a:cubicBezTo>
                    <a:pt x="440" y="112"/>
                    <a:pt x="416" y="159"/>
                    <a:pt x="372" y="174"/>
                  </a:cubicBezTo>
                  <a:cubicBezTo>
                    <a:pt x="121" y="258"/>
                    <a:pt x="121" y="258"/>
                    <a:pt x="121" y="258"/>
                  </a:cubicBezTo>
                  <a:cubicBezTo>
                    <a:pt x="77" y="273"/>
                    <a:pt x="29" y="249"/>
                    <a:pt x="15" y="205"/>
                  </a:cubicBezTo>
                  <a:cubicBezTo>
                    <a:pt x="0" y="161"/>
                    <a:pt x="24" y="113"/>
                    <a:pt x="68" y="98"/>
                  </a:cubicBezTo>
                  <a:cubicBezTo>
                    <a:pt x="319" y="14"/>
                    <a:pt x="319" y="14"/>
                    <a:pt x="319" y="14"/>
                  </a:cubicBezTo>
                  <a:cubicBezTo>
                    <a:pt x="363" y="0"/>
                    <a:pt x="410" y="23"/>
                    <a:pt x="425" y="67"/>
                  </a:cubicBezTo>
                </a:path>
              </a:pathLst>
            </a:custGeom>
            <a:solidFill>
              <a:srgbClr val="F1ACA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82" name="Freeform 29"/>
            <p:cNvSpPr/>
            <p:nvPr/>
          </p:nvSpPr>
          <p:spPr bwMode="auto">
            <a:xfrm>
              <a:off x="8854142" y="5160615"/>
              <a:ext cx="793185" cy="492217"/>
            </a:xfrm>
            <a:custGeom>
              <a:avLst/>
              <a:gdLst>
                <a:gd name="T0" fmla="*/ 425 w 440"/>
                <a:gd name="T1" fmla="*/ 68 h 273"/>
                <a:gd name="T2" fmla="*/ 372 w 440"/>
                <a:gd name="T3" fmla="*/ 174 h 273"/>
                <a:gd name="T4" fmla="*/ 121 w 440"/>
                <a:gd name="T5" fmla="*/ 258 h 273"/>
                <a:gd name="T6" fmla="*/ 15 w 440"/>
                <a:gd name="T7" fmla="*/ 205 h 273"/>
                <a:gd name="T8" fmla="*/ 68 w 440"/>
                <a:gd name="T9" fmla="*/ 99 h 273"/>
                <a:gd name="T10" fmla="*/ 319 w 440"/>
                <a:gd name="T11" fmla="*/ 15 h 273"/>
                <a:gd name="T12" fmla="*/ 425 w 440"/>
                <a:gd name="T13" fmla="*/ 68 h 273"/>
              </a:gdLst>
              <a:ahLst/>
              <a:cxnLst>
                <a:cxn ang="0">
                  <a:pos x="T0" y="T1"/>
                </a:cxn>
                <a:cxn ang="0">
                  <a:pos x="T2" y="T3"/>
                </a:cxn>
                <a:cxn ang="0">
                  <a:pos x="T4" y="T5"/>
                </a:cxn>
                <a:cxn ang="0">
                  <a:pos x="T6" y="T7"/>
                </a:cxn>
                <a:cxn ang="0">
                  <a:pos x="T8" y="T9"/>
                </a:cxn>
                <a:cxn ang="0">
                  <a:pos x="T10" y="T11"/>
                </a:cxn>
                <a:cxn ang="0">
                  <a:pos x="T12" y="T13"/>
                </a:cxn>
              </a:cxnLst>
              <a:rect l="0" t="0" r="r" b="b"/>
              <a:pathLst>
                <a:path w="440" h="273">
                  <a:moveTo>
                    <a:pt x="425" y="68"/>
                  </a:moveTo>
                  <a:cubicBezTo>
                    <a:pt x="440" y="112"/>
                    <a:pt x="416" y="160"/>
                    <a:pt x="372" y="174"/>
                  </a:cubicBezTo>
                  <a:cubicBezTo>
                    <a:pt x="121" y="258"/>
                    <a:pt x="121" y="258"/>
                    <a:pt x="121" y="258"/>
                  </a:cubicBezTo>
                  <a:cubicBezTo>
                    <a:pt x="77" y="273"/>
                    <a:pt x="29" y="249"/>
                    <a:pt x="15" y="205"/>
                  </a:cubicBezTo>
                  <a:cubicBezTo>
                    <a:pt x="0" y="161"/>
                    <a:pt x="24" y="113"/>
                    <a:pt x="68" y="99"/>
                  </a:cubicBezTo>
                  <a:cubicBezTo>
                    <a:pt x="319" y="15"/>
                    <a:pt x="319" y="15"/>
                    <a:pt x="319" y="15"/>
                  </a:cubicBezTo>
                  <a:cubicBezTo>
                    <a:pt x="363" y="0"/>
                    <a:pt x="410" y="24"/>
                    <a:pt x="425" y="68"/>
                  </a:cubicBezTo>
                </a:path>
              </a:pathLst>
            </a:custGeom>
            <a:solidFill>
              <a:srgbClr val="F1ACA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83" name="Freeform 30"/>
            <p:cNvSpPr/>
            <p:nvPr/>
          </p:nvSpPr>
          <p:spPr bwMode="auto">
            <a:xfrm>
              <a:off x="8872428" y="5762552"/>
              <a:ext cx="793185" cy="492217"/>
            </a:xfrm>
            <a:custGeom>
              <a:avLst/>
              <a:gdLst>
                <a:gd name="T0" fmla="*/ 425 w 440"/>
                <a:gd name="T1" fmla="*/ 68 h 273"/>
                <a:gd name="T2" fmla="*/ 372 w 440"/>
                <a:gd name="T3" fmla="*/ 175 h 273"/>
                <a:gd name="T4" fmla="*/ 121 w 440"/>
                <a:gd name="T5" fmla="*/ 259 h 273"/>
                <a:gd name="T6" fmla="*/ 15 w 440"/>
                <a:gd name="T7" fmla="*/ 205 h 273"/>
                <a:gd name="T8" fmla="*/ 68 w 440"/>
                <a:gd name="T9" fmla="*/ 99 h 273"/>
                <a:gd name="T10" fmla="*/ 319 w 440"/>
                <a:gd name="T11" fmla="*/ 15 h 273"/>
                <a:gd name="T12" fmla="*/ 425 w 440"/>
                <a:gd name="T13" fmla="*/ 68 h 273"/>
              </a:gdLst>
              <a:ahLst/>
              <a:cxnLst>
                <a:cxn ang="0">
                  <a:pos x="T0" y="T1"/>
                </a:cxn>
                <a:cxn ang="0">
                  <a:pos x="T2" y="T3"/>
                </a:cxn>
                <a:cxn ang="0">
                  <a:pos x="T4" y="T5"/>
                </a:cxn>
                <a:cxn ang="0">
                  <a:pos x="T6" y="T7"/>
                </a:cxn>
                <a:cxn ang="0">
                  <a:pos x="T8" y="T9"/>
                </a:cxn>
                <a:cxn ang="0">
                  <a:pos x="T10" y="T11"/>
                </a:cxn>
                <a:cxn ang="0">
                  <a:pos x="T12" y="T13"/>
                </a:cxn>
              </a:cxnLst>
              <a:rect l="0" t="0" r="r" b="b"/>
              <a:pathLst>
                <a:path w="440" h="273">
                  <a:moveTo>
                    <a:pt x="425" y="68"/>
                  </a:moveTo>
                  <a:cubicBezTo>
                    <a:pt x="440" y="112"/>
                    <a:pt x="416" y="160"/>
                    <a:pt x="372" y="175"/>
                  </a:cubicBezTo>
                  <a:cubicBezTo>
                    <a:pt x="121" y="259"/>
                    <a:pt x="121" y="259"/>
                    <a:pt x="121" y="259"/>
                  </a:cubicBezTo>
                  <a:cubicBezTo>
                    <a:pt x="77" y="273"/>
                    <a:pt x="29" y="249"/>
                    <a:pt x="15" y="205"/>
                  </a:cubicBezTo>
                  <a:cubicBezTo>
                    <a:pt x="0" y="161"/>
                    <a:pt x="24" y="114"/>
                    <a:pt x="68" y="99"/>
                  </a:cubicBezTo>
                  <a:cubicBezTo>
                    <a:pt x="319" y="15"/>
                    <a:pt x="319" y="15"/>
                    <a:pt x="319" y="15"/>
                  </a:cubicBezTo>
                  <a:cubicBezTo>
                    <a:pt x="363" y="0"/>
                    <a:pt x="410" y="24"/>
                    <a:pt x="425" y="68"/>
                  </a:cubicBezTo>
                </a:path>
              </a:pathLst>
            </a:custGeom>
            <a:solidFill>
              <a:srgbClr val="F1ACA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84" name="Freeform 31"/>
            <p:cNvSpPr/>
            <p:nvPr/>
          </p:nvSpPr>
          <p:spPr bwMode="auto">
            <a:xfrm>
              <a:off x="8854142" y="5461584"/>
              <a:ext cx="793185" cy="493741"/>
            </a:xfrm>
            <a:custGeom>
              <a:avLst/>
              <a:gdLst>
                <a:gd name="T0" fmla="*/ 425 w 440"/>
                <a:gd name="T1" fmla="*/ 68 h 274"/>
                <a:gd name="T2" fmla="*/ 372 w 440"/>
                <a:gd name="T3" fmla="*/ 175 h 274"/>
                <a:gd name="T4" fmla="*/ 121 w 440"/>
                <a:gd name="T5" fmla="*/ 259 h 274"/>
                <a:gd name="T6" fmla="*/ 15 w 440"/>
                <a:gd name="T7" fmla="*/ 206 h 274"/>
                <a:gd name="T8" fmla="*/ 68 w 440"/>
                <a:gd name="T9" fmla="*/ 99 h 274"/>
                <a:gd name="T10" fmla="*/ 319 w 440"/>
                <a:gd name="T11" fmla="*/ 15 h 274"/>
                <a:gd name="T12" fmla="*/ 425 w 440"/>
                <a:gd name="T13" fmla="*/ 68 h 274"/>
              </a:gdLst>
              <a:ahLst/>
              <a:cxnLst>
                <a:cxn ang="0">
                  <a:pos x="T0" y="T1"/>
                </a:cxn>
                <a:cxn ang="0">
                  <a:pos x="T2" y="T3"/>
                </a:cxn>
                <a:cxn ang="0">
                  <a:pos x="T4" y="T5"/>
                </a:cxn>
                <a:cxn ang="0">
                  <a:pos x="T6" y="T7"/>
                </a:cxn>
                <a:cxn ang="0">
                  <a:pos x="T8" y="T9"/>
                </a:cxn>
                <a:cxn ang="0">
                  <a:pos x="T10" y="T11"/>
                </a:cxn>
                <a:cxn ang="0">
                  <a:pos x="T12" y="T13"/>
                </a:cxn>
              </a:cxnLst>
              <a:rect l="0" t="0" r="r" b="b"/>
              <a:pathLst>
                <a:path w="440" h="274">
                  <a:moveTo>
                    <a:pt x="425" y="68"/>
                  </a:moveTo>
                  <a:cubicBezTo>
                    <a:pt x="440" y="112"/>
                    <a:pt x="416" y="160"/>
                    <a:pt x="372" y="175"/>
                  </a:cubicBezTo>
                  <a:cubicBezTo>
                    <a:pt x="121" y="259"/>
                    <a:pt x="121" y="259"/>
                    <a:pt x="121" y="259"/>
                  </a:cubicBezTo>
                  <a:cubicBezTo>
                    <a:pt x="77" y="274"/>
                    <a:pt x="29" y="250"/>
                    <a:pt x="15" y="206"/>
                  </a:cubicBezTo>
                  <a:cubicBezTo>
                    <a:pt x="0" y="162"/>
                    <a:pt x="24" y="114"/>
                    <a:pt x="68" y="99"/>
                  </a:cubicBezTo>
                  <a:cubicBezTo>
                    <a:pt x="319" y="15"/>
                    <a:pt x="319" y="15"/>
                    <a:pt x="319" y="15"/>
                  </a:cubicBezTo>
                  <a:cubicBezTo>
                    <a:pt x="363" y="0"/>
                    <a:pt x="410" y="24"/>
                    <a:pt x="425" y="68"/>
                  </a:cubicBezTo>
                </a:path>
              </a:pathLst>
            </a:custGeom>
            <a:solidFill>
              <a:srgbClr val="F1ACA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85" name="Freeform 32"/>
            <p:cNvSpPr/>
            <p:nvPr/>
          </p:nvSpPr>
          <p:spPr bwMode="auto">
            <a:xfrm>
              <a:off x="8872428" y="4875648"/>
              <a:ext cx="756612" cy="454119"/>
            </a:xfrm>
            <a:custGeom>
              <a:avLst/>
              <a:gdLst>
                <a:gd name="T0" fmla="*/ 335 w 420"/>
                <a:gd name="T1" fmla="*/ 0 h 252"/>
                <a:gd name="T2" fmla="*/ 309 w 420"/>
                <a:gd name="T3" fmla="*/ 4 h 252"/>
                <a:gd name="T4" fmla="*/ 145 w 420"/>
                <a:gd name="T5" fmla="*/ 59 h 252"/>
                <a:gd name="T6" fmla="*/ 58 w 420"/>
                <a:gd name="T7" fmla="*/ 88 h 252"/>
                <a:gd name="T8" fmla="*/ 11 w 420"/>
                <a:gd name="T9" fmla="*/ 126 h 252"/>
                <a:gd name="T10" fmla="*/ 0 w 420"/>
                <a:gd name="T11" fmla="*/ 168 h 252"/>
                <a:gd name="T12" fmla="*/ 5 w 420"/>
                <a:gd name="T13" fmla="*/ 195 h 252"/>
                <a:gd name="T14" fmla="*/ 73 w 420"/>
                <a:gd name="T15" fmla="*/ 252 h 252"/>
                <a:gd name="T16" fmla="*/ 309 w 420"/>
                <a:gd name="T17" fmla="*/ 173 h 252"/>
                <a:gd name="T18" fmla="*/ 335 w 420"/>
                <a:gd name="T19" fmla="*/ 168 h 252"/>
                <a:gd name="T20" fmla="*/ 347 w 420"/>
                <a:gd name="T21" fmla="*/ 169 h 252"/>
                <a:gd name="T22" fmla="*/ 362 w 420"/>
                <a:gd name="T23" fmla="*/ 164 h 252"/>
                <a:gd name="T24" fmla="*/ 420 w 420"/>
                <a:gd name="T25" fmla="*/ 84 h 252"/>
                <a:gd name="T26" fmla="*/ 415 w 420"/>
                <a:gd name="T27" fmla="*/ 57 h 252"/>
                <a:gd name="T28" fmla="*/ 335 w 420"/>
                <a:gd name="T29"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0" h="252">
                  <a:moveTo>
                    <a:pt x="335" y="0"/>
                  </a:moveTo>
                  <a:cubicBezTo>
                    <a:pt x="326" y="0"/>
                    <a:pt x="317" y="1"/>
                    <a:pt x="309" y="4"/>
                  </a:cubicBezTo>
                  <a:cubicBezTo>
                    <a:pt x="145" y="59"/>
                    <a:pt x="145" y="59"/>
                    <a:pt x="145" y="59"/>
                  </a:cubicBezTo>
                  <a:cubicBezTo>
                    <a:pt x="58" y="88"/>
                    <a:pt x="58" y="88"/>
                    <a:pt x="58" y="88"/>
                  </a:cubicBezTo>
                  <a:cubicBezTo>
                    <a:pt x="37" y="95"/>
                    <a:pt x="21" y="109"/>
                    <a:pt x="11" y="126"/>
                  </a:cubicBezTo>
                  <a:cubicBezTo>
                    <a:pt x="4" y="139"/>
                    <a:pt x="0" y="153"/>
                    <a:pt x="0" y="168"/>
                  </a:cubicBezTo>
                  <a:cubicBezTo>
                    <a:pt x="0" y="177"/>
                    <a:pt x="2" y="186"/>
                    <a:pt x="5" y="195"/>
                  </a:cubicBezTo>
                  <a:cubicBezTo>
                    <a:pt x="15" y="226"/>
                    <a:pt x="42" y="247"/>
                    <a:pt x="73" y="252"/>
                  </a:cubicBezTo>
                  <a:cubicBezTo>
                    <a:pt x="309" y="173"/>
                    <a:pt x="309" y="173"/>
                    <a:pt x="309" y="173"/>
                  </a:cubicBezTo>
                  <a:cubicBezTo>
                    <a:pt x="317" y="170"/>
                    <a:pt x="326" y="168"/>
                    <a:pt x="335" y="168"/>
                  </a:cubicBezTo>
                  <a:cubicBezTo>
                    <a:pt x="339" y="168"/>
                    <a:pt x="343" y="169"/>
                    <a:pt x="347" y="169"/>
                  </a:cubicBezTo>
                  <a:cubicBezTo>
                    <a:pt x="362" y="164"/>
                    <a:pt x="362" y="164"/>
                    <a:pt x="362" y="164"/>
                  </a:cubicBezTo>
                  <a:cubicBezTo>
                    <a:pt x="397" y="152"/>
                    <a:pt x="420" y="119"/>
                    <a:pt x="420" y="84"/>
                  </a:cubicBezTo>
                  <a:cubicBezTo>
                    <a:pt x="420" y="75"/>
                    <a:pt x="418" y="66"/>
                    <a:pt x="415" y="57"/>
                  </a:cubicBezTo>
                  <a:cubicBezTo>
                    <a:pt x="403" y="22"/>
                    <a:pt x="371" y="0"/>
                    <a:pt x="335" y="0"/>
                  </a:cubicBezTo>
                </a:path>
              </a:pathLst>
            </a:custGeom>
            <a:solidFill>
              <a:srgbClr val="FDCF9D"/>
            </a:solidFill>
            <a:ln>
              <a:noFill/>
            </a:ln>
          </p:spPr>
          <p:txBody>
            <a:bodyPr vert="horz" wrap="square" lIns="91440" tIns="45720" rIns="91440" bIns="45720" numCol="1" anchor="t" anchorCtr="0" compatLnSpc="1"/>
            <a:lstStyle/>
            <a:p>
              <a:endParaRPr lang="en-US">
                <a:cs typeface="+mn-ea"/>
                <a:sym typeface="+mn-lt"/>
              </a:endParaRPr>
            </a:p>
          </p:txBody>
        </p:sp>
        <p:sp>
          <p:nvSpPr>
            <p:cNvPr id="86" name="Freeform 33"/>
            <p:cNvSpPr/>
            <p:nvPr/>
          </p:nvSpPr>
          <p:spPr bwMode="auto">
            <a:xfrm>
              <a:off x="8872428" y="5180426"/>
              <a:ext cx="756612" cy="452596"/>
            </a:xfrm>
            <a:custGeom>
              <a:avLst/>
              <a:gdLst>
                <a:gd name="T0" fmla="*/ 347 w 420"/>
                <a:gd name="T1" fmla="*/ 0 h 251"/>
                <a:gd name="T2" fmla="*/ 111 w 420"/>
                <a:gd name="T3" fmla="*/ 79 h 251"/>
                <a:gd name="T4" fmla="*/ 84 w 420"/>
                <a:gd name="T5" fmla="*/ 83 h 251"/>
                <a:gd name="T6" fmla="*/ 73 w 420"/>
                <a:gd name="T7" fmla="*/ 83 h 251"/>
                <a:gd name="T8" fmla="*/ 58 w 420"/>
                <a:gd name="T9" fmla="*/ 88 h 251"/>
                <a:gd name="T10" fmla="*/ 0 w 420"/>
                <a:gd name="T11" fmla="*/ 168 h 251"/>
                <a:gd name="T12" fmla="*/ 5 w 420"/>
                <a:gd name="T13" fmla="*/ 194 h 251"/>
                <a:gd name="T14" fmla="*/ 71 w 420"/>
                <a:gd name="T15" fmla="*/ 251 h 251"/>
                <a:gd name="T16" fmla="*/ 309 w 420"/>
                <a:gd name="T17" fmla="*/ 171 h 251"/>
                <a:gd name="T18" fmla="*/ 335 w 420"/>
                <a:gd name="T19" fmla="*/ 167 h 251"/>
                <a:gd name="T20" fmla="*/ 349 w 420"/>
                <a:gd name="T21" fmla="*/ 168 h 251"/>
                <a:gd name="T22" fmla="*/ 362 w 420"/>
                <a:gd name="T23" fmla="*/ 163 h 251"/>
                <a:gd name="T24" fmla="*/ 420 w 420"/>
                <a:gd name="T25" fmla="*/ 84 h 251"/>
                <a:gd name="T26" fmla="*/ 415 w 420"/>
                <a:gd name="T27" fmla="*/ 57 h 251"/>
                <a:gd name="T28" fmla="*/ 347 w 420"/>
                <a:gd name="T2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0" h="251">
                  <a:moveTo>
                    <a:pt x="347" y="0"/>
                  </a:moveTo>
                  <a:cubicBezTo>
                    <a:pt x="111" y="79"/>
                    <a:pt x="111" y="79"/>
                    <a:pt x="111" y="79"/>
                  </a:cubicBezTo>
                  <a:cubicBezTo>
                    <a:pt x="102" y="82"/>
                    <a:pt x="93" y="83"/>
                    <a:pt x="84" y="83"/>
                  </a:cubicBezTo>
                  <a:cubicBezTo>
                    <a:pt x="81" y="83"/>
                    <a:pt x="77" y="83"/>
                    <a:pt x="73" y="83"/>
                  </a:cubicBezTo>
                  <a:cubicBezTo>
                    <a:pt x="58" y="88"/>
                    <a:pt x="58" y="88"/>
                    <a:pt x="58" y="88"/>
                  </a:cubicBezTo>
                  <a:cubicBezTo>
                    <a:pt x="23" y="100"/>
                    <a:pt x="0" y="132"/>
                    <a:pt x="0" y="168"/>
                  </a:cubicBezTo>
                  <a:cubicBezTo>
                    <a:pt x="0" y="176"/>
                    <a:pt x="2" y="185"/>
                    <a:pt x="5" y="194"/>
                  </a:cubicBezTo>
                  <a:cubicBezTo>
                    <a:pt x="15" y="225"/>
                    <a:pt x="41" y="246"/>
                    <a:pt x="71" y="251"/>
                  </a:cubicBezTo>
                  <a:cubicBezTo>
                    <a:pt x="309" y="171"/>
                    <a:pt x="309" y="171"/>
                    <a:pt x="309" y="171"/>
                  </a:cubicBezTo>
                  <a:cubicBezTo>
                    <a:pt x="317" y="168"/>
                    <a:pt x="326" y="167"/>
                    <a:pt x="335" y="167"/>
                  </a:cubicBezTo>
                  <a:cubicBezTo>
                    <a:pt x="340" y="167"/>
                    <a:pt x="344" y="167"/>
                    <a:pt x="349" y="168"/>
                  </a:cubicBezTo>
                  <a:cubicBezTo>
                    <a:pt x="362" y="163"/>
                    <a:pt x="362" y="163"/>
                    <a:pt x="362" y="163"/>
                  </a:cubicBezTo>
                  <a:cubicBezTo>
                    <a:pt x="397" y="152"/>
                    <a:pt x="420" y="119"/>
                    <a:pt x="420" y="84"/>
                  </a:cubicBezTo>
                  <a:cubicBezTo>
                    <a:pt x="420" y="75"/>
                    <a:pt x="418" y="66"/>
                    <a:pt x="415" y="57"/>
                  </a:cubicBezTo>
                  <a:cubicBezTo>
                    <a:pt x="405" y="25"/>
                    <a:pt x="377" y="4"/>
                    <a:pt x="347" y="0"/>
                  </a:cubicBezTo>
                </a:path>
              </a:pathLst>
            </a:custGeom>
            <a:solidFill>
              <a:srgbClr val="FDCF9D"/>
            </a:solidFill>
            <a:ln>
              <a:noFill/>
            </a:ln>
          </p:spPr>
          <p:txBody>
            <a:bodyPr vert="horz" wrap="square" lIns="91440" tIns="45720" rIns="91440" bIns="45720" numCol="1" anchor="t" anchorCtr="0" compatLnSpc="1"/>
            <a:lstStyle/>
            <a:p>
              <a:endParaRPr lang="en-US">
                <a:cs typeface="+mn-ea"/>
                <a:sym typeface="+mn-lt"/>
              </a:endParaRPr>
            </a:p>
          </p:txBody>
        </p:sp>
        <p:sp>
          <p:nvSpPr>
            <p:cNvPr id="87" name="Freeform 34"/>
            <p:cNvSpPr/>
            <p:nvPr/>
          </p:nvSpPr>
          <p:spPr bwMode="auto">
            <a:xfrm>
              <a:off x="9004245" y="5178901"/>
              <a:ext cx="493741" cy="150866"/>
            </a:xfrm>
            <a:custGeom>
              <a:avLst/>
              <a:gdLst>
                <a:gd name="T0" fmla="*/ 262 w 274"/>
                <a:gd name="T1" fmla="*/ 0 h 84"/>
                <a:gd name="T2" fmla="*/ 236 w 274"/>
                <a:gd name="T3" fmla="*/ 5 h 84"/>
                <a:gd name="T4" fmla="*/ 0 w 274"/>
                <a:gd name="T5" fmla="*/ 84 h 84"/>
                <a:gd name="T6" fmla="*/ 11 w 274"/>
                <a:gd name="T7" fmla="*/ 84 h 84"/>
                <a:gd name="T8" fmla="*/ 38 w 274"/>
                <a:gd name="T9" fmla="*/ 80 h 84"/>
                <a:gd name="T10" fmla="*/ 274 w 274"/>
                <a:gd name="T11" fmla="*/ 1 h 84"/>
                <a:gd name="T12" fmla="*/ 262 w 274"/>
                <a:gd name="T13" fmla="*/ 0 h 84"/>
              </a:gdLst>
              <a:ahLst/>
              <a:cxnLst>
                <a:cxn ang="0">
                  <a:pos x="T0" y="T1"/>
                </a:cxn>
                <a:cxn ang="0">
                  <a:pos x="T2" y="T3"/>
                </a:cxn>
                <a:cxn ang="0">
                  <a:pos x="T4" y="T5"/>
                </a:cxn>
                <a:cxn ang="0">
                  <a:pos x="T6" y="T7"/>
                </a:cxn>
                <a:cxn ang="0">
                  <a:pos x="T8" y="T9"/>
                </a:cxn>
                <a:cxn ang="0">
                  <a:pos x="T10" y="T11"/>
                </a:cxn>
                <a:cxn ang="0">
                  <a:pos x="T12" y="T13"/>
                </a:cxn>
              </a:cxnLst>
              <a:rect l="0" t="0" r="r" b="b"/>
              <a:pathLst>
                <a:path w="274" h="84">
                  <a:moveTo>
                    <a:pt x="262" y="0"/>
                  </a:moveTo>
                  <a:cubicBezTo>
                    <a:pt x="253" y="0"/>
                    <a:pt x="244" y="2"/>
                    <a:pt x="236" y="5"/>
                  </a:cubicBezTo>
                  <a:cubicBezTo>
                    <a:pt x="0" y="84"/>
                    <a:pt x="0" y="84"/>
                    <a:pt x="0" y="84"/>
                  </a:cubicBezTo>
                  <a:cubicBezTo>
                    <a:pt x="4" y="84"/>
                    <a:pt x="8" y="84"/>
                    <a:pt x="11" y="84"/>
                  </a:cubicBezTo>
                  <a:cubicBezTo>
                    <a:pt x="20" y="84"/>
                    <a:pt x="29" y="83"/>
                    <a:pt x="38" y="80"/>
                  </a:cubicBezTo>
                  <a:cubicBezTo>
                    <a:pt x="274" y="1"/>
                    <a:pt x="274" y="1"/>
                    <a:pt x="274" y="1"/>
                  </a:cubicBezTo>
                  <a:cubicBezTo>
                    <a:pt x="270" y="1"/>
                    <a:pt x="266" y="0"/>
                    <a:pt x="262" y="0"/>
                  </a:cubicBezTo>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88" name="Freeform 35"/>
            <p:cNvSpPr/>
            <p:nvPr/>
          </p:nvSpPr>
          <p:spPr bwMode="auto">
            <a:xfrm>
              <a:off x="8890714" y="5782362"/>
              <a:ext cx="756612" cy="454119"/>
            </a:xfrm>
            <a:custGeom>
              <a:avLst/>
              <a:gdLst>
                <a:gd name="T0" fmla="*/ 343 w 420"/>
                <a:gd name="T1" fmla="*/ 0 h 252"/>
                <a:gd name="T2" fmla="*/ 101 w 420"/>
                <a:gd name="T3" fmla="*/ 81 h 252"/>
                <a:gd name="T4" fmla="*/ 74 w 420"/>
                <a:gd name="T5" fmla="*/ 85 h 252"/>
                <a:gd name="T6" fmla="*/ 67 w 420"/>
                <a:gd name="T7" fmla="*/ 85 h 252"/>
                <a:gd name="T8" fmla="*/ 58 w 420"/>
                <a:gd name="T9" fmla="*/ 88 h 252"/>
                <a:gd name="T10" fmla="*/ 0 w 420"/>
                <a:gd name="T11" fmla="*/ 168 h 252"/>
                <a:gd name="T12" fmla="*/ 5 w 420"/>
                <a:gd name="T13" fmla="*/ 194 h 252"/>
                <a:gd name="T14" fmla="*/ 84 w 420"/>
                <a:gd name="T15" fmla="*/ 252 h 252"/>
                <a:gd name="T16" fmla="*/ 111 w 420"/>
                <a:gd name="T17" fmla="*/ 248 h 252"/>
                <a:gd name="T18" fmla="*/ 362 w 420"/>
                <a:gd name="T19" fmla="*/ 164 h 252"/>
                <a:gd name="T20" fmla="*/ 420 w 420"/>
                <a:gd name="T21" fmla="*/ 84 h 252"/>
                <a:gd name="T22" fmla="*/ 415 w 420"/>
                <a:gd name="T23" fmla="*/ 57 h 252"/>
                <a:gd name="T24" fmla="*/ 343 w 420"/>
                <a:gd name="T25"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0" h="252">
                  <a:moveTo>
                    <a:pt x="343" y="0"/>
                  </a:moveTo>
                  <a:cubicBezTo>
                    <a:pt x="101" y="81"/>
                    <a:pt x="101" y="81"/>
                    <a:pt x="101" y="81"/>
                  </a:cubicBezTo>
                  <a:cubicBezTo>
                    <a:pt x="92" y="84"/>
                    <a:pt x="83" y="85"/>
                    <a:pt x="74" y="85"/>
                  </a:cubicBezTo>
                  <a:cubicBezTo>
                    <a:pt x="72" y="85"/>
                    <a:pt x="69" y="85"/>
                    <a:pt x="67" y="85"/>
                  </a:cubicBezTo>
                  <a:cubicBezTo>
                    <a:pt x="58" y="88"/>
                    <a:pt x="58" y="88"/>
                    <a:pt x="58" y="88"/>
                  </a:cubicBezTo>
                  <a:cubicBezTo>
                    <a:pt x="22" y="100"/>
                    <a:pt x="0" y="132"/>
                    <a:pt x="0" y="168"/>
                  </a:cubicBezTo>
                  <a:cubicBezTo>
                    <a:pt x="0" y="177"/>
                    <a:pt x="2" y="186"/>
                    <a:pt x="5" y="194"/>
                  </a:cubicBezTo>
                  <a:cubicBezTo>
                    <a:pt x="16" y="230"/>
                    <a:pt x="49" y="252"/>
                    <a:pt x="84" y="252"/>
                  </a:cubicBezTo>
                  <a:cubicBezTo>
                    <a:pt x="93" y="252"/>
                    <a:pt x="102" y="250"/>
                    <a:pt x="111" y="248"/>
                  </a:cubicBezTo>
                  <a:cubicBezTo>
                    <a:pt x="362" y="164"/>
                    <a:pt x="362" y="164"/>
                    <a:pt x="362" y="164"/>
                  </a:cubicBezTo>
                  <a:cubicBezTo>
                    <a:pt x="397" y="152"/>
                    <a:pt x="420" y="119"/>
                    <a:pt x="420" y="84"/>
                  </a:cubicBezTo>
                  <a:cubicBezTo>
                    <a:pt x="420" y="75"/>
                    <a:pt x="418" y="66"/>
                    <a:pt x="415" y="57"/>
                  </a:cubicBezTo>
                  <a:cubicBezTo>
                    <a:pt x="404" y="24"/>
                    <a:pt x="375" y="3"/>
                    <a:pt x="343" y="0"/>
                  </a:cubicBezTo>
                </a:path>
              </a:pathLst>
            </a:custGeom>
            <a:solidFill>
              <a:srgbClr val="FDCF9D"/>
            </a:solidFill>
            <a:ln>
              <a:noFill/>
            </a:ln>
          </p:spPr>
          <p:txBody>
            <a:bodyPr vert="horz" wrap="square" lIns="91440" tIns="45720" rIns="91440" bIns="45720" numCol="1" anchor="t" anchorCtr="0" compatLnSpc="1"/>
            <a:lstStyle/>
            <a:p>
              <a:endParaRPr lang="en-US">
                <a:cs typeface="+mn-ea"/>
                <a:sym typeface="+mn-lt"/>
              </a:endParaRPr>
            </a:p>
          </p:txBody>
        </p:sp>
        <p:sp>
          <p:nvSpPr>
            <p:cNvPr id="89" name="Freeform 36"/>
            <p:cNvSpPr/>
            <p:nvPr/>
          </p:nvSpPr>
          <p:spPr bwMode="auto">
            <a:xfrm>
              <a:off x="8872428" y="5482918"/>
              <a:ext cx="756612" cy="452596"/>
            </a:xfrm>
            <a:custGeom>
              <a:avLst/>
              <a:gdLst>
                <a:gd name="T0" fmla="*/ 349 w 420"/>
                <a:gd name="T1" fmla="*/ 0 h 251"/>
                <a:gd name="T2" fmla="*/ 111 w 420"/>
                <a:gd name="T3" fmla="*/ 79 h 251"/>
                <a:gd name="T4" fmla="*/ 84 w 420"/>
                <a:gd name="T5" fmla="*/ 84 h 251"/>
                <a:gd name="T6" fmla="*/ 71 w 420"/>
                <a:gd name="T7" fmla="*/ 83 h 251"/>
                <a:gd name="T8" fmla="*/ 58 w 420"/>
                <a:gd name="T9" fmla="*/ 87 h 251"/>
                <a:gd name="T10" fmla="*/ 0 w 420"/>
                <a:gd name="T11" fmla="*/ 167 h 251"/>
                <a:gd name="T12" fmla="*/ 5 w 420"/>
                <a:gd name="T13" fmla="*/ 194 h 251"/>
                <a:gd name="T14" fmla="*/ 77 w 420"/>
                <a:gd name="T15" fmla="*/ 251 h 251"/>
                <a:gd name="T16" fmla="*/ 319 w 420"/>
                <a:gd name="T17" fmla="*/ 170 h 251"/>
                <a:gd name="T18" fmla="*/ 345 w 420"/>
                <a:gd name="T19" fmla="*/ 165 h 251"/>
                <a:gd name="T20" fmla="*/ 353 w 420"/>
                <a:gd name="T21" fmla="*/ 166 h 251"/>
                <a:gd name="T22" fmla="*/ 362 w 420"/>
                <a:gd name="T23" fmla="*/ 163 h 251"/>
                <a:gd name="T24" fmla="*/ 420 w 420"/>
                <a:gd name="T25" fmla="*/ 83 h 251"/>
                <a:gd name="T26" fmla="*/ 415 w 420"/>
                <a:gd name="T27" fmla="*/ 56 h 251"/>
                <a:gd name="T28" fmla="*/ 349 w 420"/>
                <a:gd name="T2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0" h="251">
                  <a:moveTo>
                    <a:pt x="349" y="0"/>
                  </a:moveTo>
                  <a:cubicBezTo>
                    <a:pt x="111" y="79"/>
                    <a:pt x="111" y="79"/>
                    <a:pt x="111" y="79"/>
                  </a:cubicBezTo>
                  <a:cubicBezTo>
                    <a:pt x="102" y="82"/>
                    <a:pt x="93" y="84"/>
                    <a:pt x="84" y="84"/>
                  </a:cubicBezTo>
                  <a:cubicBezTo>
                    <a:pt x="80" y="84"/>
                    <a:pt x="75" y="83"/>
                    <a:pt x="71" y="83"/>
                  </a:cubicBezTo>
                  <a:cubicBezTo>
                    <a:pt x="58" y="87"/>
                    <a:pt x="58" y="87"/>
                    <a:pt x="58" y="87"/>
                  </a:cubicBezTo>
                  <a:cubicBezTo>
                    <a:pt x="23" y="99"/>
                    <a:pt x="0" y="132"/>
                    <a:pt x="0" y="167"/>
                  </a:cubicBezTo>
                  <a:cubicBezTo>
                    <a:pt x="0" y="176"/>
                    <a:pt x="2" y="185"/>
                    <a:pt x="5" y="194"/>
                  </a:cubicBezTo>
                  <a:cubicBezTo>
                    <a:pt x="16" y="226"/>
                    <a:pt x="44" y="248"/>
                    <a:pt x="77" y="251"/>
                  </a:cubicBezTo>
                  <a:cubicBezTo>
                    <a:pt x="319" y="170"/>
                    <a:pt x="319" y="170"/>
                    <a:pt x="319" y="170"/>
                  </a:cubicBezTo>
                  <a:cubicBezTo>
                    <a:pt x="327" y="167"/>
                    <a:pt x="336" y="165"/>
                    <a:pt x="345" y="165"/>
                  </a:cubicBezTo>
                  <a:cubicBezTo>
                    <a:pt x="348" y="165"/>
                    <a:pt x="351" y="166"/>
                    <a:pt x="353" y="166"/>
                  </a:cubicBezTo>
                  <a:cubicBezTo>
                    <a:pt x="362" y="163"/>
                    <a:pt x="362" y="163"/>
                    <a:pt x="362" y="163"/>
                  </a:cubicBezTo>
                  <a:cubicBezTo>
                    <a:pt x="397" y="151"/>
                    <a:pt x="420" y="118"/>
                    <a:pt x="420" y="83"/>
                  </a:cubicBezTo>
                  <a:cubicBezTo>
                    <a:pt x="420" y="74"/>
                    <a:pt x="418" y="65"/>
                    <a:pt x="415" y="56"/>
                  </a:cubicBezTo>
                  <a:cubicBezTo>
                    <a:pt x="405" y="26"/>
                    <a:pt x="379" y="5"/>
                    <a:pt x="349" y="0"/>
                  </a:cubicBezTo>
                </a:path>
              </a:pathLst>
            </a:custGeom>
            <a:solidFill>
              <a:srgbClr val="FDCF9D"/>
            </a:solidFill>
            <a:ln>
              <a:noFill/>
            </a:ln>
          </p:spPr>
          <p:txBody>
            <a:bodyPr vert="horz" wrap="square" lIns="91440" tIns="45720" rIns="91440" bIns="45720" numCol="1" anchor="t" anchorCtr="0" compatLnSpc="1"/>
            <a:lstStyle/>
            <a:p>
              <a:endParaRPr lang="en-US">
                <a:cs typeface="+mn-ea"/>
                <a:sym typeface="+mn-lt"/>
              </a:endParaRPr>
            </a:p>
          </p:txBody>
        </p:sp>
        <p:sp>
          <p:nvSpPr>
            <p:cNvPr id="90" name="Freeform 37"/>
            <p:cNvSpPr/>
            <p:nvPr/>
          </p:nvSpPr>
          <p:spPr bwMode="auto">
            <a:xfrm>
              <a:off x="9000435" y="5481394"/>
              <a:ext cx="500598" cy="153151"/>
            </a:xfrm>
            <a:custGeom>
              <a:avLst/>
              <a:gdLst>
                <a:gd name="T0" fmla="*/ 264 w 278"/>
                <a:gd name="T1" fmla="*/ 0 h 85"/>
                <a:gd name="T2" fmla="*/ 238 w 278"/>
                <a:gd name="T3" fmla="*/ 4 h 85"/>
                <a:gd name="T4" fmla="*/ 0 w 278"/>
                <a:gd name="T5" fmla="*/ 84 h 85"/>
                <a:gd name="T6" fmla="*/ 13 w 278"/>
                <a:gd name="T7" fmla="*/ 85 h 85"/>
                <a:gd name="T8" fmla="*/ 40 w 278"/>
                <a:gd name="T9" fmla="*/ 80 h 85"/>
                <a:gd name="T10" fmla="*/ 278 w 278"/>
                <a:gd name="T11" fmla="*/ 1 h 85"/>
                <a:gd name="T12" fmla="*/ 264 w 278"/>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278" h="85">
                  <a:moveTo>
                    <a:pt x="264" y="0"/>
                  </a:moveTo>
                  <a:cubicBezTo>
                    <a:pt x="255" y="0"/>
                    <a:pt x="246" y="1"/>
                    <a:pt x="238" y="4"/>
                  </a:cubicBezTo>
                  <a:cubicBezTo>
                    <a:pt x="0" y="84"/>
                    <a:pt x="0" y="84"/>
                    <a:pt x="0" y="84"/>
                  </a:cubicBezTo>
                  <a:cubicBezTo>
                    <a:pt x="4" y="84"/>
                    <a:pt x="9" y="85"/>
                    <a:pt x="13" y="85"/>
                  </a:cubicBezTo>
                  <a:cubicBezTo>
                    <a:pt x="22" y="85"/>
                    <a:pt x="31" y="83"/>
                    <a:pt x="40" y="80"/>
                  </a:cubicBezTo>
                  <a:cubicBezTo>
                    <a:pt x="278" y="1"/>
                    <a:pt x="278" y="1"/>
                    <a:pt x="278" y="1"/>
                  </a:cubicBezTo>
                  <a:cubicBezTo>
                    <a:pt x="273" y="0"/>
                    <a:pt x="269" y="0"/>
                    <a:pt x="264" y="0"/>
                  </a:cubicBezTo>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91" name="Freeform 38"/>
            <p:cNvSpPr/>
            <p:nvPr/>
          </p:nvSpPr>
          <p:spPr bwMode="auto">
            <a:xfrm>
              <a:off x="9011102" y="5780839"/>
              <a:ext cx="497550" cy="154675"/>
            </a:xfrm>
            <a:custGeom>
              <a:avLst/>
              <a:gdLst>
                <a:gd name="T0" fmla="*/ 268 w 276"/>
                <a:gd name="T1" fmla="*/ 0 h 86"/>
                <a:gd name="T2" fmla="*/ 242 w 276"/>
                <a:gd name="T3" fmla="*/ 5 h 86"/>
                <a:gd name="T4" fmla="*/ 0 w 276"/>
                <a:gd name="T5" fmla="*/ 86 h 86"/>
                <a:gd name="T6" fmla="*/ 7 w 276"/>
                <a:gd name="T7" fmla="*/ 86 h 86"/>
                <a:gd name="T8" fmla="*/ 34 w 276"/>
                <a:gd name="T9" fmla="*/ 82 h 86"/>
                <a:gd name="T10" fmla="*/ 276 w 276"/>
                <a:gd name="T11" fmla="*/ 1 h 86"/>
                <a:gd name="T12" fmla="*/ 268 w 276"/>
                <a:gd name="T13" fmla="*/ 0 h 86"/>
              </a:gdLst>
              <a:ahLst/>
              <a:cxnLst>
                <a:cxn ang="0">
                  <a:pos x="T0" y="T1"/>
                </a:cxn>
                <a:cxn ang="0">
                  <a:pos x="T2" y="T3"/>
                </a:cxn>
                <a:cxn ang="0">
                  <a:pos x="T4" y="T5"/>
                </a:cxn>
                <a:cxn ang="0">
                  <a:pos x="T6" y="T7"/>
                </a:cxn>
                <a:cxn ang="0">
                  <a:pos x="T8" y="T9"/>
                </a:cxn>
                <a:cxn ang="0">
                  <a:pos x="T10" y="T11"/>
                </a:cxn>
                <a:cxn ang="0">
                  <a:pos x="T12" y="T13"/>
                </a:cxn>
              </a:cxnLst>
              <a:rect l="0" t="0" r="r" b="b"/>
              <a:pathLst>
                <a:path w="276" h="86">
                  <a:moveTo>
                    <a:pt x="268" y="0"/>
                  </a:moveTo>
                  <a:cubicBezTo>
                    <a:pt x="259" y="0"/>
                    <a:pt x="250" y="2"/>
                    <a:pt x="242" y="5"/>
                  </a:cubicBezTo>
                  <a:cubicBezTo>
                    <a:pt x="0" y="86"/>
                    <a:pt x="0" y="86"/>
                    <a:pt x="0" y="86"/>
                  </a:cubicBezTo>
                  <a:cubicBezTo>
                    <a:pt x="2" y="86"/>
                    <a:pt x="5" y="86"/>
                    <a:pt x="7" y="86"/>
                  </a:cubicBezTo>
                  <a:cubicBezTo>
                    <a:pt x="16" y="86"/>
                    <a:pt x="25" y="85"/>
                    <a:pt x="34" y="82"/>
                  </a:cubicBezTo>
                  <a:cubicBezTo>
                    <a:pt x="276" y="1"/>
                    <a:pt x="276" y="1"/>
                    <a:pt x="276" y="1"/>
                  </a:cubicBezTo>
                  <a:cubicBezTo>
                    <a:pt x="274" y="1"/>
                    <a:pt x="271" y="0"/>
                    <a:pt x="268" y="0"/>
                  </a:cubicBezTo>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92" name="Rectangle 39"/>
            <p:cNvSpPr>
              <a:spLocks noChangeArrowheads="1"/>
            </p:cNvSpPr>
            <p:nvPr/>
          </p:nvSpPr>
          <p:spPr bwMode="auto">
            <a:xfrm>
              <a:off x="8394689" y="6512306"/>
              <a:ext cx="1108631" cy="335256"/>
            </a:xfrm>
            <a:prstGeom prst="rect">
              <a:avLst/>
            </a:prstGeom>
            <a:solidFill>
              <a:srgbClr val="267CA0"/>
            </a:solidFill>
            <a:ln>
              <a:noFill/>
            </a:ln>
          </p:spPr>
          <p:txBody>
            <a:bodyPr vert="horz" wrap="square" lIns="91440" tIns="45720" rIns="91440" bIns="45720" numCol="1" anchor="t" anchorCtr="0" compatLnSpc="1"/>
            <a:lstStyle/>
            <a:p>
              <a:endParaRPr lang="en-US">
                <a:cs typeface="+mn-ea"/>
                <a:sym typeface="+mn-lt"/>
              </a:endParaRPr>
            </a:p>
          </p:txBody>
        </p:sp>
        <p:sp>
          <p:nvSpPr>
            <p:cNvPr id="93" name="Freeform 40"/>
            <p:cNvSpPr/>
            <p:nvPr/>
          </p:nvSpPr>
          <p:spPr bwMode="auto">
            <a:xfrm>
              <a:off x="8886905" y="5668832"/>
              <a:ext cx="154675" cy="236203"/>
            </a:xfrm>
            <a:custGeom>
              <a:avLst/>
              <a:gdLst>
                <a:gd name="T0" fmla="*/ 54 w 86"/>
                <a:gd name="T1" fmla="*/ 0 h 131"/>
                <a:gd name="T2" fmla="*/ 9 w 86"/>
                <a:gd name="T3" fmla="*/ 78 h 131"/>
                <a:gd name="T4" fmla="*/ 86 w 86"/>
                <a:gd name="T5" fmla="*/ 122 h 131"/>
                <a:gd name="T6" fmla="*/ 54 w 86"/>
                <a:gd name="T7" fmla="*/ 0 h 131"/>
              </a:gdLst>
              <a:ahLst/>
              <a:cxnLst>
                <a:cxn ang="0">
                  <a:pos x="T0" y="T1"/>
                </a:cxn>
                <a:cxn ang="0">
                  <a:pos x="T2" y="T3"/>
                </a:cxn>
                <a:cxn ang="0">
                  <a:pos x="T4" y="T5"/>
                </a:cxn>
                <a:cxn ang="0">
                  <a:pos x="T6" y="T7"/>
                </a:cxn>
              </a:cxnLst>
              <a:rect l="0" t="0" r="r" b="b"/>
              <a:pathLst>
                <a:path w="86" h="131">
                  <a:moveTo>
                    <a:pt x="54" y="0"/>
                  </a:moveTo>
                  <a:cubicBezTo>
                    <a:pt x="20" y="9"/>
                    <a:pt x="0" y="44"/>
                    <a:pt x="9" y="78"/>
                  </a:cubicBezTo>
                  <a:cubicBezTo>
                    <a:pt x="18" y="111"/>
                    <a:pt x="52" y="131"/>
                    <a:pt x="86" y="122"/>
                  </a:cubicBezTo>
                  <a:lnTo>
                    <a:pt x="54"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94" name="Freeform 41"/>
            <p:cNvSpPr/>
            <p:nvPr/>
          </p:nvSpPr>
          <p:spPr bwMode="auto">
            <a:xfrm>
              <a:off x="8917383" y="5975135"/>
              <a:ext cx="155437" cy="236203"/>
            </a:xfrm>
            <a:custGeom>
              <a:avLst/>
              <a:gdLst>
                <a:gd name="T0" fmla="*/ 54 w 86"/>
                <a:gd name="T1" fmla="*/ 0 h 131"/>
                <a:gd name="T2" fmla="*/ 9 w 86"/>
                <a:gd name="T3" fmla="*/ 77 h 131"/>
                <a:gd name="T4" fmla="*/ 86 w 86"/>
                <a:gd name="T5" fmla="*/ 122 h 131"/>
                <a:gd name="T6" fmla="*/ 54 w 86"/>
                <a:gd name="T7" fmla="*/ 0 h 131"/>
              </a:gdLst>
              <a:ahLst/>
              <a:cxnLst>
                <a:cxn ang="0">
                  <a:pos x="T0" y="T1"/>
                </a:cxn>
                <a:cxn ang="0">
                  <a:pos x="T2" y="T3"/>
                </a:cxn>
                <a:cxn ang="0">
                  <a:pos x="T4" y="T5"/>
                </a:cxn>
                <a:cxn ang="0">
                  <a:pos x="T6" y="T7"/>
                </a:cxn>
              </a:cxnLst>
              <a:rect l="0" t="0" r="r" b="b"/>
              <a:pathLst>
                <a:path w="86" h="131">
                  <a:moveTo>
                    <a:pt x="54" y="0"/>
                  </a:moveTo>
                  <a:cubicBezTo>
                    <a:pt x="20" y="9"/>
                    <a:pt x="0" y="44"/>
                    <a:pt x="9" y="77"/>
                  </a:cubicBezTo>
                  <a:cubicBezTo>
                    <a:pt x="18" y="111"/>
                    <a:pt x="52" y="131"/>
                    <a:pt x="86" y="122"/>
                  </a:cubicBezTo>
                  <a:lnTo>
                    <a:pt x="54"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95" name="Freeform 42"/>
            <p:cNvSpPr/>
            <p:nvPr/>
          </p:nvSpPr>
          <p:spPr bwMode="auto">
            <a:xfrm>
              <a:off x="8905191" y="5066896"/>
              <a:ext cx="154675" cy="236203"/>
            </a:xfrm>
            <a:custGeom>
              <a:avLst/>
              <a:gdLst>
                <a:gd name="T0" fmla="*/ 54 w 86"/>
                <a:gd name="T1" fmla="*/ 0 h 131"/>
                <a:gd name="T2" fmla="*/ 9 w 86"/>
                <a:gd name="T3" fmla="*/ 77 h 131"/>
                <a:gd name="T4" fmla="*/ 86 w 86"/>
                <a:gd name="T5" fmla="*/ 122 h 131"/>
                <a:gd name="T6" fmla="*/ 54 w 86"/>
                <a:gd name="T7" fmla="*/ 0 h 131"/>
              </a:gdLst>
              <a:ahLst/>
              <a:cxnLst>
                <a:cxn ang="0">
                  <a:pos x="T0" y="T1"/>
                </a:cxn>
                <a:cxn ang="0">
                  <a:pos x="T2" y="T3"/>
                </a:cxn>
                <a:cxn ang="0">
                  <a:pos x="T4" y="T5"/>
                </a:cxn>
                <a:cxn ang="0">
                  <a:pos x="T6" y="T7"/>
                </a:cxn>
              </a:cxnLst>
              <a:rect l="0" t="0" r="r" b="b"/>
              <a:pathLst>
                <a:path w="86" h="131">
                  <a:moveTo>
                    <a:pt x="54" y="0"/>
                  </a:moveTo>
                  <a:cubicBezTo>
                    <a:pt x="20" y="9"/>
                    <a:pt x="0" y="44"/>
                    <a:pt x="9" y="77"/>
                  </a:cubicBezTo>
                  <a:cubicBezTo>
                    <a:pt x="18" y="111"/>
                    <a:pt x="52" y="131"/>
                    <a:pt x="86" y="122"/>
                  </a:cubicBezTo>
                  <a:lnTo>
                    <a:pt x="54"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sp>
          <p:nvSpPr>
            <p:cNvPr id="96" name="Freeform 43"/>
            <p:cNvSpPr/>
            <p:nvPr/>
          </p:nvSpPr>
          <p:spPr bwMode="auto">
            <a:xfrm>
              <a:off x="8221727" y="5102707"/>
              <a:ext cx="778708" cy="304778"/>
            </a:xfrm>
            <a:custGeom>
              <a:avLst/>
              <a:gdLst>
                <a:gd name="T0" fmla="*/ 432 w 432"/>
                <a:gd name="T1" fmla="*/ 84 h 169"/>
                <a:gd name="T2" fmla="*/ 348 w 432"/>
                <a:gd name="T3" fmla="*/ 169 h 169"/>
                <a:gd name="T4" fmla="*/ 84 w 432"/>
                <a:gd name="T5" fmla="*/ 169 h 169"/>
                <a:gd name="T6" fmla="*/ 0 w 432"/>
                <a:gd name="T7" fmla="*/ 84 h 169"/>
                <a:gd name="T8" fmla="*/ 84 w 432"/>
                <a:gd name="T9" fmla="*/ 0 h 169"/>
                <a:gd name="T10" fmla="*/ 348 w 432"/>
                <a:gd name="T11" fmla="*/ 0 h 169"/>
                <a:gd name="T12" fmla="*/ 432 w 432"/>
                <a:gd name="T13" fmla="*/ 84 h 169"/>
              </a:gdLst>
              <a:ahLst/>
              <a:cxnLst>
                <a:cxn ang="0">
                  <a:pos x="T0" y="T1"/>
                </a:cxn>
                <a:cxn ang="0">
                  <a:pos x="T2" y="T3"/>
                </a:cxn>
                <a:cxn ang="0">
                  <a:pos x="T4" y="T5"/>
                </a:cxn>
                <a:cxn ang="0">
                  <a:pos x="T6" y="T7"/>
                </a:cxn>
                <a:cxn ang="0">
                  <a:pos x="T8" y="T9"/>
                </a:cxn>
                <a:cxn ang="0">
                  <a:pos x="T10" y="T11"/>
                </a:cxn>
                <a:cxn ang="0">
                  <a:pos x="T12" y="T13"/>
                </a:cxn>
              </a:cxnLst>
              <a:rect l="0" t="0" r="r" b="b"/>
              <a:pathLst>
                <a:path w="432" h="169">
                  <a:moveTo>
                    <a:pt x="432" y="84"/>
                  </a:moveTo>
                  <a:cubicBezTo>
                    <a:pt x="432" y="131"/>
                    <a:pt x="395" y="169"/>
                    <a:pt x="348" y="169"/>
                  </a:cubicBezTo>
                  <a:cubicBezTo>
                    <a:pt x="84" y="169"/>
                    <a:pt x="84" y="169"/>
                    <a:pt x="84" y="169"/>
                  </a:cubicBezTo>
                  <a:cubicBezTo>
                    <a:pt x="37" y="169"/>
                    <a:pt x="0" y="131"/>
                    <a:pt x="0" y="84"/>
                  </a:cubicBezTo>
                  <a:cubicBezTo>
                    <a:pt x="0" y="38"/>
                    <a:pt x="37" y="0"/>
                    <a:pt x="84" y="0"/>
                  </a:cubicBezTo>
                  <a:cubicBezTo>
                    <a:pt x="348" y="0"/>
                    <a:pt x="348" y="0"/>
                    <a:pt x="348" y="0"/>
                  </a:cubicBezTo>
                  <a:cubicBezTo>
                    <a:pt x="395" y="0"/>
                    <a:pt x="432" y="38"/>
                    <a:pt x="432" y="84"/>
                  </a:cubicBezTo>
                  <a:close/>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97" name="Freeform 44"/>
            <p:cNvSpPr/>
            <p:nvPr/>
          </p:nvSpPr>
          <p:spPr bwMode="auto">
            <a:xfrm>
              <a:off x="8704800" y="5086707"/>
              <a:ext cx="531838" cy="566126"/>
            </a:xfrm>
            <a:custGeom>
              <a:avLst/>
              <a:gdLst>
                <a:gd name="T0" fmla="*/ 258 w 295"/>
                <a:gd name="T1" fmla="*/ 283 h 314"/>
                <a:gd name="T2" fmla="*/ 139 w 295"/>
                <a:gd name="T3" fmla="*/ 277 h 314"/>
                <a:gd name="T4" fmla="*/ 31 w 295"/>
                <a:gd name="T5" fmla="*/ 150 h 314"/>
                <a:gd name="T6" fmla="*/ 37 w 295"/>
                <a:gd name="T7" fmla="*/ 31 h 314"/>
                <a:gd name="T8" fmla="*/ 156 w 295"/>
                <a:gd name="T9" fmla="*/ 37 h 314"/>
                <a:gd name="T10" fmla="*/ 264 w 295"/>
                <a:gd name="T11" fmla="*/ 164 h 314"/>
                <a:gd name="T12" fmla="*/ 258 w 295"/>
                <a:gd name="T13" fmla="*/ 283 h 314"/>
              </a:gdLst>
              <a:ahLst/>
              <a:cxnLst>
                <a:cxn ang="0">
                  <a:pos x="T0" y="T1"/>
                </a:cxn>
                <a:cxn ang="0">
                  <a:pos x="T2" y="T3"/>
                </a:cxn>
                <a:cxn ang="0">
                  <a:pos x="T4" y="T5"/>
                </a:cxn>
                <a:cxn ang="0">
                  <a:pos x="T6" y="T7"/>
                </a:cxn>
                <a:cxn ang="0">
                  <a:pos x="T8" y="T9"/>
                </a:cxn>
                <a:cxn ang="0">
                  <a:pos x="T10" y="T11"/>
                </a:cxn>
                <a:cxn ang="0">
                  <a:pos x="T12" y="T13"/>
                </a:cxn>
              </a:cxnLst>
              <a:rect l="0" t="0" r="r" b="b"/>
              <a:pathLst>
                <a:path w="295" h="314">
                  <a:moveTo>
                    <a:pt x="258" y="283"/>
                  </a:moveTo>
                  <a:cubicBezTo>
                    <a:pt x="223" y="314"/>
                    <a:pt x="170" y="311"/>
                    <a:pt x="139" y="277"/>
                  </a:cubicBezTo>
                  <a:cubicBezTo>
                    <a:pt x="31" y="150"/>
                    <a:pt x="31" y="150"/>
                    <a:pt x="31" y="150"/>
                  </a:cubicBezTo>
                  <a:cubicBezTo>
                    <a:pt x="0" y="115"/>
                    <a:pt x="3" y="62"/>
                    <a:pt x="37" y="31"/>
                  </a:cubicBezTo>
                  <a:cubicBezTo>
                    <a:pt x="72" y="0"/>
                    <a:pt x="125" y="2"/>
                    <a:pt x="156" y="37"/>
                  </a:cubicBezTo>
                  <a:cubicBezTo>
                    <a:pt x="264" y="164"/>
                    <a:pt x="264" y="164"/>
                    <a:pt x="264" y="164"/>
                  </a:cubicBezTo>
                  <a:cubicBezTo>
                    <a:pt x="295" y="199"/>
                    <a:pt x="292" y="252"/>
                    <a:pt x="258" y="283"/>
                  </a:cubicBezTo>
                  <a:close/>
                </a:path>
              </a:pathLst>
            </a:custGeom>
            <a:solidFill>
              <a:srgbClr val="F0C495"/>
            </a:solidFill>
            <a:ln>
              <a:noFill/>
            </a:ln>
          </p:spPr>
          <p:txBody>
            <a:bodyPr vert="horz" wrap="square" lIns="91440" tIns="45720" rIns="91440" bIns="45720" numCol="1" anchor="t" anchorCtr="0" compatLnSpc="1"/>
            <a:lstStyle/>
            <a:p>
              <a:endParaRPr lang="en-US">
                <a:cs typeface="+mn-ea"/>
                <a:sym typeface="+mn-lt"/>
              </a:endParaRPr>
            </a:p>
          </p:txBody>
        </p:sp>
        <p:sp>
          <p:nvSpPr>
            <p:cNvPr id="98" name="Freeform 45"/>
            <p:cNvSpPr/>
            <p:nvPr/>
          </p:nvSpPr>
          <p:spPr bwMode="auto">
            <a:xfrm>
              <a:off x="8967671" y="5407485"/>
              <a:ext cx="225536" cy="191249"/>
            </a:xfrm>
            <a:custGeom>
              <a:avLst/>
              <a:gdLst>
                <a:gd name="T0" fmla="*/ 0 w 125"/>
                <a:gd name="T1" fmla="*/ 68 h 106"/>
                <a:gd name="T2" fmla="*/ 87 w 125"/>
                <a:gd name="T3" fmla="*/ 87 h 106"/>
                <a:gd name="T4" fmla="*/ 106 w 125"/>
                <a:gd name="T5" fmla="*/ 0 h 106"/>
                <a:gd name="T6" fmla="*/ 0 w 125"/>
                <a:gd name="T7" fmla="*/ 68 h 106"/>
              </a:gdLst>
              <a:ahLst/>
              <a:cxnLst>
                <a:cxn ang="0">
                  <a:pos x="T0" y="T1"/>
                </a:cxn>
                <a:cxn ang="0">
                  <a:pos x="T2" y="T3"/>
                </a:cxn>
                <a:cxn ang="0">
                  <a:pos x="T4" y="T5"/>
                </a:cxn>
                <a:cxn ang="0">
                  <a:pos x="T6" y="T7"/>
                </a:cxn>
              </a:cxnLst>
              <a:rect l="0" t="0" r="r" b="b"/>
              <a:pathLst>
                <a:path w="125" h="106">
                  <a:moveTo>
                    <a:pt x="0" y="68"/>
                  </a:moveTo>
                  <a:cubicBezTo>
                    <a:pt x="19" y="97"/>
                    <a:pt x="58" y="106"/>
                    <a:pt x="87" y="87"/>
                  </a:cubicBezTo>
                  <a:cubicBezTo>
                    <a:pt x="117" y="68"/>
                    <a:pt x="125" y="29"/>
                    <a:pt x="106" y="0"/>
                  </a:cubicBezTo>
                  <a:lnTo>
                    <a:pt x="0" y="68"/>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cs typeface="+mn-ea"/>
                <a:sym typeface="+mn-lt"/>
              </a:endParaRPr>
            </a:p>
          </p:txBody>
        </p:sp>
      </p:grpSp>
      <p:sp>
        <p:nvSpPr>
          <p:cNvPr id="36" name="Freeform 6"/>
          <p:cNvSpPr/>
          <p:nvPr>
            <p:custDataLst>
              <p:tags r:id="rId8"/>
            </p:custDataLst>
          </p:nvPr>
        </p:nvSpPr>
        <p:spPr bwMode="auto">
          <a:xfrm>
            <a:off x="4121459" y="2349663"/>
            <a:ext cx="3731196" cy="1865800"/>
          </a:xfrm>
          <a:custGeom>
            <a:avLst/>
            <a:gdLst>
              <a:gd name="T0" fmla="*/ 2106 w 2106"/>
              <a:gd name="T1" fmla="*/ 1053 h 1053"/>
              <a:gd name="T2" fmla="*/ 1053 w 2106"/>
              <a:gd name="T3" fmla="*/ 0 h 1053"/>
              <a:gd name="T4" fmla="*/ 0 w 2106"/>
              <a:gd name="T5" fmla="*/ 1053 h 1053"/>
              <a:gd name="T6" fmla="*/ 24 w 2106"/>
              <a:gd name="T7" fmla="*/ 1053 h 1053"/>
              <a:gd name="T8" fmla="*/ 326 w 2106"/>
              <a:gd name="T9" fmla="*/ 325 h 1053"/>
              <a:gd name="T10" fmla="*/ 1053 w 2106"/>
              <a:gd name="T11" fmla="*/ 24 h 1053"/>
              <a:gd name="T12" fmla="*/ 1781 w 2106"/>
              <a:gd name="T13" fmla="*/ 325 h 1053"/>
              <a:gd name="T14" fmla="*/ 2082 w 2106"/>
              <a:gd name="T15" fmla="*/ 1053 h 1053"/>
              <a:gd name="T16" fmla="*/ 2106 w 2106"/>
              <a:gd name="T17" fmla="*/ 1053 h 1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6" h="1053">
                <a:moveTo>
                  <a:pt x="2106" y="1053"/>
                </a:moveTo>
                <a:cubicBezTo>
                  <a:pt x="2106" y="471"/>
                  <a:pt x="1635" y="0"/>
                  <a:pt x="1053" y="0"/>
                </a:cubicBezTo>
                <a:cubicBezTo>
                  <a:pt x="472" y="0"/>
                  <a:pt x="0" y="471"/>
                  <a:pt x="0" y="1053"/>
                </a:cubicBezTo>
                <a:cubicBezTo>
                  <a:pt x="24" y="1053"/>
                  <a:pt x="24" y="1053"/>
                  <a:pt x="24" y="1053"/>
                </a:cubicBezTo>
                <a:cubicBezTo>
                  <a:pt x="24" y="769"/>
                  <a:pt x="140" y="512"/>
                  <a:pt x="326" y="325"/>
                </a:cubicBezTo>
                <a:cubicBezTo>
                  <a:pt x="512" y="139"/>
                  <a:pt x="769" y="24"/>
                  <a:pt x="1053" y="24"/>
                </a:cubicBezTo>
                <a:cubicBezTo>
                  <a:pt x="1337" y="24"/>
                  <a:pt x="1595" y="139"/>
                  <a:pt x="1781" y="325"/>
                </a:cubicBezTo>
                <a:cubicBezTo>
                  <a:pt x="1967" y="512"/>
                  <a:pt x="2082" y="769"/>
                  <a:pt x="2082" y="1053"/>
                </a:cubicBezTo>
                <a:lnTo>
                  <a:pt x="2106" y="1053"/>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37" name="Freeform 7"/>
          <p:cNvSpPr/>
          <p:nvPr>
            <p:custDataLst>
              <p:tags r:id="rId9"/>
            </p:custDataLst>
          </p:nvPr>
        </p:nvSpPr>
        <p:spPr bwMode="auto">
          <a:xfrm>
            <a:off x="4310978" y="2492783"/>
            <a:ext cx="3353657" cy="1596794"/>
          </a:xfrm>
          <a:custGeom>
            <a:avLst/>
            <a:gdLst>
              <a:gd name="T0" fmla="*/ 1893 w 1893"/>
              <a:gd name="T1" fmla="*/ 901 h 901"/>
              <a:gd name="T2" fmla="*/ 946 w 1893"/>
              <a:gd name="T3" fmla="*/ 0 h 901"/>
              <a:gd name="T4" fmla="*/ 0 w 1893"/>
              <a:gd name="T5" fmla="*/ 901 h 901"/>
              <a:gd name="T6" fmla="*/ 4 w 1893"/>
              <a:gd name="T7" fmla="*/ 901 h 901"/>
              <a:gd name="T8" fmla="*/ 289 w 1893"/>
              <a:gd name="T9" fmla="*/ 267 h 901"/>
              <a:gd name="T10" fmla="*/ 946 w 1893"/>
              <a:gd name="T11" fmla="*/ 4 h 901"/>
              <a:gd name="T12" fmla="*/ 1603 w 1893"/>
              <a:gd name="T13" fmla="*/ 267 h 901"/>
              <a:gd name="T14" fmla="*/ 1889 w 1893"/>
              <a:gd name="T15" fmla="*/ 901 h 901"/>
              <a:gd name="T16" fmla="*/ 1893 w 1893"/>
              <a:gd name="T17" fmla="*/ 901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3" h="901">
                <a:moveTo>
                  <a:pt x="1893" y="901"/>
                </a:moveTo>
                <a:cubicBezTo>
                  <a:pt x="1892" y="403"/>
                  <a:pt x="1444" y="0"/>
                  <a:pt x="946" y="0"/>
                </a:cubicBezTo>
                <a:cubicBezTo>
                  <a:pt x="449" y="0"/>
                  <a:pt x="0" y="403"/>
                  <a:pt x="0" y="901"/>
                </a:cubicBezTo>
                <a:cubicBezTo>
                  <a:pt x="4" y="901"/>
                  <a:pt x="4" y="901"/>
                  <a:pt x="4" y="901"/>
                </a:cubicBezTo>
                <a:cubicBezTo>
                  <a:pt x="4" y="653"/>
                  <a:pt x="116" y="429"/>
                  <a:pt x="289" y="267"/>
                </a:cubicBezTo>
                <a:cubicBezTo>
                  <a:pt x="463" y="104"/>
                  <a:pt x="699" y="4"/>
                  <a:pt x="946" y="4"/>
                </a:cubicBezTo>
                <a:cubicBezTo>
                  <a:pt x="1194" y="4"/>
                  <a:pt x="1430" y="104"/>
                  <a:pt x="1603" y="267"/>
                </a:cubicBezTo>
                <a:cubicBezTo>
                  <a:pt x="1777" y="429"/>
                  <a:pt x="1889" y="653"/>
                  <a:pt x="1889" y="901"/>
                </a:cubicBezTo>
                <a:lnTo>
                  <a:pt x="1893" y="901"/>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38" name="Freeform 8"/>
          <p:cNvSpPr>
            <a:spLocks noEditPoints="1"/>
          </p:cNvSpPr>
          <p:nvPr>
            <p:custDataLst>
              <p:tags r:id="rId10"/>
            </p:custDataLst>
          </p:nvPr>
        </p:nvSpPr>
        <p:spPr bwMode="auto">
          <a:xfrm>
            <a:off x="3958157" y="2222279"/>
            <a:ext cx="4059297" cy="2137054"/>
          </a:xfrm>
          <a:custGeom>
            <a:avLst/>
            <a:gdLst>
              <a:gd name="T0" fmla="*/ 6 w 2291"/>
              <a:gd name="T1" fmla="*/ 1165 h 1206"/>
              <a:gd name="T2" fmla="*/ 6 w 2291"/>
              <a:gd name="T3" fmla="*/ 1080 h 1206"/>
              <a:gd name="T4" fmla="*/ 16 w 2291"/>
              <a:gd name="T5" fmla="*/ 1033 h 1206"/>
              <a:gd name="T6" fmla="*/ 20 w 2291"/>
              <a:gd name="T7" fmla="*/ 973 h 1206"/>
              <a:gd name="T8" fmla="*/ 32 w 2291"/>
              <a:gd name="T9" fmla="*/ 914 h 1206"/>
              <a:gd name="T10" fmla="*/ 51 w 2291"/>
              <a:gd name="T11" fmla="*/ 857 h 1206"/>
              <a:gd name="T12" fmla="*/ 71 w 2291"/>
              <a:gd name="T13" fmla="*/ 776 h 1206"/>
              <a:gd name="T14" fmla="*/ 93 w 2291"/>
              <a:gd name="T15" fmla="*/ 732 h 1206"/>
              <a:gd name="T16" fmla="*/ 111 w 2291"/>
              <a:gd name="T17" fmla="*/ 675 h 1206"/>
              <a:gd name="T18" fmla="*/ 137 w 2291"/>
              <a:gd name="T19" fmla="*/ 621 h 1206"/>
              <a:gd name="T20" fmla="*/ 170 w 2291"/>
              <a:gd name="T21" fmla="*/ 570 h 1206"/>
              <a:gd name="T22" fmla="*/ 210 w 2291"/>
              <a:gd name="T23" fmla="*/ 496 h 1206"/>
              <a:gd name="T24" fmla="*/ 241 w 2291"/>
              <a:gd name="T25" fmla="*/ 460 h 1206"/>
              <a:gd name="T26" fmla="*/ 274 w 2291"/>
              <a:gd name="T27" fmla="*/ 410 h 1206"/>
              <a:gd name="T28" fmla="*/ 313 w 2291"/>
              <a:gd name="T29" fmla="*/ 364 h 1206"/>
              <a:gd name="T30" fmla="*/ 358 w 2291"/>
              <a:gd name="T31" fmla="*/ 325 h 1206"/>
              <a:gd name="T32" fmla="*/ 416 w 2291"/>
              <a:gd name="T33" fmla="*/ 264 h 1206"/>
              <a:gd name="T34" fmla="*/ 457 w 2291"/>
              <a:gd name="T35" fmla="*/ 238 h 1206"/>
              <a:gd name="T36" fmla="*/ 502 w 2291"/>
              <a:gd name="T37" fmla="*/ 198 h 1206"/>
              <a:gd name="T38" fmla="*/ 552 w 2291"/>
              <a:gd name="T39" fmla="*/ 165 h 1206"/>
              <a:gd name="T40" fmla="*/ 607 w 2291"/>
              <a:gd name="T41" fmla="*/ 139 h 1206"/>
              <a:gd name="T42" fmla="*/ 680 w 2291"/>
              <a:gd name="T43" fmla="*/ 97 h 1206"/>
              <a:gd name="T44" fmla="*/ 727 w 2291"/>
              <a:gd name="T45" fmla="*/ 84 h 1206"/>
              <a:gd name="T46" fmla="*/ 781 w 2291"/>
              <a:gd name="T47" fmla="*/ 58 h 1206"/>
              <a:gd name="T48" fmla="*/ 839 w 2291"/>
              <a:gd name="T49" fmla="*/ 41 h 1206"/>
              <a:gd name="T50" fmla="*/ 898 w 2291"/>
              <a:gd name="T51" fmla="*/ 32 h 1206"/>
              <a:gd name="T52" fmla="*/ 980 w 2291"/>
              <a:gd name="T53" fmla="*/ 12 h 1206"/>
              <a:gd name="T54" fmla="*/ 1028 w 2291"/>
              <a:gd name="T55" fmla="*/ 11 h 1206"/>
              <a:gd name="T56" fmla="*/ 1088 w 2291"/>
              <a:gd name="T57" fmla="*/ 2 h 1206"/>
              <a:gd name="T58" fmla="*/ 1145 w 2291"/>
              <a:gd name="T59" fmla="*/ 6 h 1206"/>
              <a:gd name="T60" fmla="*/ 1220 w 2291"/>
              <a:gd name="T61" fmla="*/ 3 h 1206"/>
              <a:gd name="T62" fmla="*/ 1267 w 2291"/>
              <a:gd name="T63" fmla="*/ 12 h 1206"/>
              <a:gd name="T64" fmla="*/ 1327 w 2291"/>
              <a:gd name="T65" fmla="*/ 14 h 1206"/>
              <a:gd name="T66" fmla="*/ 1387 w 2291"/>
              <a:gd name="T67" fmla="*/ 25 h 1206"/>
              <a:gd name="T68" fmla="*/ 1444 w 2291"/>
              <a:gd name="T69" fmla="*/ 44 h 1206"/>
              <a:gd name="T70" fmla="*/ 1525 w 2291"/>
              <a:gd name="T71" fmla="*/ 64 h 1206"/>
              <a:gd name="T72" fmla="*/ 1569 w 2291"/>
              <a:gd name="T73" fmla="*/ 85 h 1206"/>
              <a:gd name="T74" fmla="*/ 1626 w 2291"/>
              <a:gd name="T75" fmla="*/ 104 h 1206"/>
              <a:gd name="T76" fmla="*/ 1680 w 2291"/>
              <a:gd name="T77" fmla="*/ 131 h 1206"/>
              <a:gd name="T78" fmla="*/ 1729 w 2291"/>
              <a:gd name="T79" fmla="*/ 165 h 1206"/>
              <a:gd name="T80" fmla="*/ 1802 w 2291"/>
              <a:gd name="T81" fmla="*/ 207 h 1206"/>
              <a:gd name="T82" fmla="*/ 1837 w 2291"/>
              <a:gd name="T83" fmla="*/ 240 h 1206"/>
              <a:gd name="T84" fmla="*/ 1886 w 2291"/>
              <a:gd name="T85" fmla="*/ 274 h 1206"/>
              <a:gd name="T86" fmla="*/ 1930 w 2291"/>
              <a:gd name="T87" fmla="*/ 315 h 1206"/>
              <a:gd name="T88" fmla="*/ 1968 w 2291"/>
              <a:gd name="T89" fmla="*/ 362 h 1206"/>
              <a:gd name="T90" fmla="*/ 2027 w 2291"/>
              <a:gd name="T91" fmla="*/ 422 h 1206"/>
              <a:gd name="T92" fmla="*/ 2052 w 2291"/>
              <a:gd name="T93" fmla="*/ 464 h 1206"/>
              <a:gd name="T94" fmla="*/ 2090 w 2291"/>
              <a:gd name="T95" fmla="*/ 511 h 1206"/>
              <a:gd name="T96" fmla="*/ 2122 w 2291"/>
              <a:gd name="T97" fmla="*/ 562 h 1206"/>
              <a:gd name="T98" fmla="*/ 2146 w 2291"/>
              <a:gd name="T99" fmla="*/ 617 h 1206"/>
              <a:gd name="T100" fmla="*/ 2187 w 2291"/>
              <a:gd name="T101" fmla="*/ 691 h 1206"/>
              <a:gd name="T102" fmla="*/ 2200 w 2291"/>
              <a:gd name="T103" fmla="*/ 737 h 1206"/>
              <a:gd name="T104" fmla="*/ 2225 w 2291"/>
              <a:gd name="T105" fmla="*/ 792 h 1206"/>
              <a:gd name="T106" fmla="*/ 2243 w 2291"/>
              <a:gd name="T107" fmla="*/ 850 h 1206"/>
              <a:gd name="T108" fmla="*/ 2252 w 2291"/>
              <a:gd name="T109" fmla="*/ 909 h 1206"/>
              <a:gd name="T110" fmla="*/ 2274 w 2291"/>
              <a:gd name="T111" fmla="*/ 991 h 1206"/>
              <a:gd name="T112" fmla="*/ 2275 w 2291"/>
              <a:gd name="T113" fmla="*/ 1039 h 1206"/>
              <a:gd name="T114" fmla="*/ 2287 w 2291"/>
              <a:gd name="T115" fmla="*/ 1098 h 1206"/>
              <a:gd name="T116" fmla="*/ 2290 w 2291"/>
              <a:gd name="T117" fmla="*/ 1158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91" h="1206">
                <a:moveTo>
                  <a:pt x="0" y="1200"/>
                </a:moveTo>
                <a:cubicBezTo>
                  <a:pt x="0" y="1202"/>
                  <a:pt x="0" y="1204"/>
                  <a:pt x="0" y="1206"/>
                </a:cubicBezTo>
                <a:cubicBezTo>
                  <a:pt x="5" y="1206"/>
                  <a:pt x="5" y="1206"/>
                  <a:pt x="5" y="1206"/>
                </a:cubicBezTo>
                <a:cubicBezTo>
                  <a:pt x="5" y="1204"/>
                  <a:pt x="5" y="1202"/>
                  <a:pt x="5" y="1201"/>
                </a:cubicBezTo>
                <a:lnTo>
                  <a:pt x="0" y="1200"/>
                </a:lnTo>
                <a:close/>
                <a:moveTo>
                  <a:pt x="0" y="1176"/>
                </a:moveTo>
                <a:cubicBezTo>
                  <a:pt x="0" y="1180"/>
                  <a:pt x="0" y="1184"/>
                  <a:pt x="0" y="1188"/>
                </a:cubicBezTo>
                <a:cubicBezTo>
                  <a:pt x="5" y="1189"/>
                  <a:pt x="5" y="1189"/>
                  <a:pt x="5" y="1189"/>
                </a:cubicBezTo>
                <a:cubicBezTo>
                  <a:pt x="5" y="1185"/>
                  <a:pt x="5" y="1181"/>
                  <a:pt x="5" y="1177"/>
                </a:cubicBezTo>
                <a:lnTo>
                  <a:pt x="0" y="1176"/>
                </a:lnTo>
                <a:close/>
                <a:moveTo>
                  <a:pt x="1" y="1152"/>
                </a:moveTo>
                <a:cubicBezTo>
                  <a:pt x="1" y="1156"/>
                  <a:pt x="1" y="1160"/>
                  <a:pt x="0" y="1164"/>
                </a:cubicBezTo>
                <a:cubicBezTo>
                  <a:pt x="6" y="1165"/>
                  <a:pt x="6" y="1165"/>
                  <a:pt x="6" y="1165"/>
                </a:cubicBezTo>
                <a:cubicBezTo>
                  <a:pt x="6" y="1161"/>
                  <a:pt x="6" y="1157"/>
                  <a:pt x="6" y="1153"/>
                </a:cubicBezTo>
                <a:cubicBezTo>
                  <a:pt x="1" y="1152"/>
                  <a:pt x="1" y="1152"/>
                  <a:pt x="1" y="1152"/>
                </a:cubicBezTo>
                <a:close/>
                <a:moveTo>
                  <a:pt x="2" y="1128"/>
                </a:moveTo>
                <a:cubicBezTo>
                  <a:pt x="2" y="1132"/>
                  <a:pt x="2" y="1136"/>
                  <a:pt x="1" y="1140"/>
                </a:cubicBezTo>
                <a:cubicBezTo>
                  <a:pt x="7" y="1141"/>
                  <a:pt x="7" y="1141"/>
                  <a:pt x="7" y="1141"/>
                </a:cubicBezTo>
                <a:cubicBezTo>
                  <a:pt x="7" y="1137"/>
                  <a:pt x="7" y="1133"/>
                  <a:pt x="7" y="1129"/>
                </a:cubicBezTo>
                <a:lnTo>
                  <a:pt x="2" y="1128"/>
                </a:lnTo>
                <a:close/>
                <a:moveTo>
                  <a:pt x="4" y="1104"/>
                </a:moveTo>
                <a:cubicBezTo>
                  <a:pt x="3" y="1108"/>
                  <a:pt x="3" y="1112"/>
                  <a:pt x="3" y="1116"/>
                </a:cubicBezTo>
                <a:cubicBezTo>
                  <a:pt x="8" y="1117"/>
                  <a:pt x="8" y="1117"/>
                  <a:pt x="8" y="1117"/>
                </a:cubicBezTo>
                <a:cubicBezTo>
                  <a:pt x="8" y="1113"/>
                  <a:pt x="9" y="1109"/>
                  <a:pt x="9" y="1105"/>
                </a:cubicBezTo>
                <a:lnTo>
                  <a:pt x="4" y="1104"/>
                </a:lnTo>
                <a:close/>
                <a:moveTo>
                  <a:pt x="6" y="1080"/>
                </a:moveTo>
                <a:cubicBezTo>
                  <a:pt x="5" y="1084"/>
                  <a:pt x="5" y="1088"/>
                  <a:pt x="5" y="1092"/>
                </a:cubicBezTo>
                <a:cubicBezTo>
                  <a:pt x="10" y="1093"/>
                  <a:pt x="10" y="1093"/>
                  <a:pt x="10" y="1093"/>
                </a:cubicBezTo>
                <a:cubicBezTo>
                  <a:pt x="10" y="1089"/>
                  <a:pt x="11" y="1085"/>
                  <a:pt x="11" y="1081"/>
                </a:cubicBezTo>
                <a:lnTo>
                  <a:pt x="6" y="1080"/>
                </a:lnTo>
                <a:close/>
                <a:moveTo>
                  <a:pt x="8" y="1057"/>
                </a:moveTo>
                <a:cubicBezTo>
                  <a:pt x="8" y="1061"/>
                  <a:pt x="7" y="1065"/>
                  <a:pt x="7" y="1069"/>
                </a:cubicBezTo>
                <a:cubicBezTo>
                  <a:pt x="12" y="1069"/>
                  <a:pt x="12" y="1069"/>
                  <a:pt x="12" y="1069"/>
                </a:cubicBezTo>
                <a:cubicBezTo>
                  <a:pt x="12" y="1065"/>
                  <a:pt x="13" y="1061"/>
                  <a:pt x="13" y="1057"/>
                </a:cubicBezTo>
                <a:lnTo>
                  <a:pt x="8" y="1057"/>
                </a:lnTo>
                <a:close/>
                <a:moveTo>
                  <a:pt x="11" y="1033"/>
                </a:moveTo>
                <a:cubicBezTo>
                  <a:pt x="10" y="1037"/>
                  <a:pt x="10" y="1041"/>
                  <a:pt x="9" y="1045"/>
                </a:cubicBezTo>
                <a:cubicBezTo>
                  <a:pt x="15" y="1045"/>
                  <a:pt x="15" y="1045"/>
                  <a:pt x="15" y="1045"/>
                </a:cubicBezTo>
                <a:cubicBezTo>
                  <a:pt x="15" y="1041"/>
                  <a:pt x="16" y="1037"/>
                  <a:pt x="16" y="1033"/>
                </a:cubicBezTo>
                <a:lnTo>
                  <a:pt x="11" y="1033"/>
                </a:lnTo>
                <a:close/>
                <a:moveTo>
                  <a:pt x="14" y="1009"/>
                </a:moveTo>
                <a:cubicBezTo>
                  <a:pt x="14" y="1013"/>
                  <a:pt x="13" y="1017"/>
                  <a:pt x="12" y="1021"/>
                </a:cubicBezTo>
                <a:cubicBezTo>
                  <a:pt x="18" y="1022"/>
                  <a:pt x="18" y="1022"/>
                  <a:pt x="18" y="1022"/>
                </a:cubicBezTo>
                <a:cubicBezTo>
                  <a:pt x="18" y="1018"/>
                  <a:pt x="19" y="1014"/>
                  <a:pt x="19" y="1010"/>
                </a:cubicBezTo>
                <a:lnTo>
                  <a:pt x="14" y="1009"/>
                </a:lnTo>
                <a:close/>
                <a:moveTo>
                  <a:pt x="18" y="985"/>
                </a:moveTo>
                <a:cubicBezTo>
                  <a:pt x="17" y="989"/>
                  <a:pt x="17" y="993"/>
                  <a:pt x="16" y="997"/>
                </a:cubicBezTo>
                <a:cubicBezTo>
                  <a:pt x="21" y="998"/>
                  <a:pt x="21" y="998"/>
                  <a:pt x="21" y="998"/>
                </a:cubicBezTo>
                <a:cubicBezTo>
                  <a:pt x="22" y="994"/>
                  <a:pt x="22" y="990"/>
                  <a:pt x="23" y="986"/>
                </a:cubicBezTo>
                <a:lnTo>
                  <a:pt x="18" y="985"/>
                </a:lnTo>
                <a:close/>
                <a:moveTo>
                  <a:pt x="22" y="961"/>
                </a:moveTo>
                <a:cubicBezTo>
                  <a:pt x="21" y="965"/>
                  <a:pt x="21" y="969"/>
                  <a:pt x="20" y="973"/>
                </a:cubicBezTo>
                <a:cubicBezTo>
                  <a:pt x="25" y="974"/>
                  <a:pt x="25" y="974"/>
                  <a:pt x="25" y="974"/>
                </a:cubicBezTo>
                <a:cubicBezTo>
                  <a:pt x="26" y="970"/>
                  <a:pt x="27" y="966"/>
                  <a:pt x="27" y="962"/>
                </a:cubicBezTo>
                <a:lnTo>
                  <a:pt x="22" y="961"/>
                </a:lnTo>
                <a:close/>
                <a:moveTo>
                  <a:pt x="27" y="938"/>
                </a:moveTo>
                <a:cubicBezTo>
                  <a:pt x="26" y="942"/>
                  <a:pt x="25" y="946"/>
                  <a:pt x="24" y="950"/>
                </a:cubicBezTo>
                <a:cubicBezTo>
                  <a:pt x="30" y="951"/>
                  <a:pt x="30" y="951"/>
                  <a:pt x="30" y="951"/>
                </a:cubicBezTo>
                <a:cubicBezTo>
                  <a:pt x="30" y="947"/>
                  <a:pt x="31" y="943"/>
                  <a:pt x="32" y="939"/>
                </a:cubicBezTo>
                <a:lnTo>
                  <a:pt x="27" y="938"/>
                </a:lnTo>
                <a:close/>
                <a:moveTo>
                  <a:pt x="32" y="914"/>
                </a:moveTo>
                <a:cubicBezTo>
                  <a:pt x="31" y="918"/>
                  <a:pt x="30" y="922"/>
                  <a:pt x="29" y="926"/>
                </a:cubicBezTo>
                <a:cubicBezTo>
                  <a:pt x="34" y="927"/>
                  <a:pt x="34" y="927"/>
                  <a:pt x="34" y="927"/>
                </a:cubicBezTo>
                <a:cubicBezTo>
                  <a:pt x="35" y="923"/>
                  <a:pt x="36" y="919"/>
                  <a:pt x="37" y="915"/>
                </a:cubicBezTo>
                <a:lnTo>
                  <a:pt x="32" y="914"/>
                </a:lnTo>
                <a:close/>
                <a:moveTo>
                  <a:pt x="37" y="891"/>
                </a:moveTo>
                <a:cubicBezTo>
                  <a:pt x="36" y="895"/>
                  <a:pt x="35" y="899"/>
                  <a:pt x="34" y="903"/>
                </a:cubicBezTo>
                <a:cubicBezTo>
                  <a:pt x="40" y="904"/>
                  <a:pt x="40" y="904"/>
                  <a:pt x="40" y="904"/>
                </a:cubicBezTo>
                <a:cubicBezTo>
                  <a:pt x="40" y="900"/>
                  <a:pt x="41" y="896"/>
                  <a:pt x="42" y="892"/>
                </a:cubicBezTo>
                <a:lnTo>
                  <a:pt x="37" y="891"/>
                </a:lnTo>
                <a:close/>
                <a:moveTo>
                  <a:pt x="43" y="868"/>
                </a:moveTo>
                <a:cubicBezTo>
                  <a:pt x="42" y="871"/>
                  <a:pt x="41" y="875"/>
                  <a:pt x="40" y="879"/>
                </a:cubicBezTo>
                <a:cubicBezTo>
                  <a:pt x="45" y="881"/>
                  <a:pt x="45" y="881"/>
                  <a:pt x="45" y="881"/>
                </a:cubicBezTo>
                <a:cubicBezTo>
                  <a:pt x="46" y="877"/>
                  <a:pt x="47" y="873"/>
                  <a:pt x="48" y="869"/>
                </a:cubicBezTo>
                <a:lnTo>
                  <a:pt x="43" y="868"/>
                </a:lnTo>
                <a:close/>
                <a:moveTo>
                  <a:pt x="49" y="844"/>
                </a:moveTo>
                <a:cubicBezTo>
                  <a:pt x="48" y="848"/>
                  <a:pt x="47" y="852"/>
                  <a:pt x="46" y="856"/>
                </a:cubicBezTo>
                <a:cubicBezTo>
                  <a:pt x="51" y="857"/>
                  <a:pt x="51" y="857"/>
                  <a:pt x="51" y="857"/>
                </a:cubicBezTo>
                <a:cubicBezTo>
                  <a:pt x="52" y="854"/>
                  <a:pt x="53" y="850"/>
                  <a:pt x="54" y="846"/>
                </a:cubicBezTo>
                <a:lnTo>
                  <a:pt x="49" y="844"/>
                </a:lnTo>
                <a:close/>
                <a:moveTo>
                  <a:pt x="56" y="821"/>
                </a:moveTo>
                <a:cubicBezTo>
                  <a:pt x="55" y="825"/>
                  <a:pt x="54" y="829"/>
                  <a:pt x="53" y="833"/>
                </a:cubicBezTo>
                <a:cubicBezTo>
                  <a:pt x="58" y="834"/>
                  <a:pt x="58" y="834"/>
                  <a:pt x="58" y="834"/>
                </a:cubicBezTo>
                <a:cubicBezTo>
                  <a:pt x="59" y="831"/>
                  <a:pt x="60" y="827"/>
                  <a:pt x="61" y="823"/>
                </a:cubicBezTo>
                <a:lnTo>
                  <a:pt x="56" y="821"/>
                </a:lnTo>
                <a:close/>
                <a:moveTo>
                  <a:pt x="63" y="798"/>
                </a:moveTo>
                <a:cubicBezTo>
                  <a:pt x="62" y="802"/>
                  <a:pt x="61" y="806"/>
                  <a:pt x="60" y="810"/>
                </a:cubicBezTo>
                <a:cubicBezTo>
                  <a:pt x="65" y="811"/>
                  <a:pt x="65" y="811"/>
                  <a:pt x="65" y="811"/>
                </a:cubicBezTo>
                <a:cubicBezTo>
                  <a:pt x="66" y="808"/>
                  <a:pt x="67" y="804"/>
                  <a:pt x="68" y="800"/>
                </a:cubicBezTo>
                <a:cubicBezTo>
                  <a:pt x="63" y="798"/>
                  <a:pt x="63" y="798"/>
                  <a:pt x="63" y="798"/>
                </a:cubicBezTo>
                <a:close/>
                <a:moveTo>
                  <a:pt x="71" y="776"/>
                </a:moveTo>
                <a:cubicBezTo>
                  <a:pt x="70" y="779"/>
                  <a:pt x="68" y="783"/>
                  <a:pt x="67" y="787"/>
                </a:cubicBezTo>
                <a:cubicBezTo>
                  <a:pt x="72" y="789"/>
                  <a:pt x="72" y="789"/>
                  <a:pt x="72" y="789"/>
                </a:cubicBezTo>
                <a:cubicBezTo>
                  <a:pt x="73" y="785"/>
                  <a:pt x="75" y="781"/>
                  <a:pt x="76" y="777"/>
                </a:cubicBezTo>
                <a:lnTo>
                  <a:pt x="71" y="776"/>
                </a:lnTo>
                <a:close/>
                <a:moveTo>
                  <a:pt x="79" y="753"/>
                </a:moveTo>
                <a:cubicBezTo>
                  <a:pt x="78" y="757"/>
                  <a:pt x="76" y="760"/>
                  <a:pt x="75" y="764"/>
                </a:cubicBezTo>
                <a:cubicBezTo>
                  <a:pt x="80" y="766"/>
                  <a:pt x="80" y="766"/>
                  <a:pt x="80" y="766"/>
                </a:cubicBezTo>
                <a:cubicBezTo>
                  <a:pt x="81" y="762"/>
                  <a:pt x="83" y="759"/>
                  <a:pt x="84" y="755"/>
                </a:cubicBezTo>
                <a:lnTo>
                  <a:pt x="79" y="753"/>
                </a:lnTo>
                <a:close/>
                <a:moveTo>
                  <a:pt x="88" y="730"/>
                </a:moveTo>
                <a:cubicBezTo>
                  <a:pt x="86" y="734"/>
                  <a:pt x="85" y="738"/>
                  <a:pt x="83" y="742"/>
                </a:cubicBezTo>
                <a:cubicBezTo>
                  <a:pt x="88" y="744"/>
                  <a:pt x="88" y="744"/>
                  <a:pt x="88" y="744"/>
                </a:cubicBezTo>
                <a:cubicBezTo>
                  <a:pt x="90" y="740"/>
                  <a:pt x="91" y="736"/>
                  <a:pt x="93" y="732"/>
                </a:cubicBezTo>
                <a:lnTo>
                  <a:pt x="88" y="730"/>
                </a:lnTo>
                <a:close/>
                <a:moveTo>
                  <a:pt x="97" y="708"/>
                </a:moveTo>
                <a:cubicBezTo>
                  <a:pt x="95" y="712"/>
                  <a:pt x="94" y="716"/>
                  <a:pt x="92" y="719"/>
                </a:cubicBezTo>
                <a:cubicBezTo>
                  <a:pt x="97" y="721"/>
                  <a:pt x="97" y="721"/>
                  <a:pt x="97" y="721"/>
                </a:cubicBezTo>
                <a:cubicBezTo>
                  <a:pt x="98" y="718"/>
                  <a:pt x="100" y="714"/>
                  <a:pt x="101" y="710"/>
                </a:cubicBezTo>
                <a:lnTo>
                  <a:pt x="97" y="708"/>
                </a:lnTo>
                <a:close/>
                <a:moveTo>
                  <a:pt x="106" y="686"/>
                </a:moveTo>
                <a:cubicBezTo>
                  <a:pt x="104" y="690"/>
                  <a:pt x="103" y="693"/>
                  <a:pt x="101" y="697"/>
                </a:cubicBezTo>
                <a:cubicBezTo>
                  <a:pt x="106" y="699"/>
                  <a:pt x="106" y="699"/>
                  <a:pt x="106" y="699"/>
                </a:cubicBezTo>
                <a:cubicBezTo>
                  <a:pt x="108" y="695"/>
                  <a:pt x="109" y="692"/>
                  <a:pt x="111" y="688"/>
                </a:cubicBezTo>
                <a:lnTo>
                  <a:pt x="106" y="686"/>
                </a:lnTo>
                <a:close/>
                <a:moveTo>
                  <a:pt x="116" y="664"/>
                </a:moveTo>
                <a:cubicBezTo>
                  <a:pt x="114" y="668"/>
                  <a:pt x="112" y="671"/>
                  <a:pt x="111" y="675"/>
                </a:cubicBezTo>
                <a:cubicBezTo>
                  <a:pt x="116" y="677"/>
                  <a:pt x="116" y="677"/>
                  <a:pt x="116" y="677"/>
                </a:cubicBezTo>
                <a:cubicBezTo>
                  <a:pt x="117" y="674"/>
                  <a:pt x="119" y="670"/>
                  <a:pt x="121" y="666"/>
                </a:cubicBezTo>
                <a:cubicBezTo>
                  <a:pt x="116" y="664"/>
                  <a:pt x="116" y="664"/>
                  <a:pt x="116" y="664"/>
                </a:cubicBezTo>
                <a:close/>
                <a:moveTo>
                  <a:pt x="126" y="642"/>
                </a:moveTo>
                <a:cubicBezTo>
                  <a:pt x="124" y="646"/>
                  <a:pt x="123" y="649"/>
                  <a:pt x="121" y="653"/>
                </a:cubicBezTo>
                <a:cubicBezTo>
                  <a:pt x="126" y="655"/>
                  <a:pt x="126" y="655"/>
                  <a:pt x="126" y="655"/>
                </a:cubicBezTo>
                <a:cubicBezTo>
                  <a:pt x="127" y="652"/>
                  <a:pt x="129" y="648"/>
                  <a:pt x="131" y="645"/>
                </a:cubicBezTo>
                <a:lnTo>
                  <a:pt x="126" y="642"/>
                </a:lnTo>
                <a:close/>
                <a:moveTo>
                  <a:pt x="137" y="621"/>
                </a:moveTo>
                <a:cubicBezTo>
                  <a:pt x="135" y="624"/>
                  <a:pt x="133" y="628"/>
                  <a:pt x="131" y="631"/>
                </a:cubicBezTo>
                <a:cubicBezTo>
                  <a:pt x="136" y="634"/>
                  <a:pt x="136" y="634"/>
                  <a:pt x="136" y="634"/>
                </a:cubicBezTo>
                <a:cubicBezTo>
                  <a:pt x="138" y="630"/>
                  <a:pt x="140" y="627"/>
                  <a:pt x="141" y="623"/>
                </a:cubicBezTo>
                <a:lnTo>
                  <a:pt x="137" y="621"/>
                </a:lnTo>
                <a:close/>
                <a:moveTo>
                  <a:pt x="148" y="599"/>
                </a:moveTo>
                <a:cubicBezTo>
                  <a:pt x="146" y="603"/>
                  <a:pt x="144" y="606"/>
                  <a:pt x="142" y="610"/>
                </a:cubicBezTo>
                <a:cubicBezTo>
                  <a:pt x="147" y="612"/>
                  <a:pt x="147" y="612"/>
                  <a:pt x="147" y="612"/>
                </a:cubicBezTo>
                <a:cubicBezTo>
                  <a:pt x="149" y="609"/>
                  <a:pt x="151" y="605"/>
                  <a:pt x="153" y="602"/>
                </a:cubicBezTo>
                <a:lnTo>
                  <a:pt x="148" y="599"/>
                </a:lnTo>
                <a:close/>
                <a:moveTo>
                  <a:pt x="159" y="578"/>
                </a:moveTo>
                <a:cubicBezTo>
                  <a:pt x="157" y="582"/>
                  <a:pt x="155" y="585"/>
                  <a:pt x="153" y="589"/>
                </a:cubicBezTo>
                <a:cubicBezTo>
                  <a:pt x="158" y="591"/>
                  <a:pt x="158" y="591"/>
                  <a:pt x="158" y="591"/>
                </a:cubicBezTo>
                <a:cubicBezTo>
                  <a:pt x="160" y="588"/>
                  <a:pt x="162" y="584"/>
                  <a:pt x="164" y="581"/>
                </a:cubicBezTo>
                <a:lnTo>
                  <a:pt x="159" y="578"/>
                </a:lnTo>
                <a:close/>
                <a:moveTo>
                  <a:pt x="171" y="557"/>
                </a:moveTo>
                <a:cubicBezTo>
                  <a:pt x="169" y="561"/>
                  <a:pt x="167" y="564"/>
                  <a:pt x="165" y="568"/>
                </a:cubicBezTo>
                <a:cubicBezTo>
                  <a:pt x="170" y="570"/>
                  <a:pt x="170" y="570"/>
                  <a:pt x="170" y="570"/>
                </a:cubicBezTo>
                <a:cubicBezTo>
                  <a:pt x="172" y="567"/>
                  <a:pt x="174" y="564"/>
                  <a:pt x="176" y="560"/>
                </a:cubicBezTo>
                <a:lnTo>
                  <a:pt x="171" y="557"/>
                </a:lnTo>
                <a:close/>
                <a:moveTo>
                  <a:pt x="184" y="537"/>
                </a:moveTo>
                <a:cubicBezTo>
                  <a:pt x="182" y="540"/>
                  <a:pt x="179" y="544"/>
                  <a:pt x="177" y="547"/>
                </a:cubicBezTo>
                <a:cubicBezTo>
                  <a:pt x="182" y="550"/>
                  <a:pt x="182" y="550"/>
                  <a:pt x="182" y="550"/>
                </a:cubicBezTo>
                <a:cubicBezTo>
                  <a:pt x="184" y="546"/>
                  <a:pt x="186" y="543"/>
                  <a:pt x="188" y="540"/>
                </a:cubicBezTo>
                <a:lnTo>
                  <a:pt x="184" y="537"/>
                </a:lnTo>
                <a:close/>
                <a:moveTo>
                  <a:pt x="196" y="516"/>
                </a:moveTo>
                <a:cubicBezTo>
                  <a:pt x="194" y="520"/>
                  <a:pt x="192" y="523"/>
                  <a:pt x="190" y="527"/>
                </a:cubicBezTo>
                <a:cubicBezTo>
                  <a:pt x="195" y="529"/>
                  <a:pt x="195" y="529"/>
                  <a:pt x="195" y="529"/>
                </a:cubicBezTo>
                <a:cubicBezTo>
                  <a:pt x="197" y="526"/>
                  <a:pt x="199" y="523"/>
                  <a:pt x="201" y="519"/>
                </a:cubicBezTo>
                <a:lnTo>
                  <a:pt x="196" y="516"/>
                </a:lnTo>
                <a:close/>
                <a:moveTo>
                  <a:pt x="210" y="496"/>
                </a:moveTo>
                <a:cubicBezTo>
                  <a:pt x="207" y="500"/>
                  <a:pt x="205" y="503"/>
                  <a:pt x="203" y="506"/>
                </a:cubicBezTo>
                <a:cubicBezTo>
                  <a:pt x="207" y="509"/>
                  <a:pt x="207" y="509"/>
                  <a:pt x="207" y="509"/>
                </a:cubicBezTo>
                <a:cubicBezTo>
                  <a:pt x="210" y="506"/>
                  <a:pt x="212" y="503"/>
                  <a:pt x="214" y="499"/>
                </a:cubicBezTo>
                <a:lnTo>
                  <a:pt x="210" y="496"/>
                </a:lnTo>
                <a:close/>
                <a:moveTo>
                  <a:pt x="223" y="477"/>
                </a:moveTo>
                <a:cubicBezTo>
                  <a:pt x="221" y="480"/>
                  <a:pt x="219" y="483"/>
                  <a:pt x="216" y="486"/>
                </a:cubicBezTo>
                <a:cubicBezTo>
                  <a:pt x="221" y="490"/>
                  <a:pt x="221" y="490"/>
                  <a:pt x="221" y="490"/>
                </a:cubicBezTo>
                <a:cubicBezTo>
                  <a:pt x="223" y="486"/>
                  <a:pt x="225" y="483"/>
                  <a:pt x="228" y="480"/>
                </a:cubicBezTo>
                <a:lnTo>
                  <a:pt x="223" y="477"/>
                </a:lnTo>
                <a:close/>
                <a:moveTo>
                  <a:pt x="237" y="457"/>
                </a:moveTo>
                <a:cubicBezTo>
                  <a:pt x="235" y="460"/>
                  <a:pt x="232" y="464"/>
                  <a:pt x="230" y="467"/>
                </a:cubicBezTo>
                <a:cubicBezTo>
                  <a:pt x="234" y="470"/>
                  <a:pt x="234" y="470"/>
                  <a:pt x="234" y="470"/>
                </a:cubicBezTo>
                <a:cubicBezTo>
                  <a:pt x="237" y="467"/>
                  <a:pt x="239" y="464"/>
                  <a:pt x="241" y="460"/>
                </a:cubicBezTo>
                <a:lnTo>
                  <a:pt x="237" y="457"/>
                </a:lnTo>
                <a:close/>
                <a:moveTo>
                  <a:pt x="251" y="438"/>
                </a:moveTo>
                <a:cubicBezTo>
                  <a:pt x="249" y="441"/>
                  <a:pt x="247" y="444"/>
                  <a:pt x="244" y="448"/>
                </a:cubicBezTo>
                <a:cubicBezTo>
                  <a:pt x="249" y="451"/>
                  <a:pt x="249" y="451"/>
                  <a:pt x="249" y="451"/>
                </a:cubicBezTo>
                <a:cubicBezTo>
                  <a:pt x="251" y="448"/>
                  <a:pt x="253" y="444"/>
                  <a:pt x="256" y="441"/>
                </a:cubicBezTo>
                <a:lnTo>
                  <a:pt x="251" y="438"/>
                </a:lnTo>
                <a:close/>
                <a:moveTo>
                  <a:pt x="266" y="419"/>
                </a:moveTo>
                <a:cubicBezTo>
                  <a:pt x="264" y="422"/>
                  <a:pt x="261" y="425"/>
                  <a:pt x="259" y="429"/>
                </a:cubicBezTo>
                <a:cubicBezTo>
                  <a:pt x="263" y="432"/>
                  <a:pt x="263" y="432"/>
                  <a:pt x="263" y="432"/>
                </a:cubicBezTo>
                <a:cubicBezTo>
                  <a:pt x="265" y="429"/>
                  <a:pt x="268" y="426"/>
                  <a:pt x="270" y="422"/>
                </a:cubicBezTo>
                <a:lnTo>
                  <a:pt x="266" y="419"/>
                </a:lnTo>
                <a:close/>
                <a:moveTo>
                  <a:pt x="281" y="401"/>
                </a:moveTo>
                <a:cubicBezTo>
                  <a:pt x="279" y="404"/>
                  <a:pt x="276" y="407"/>
                  <a:pt x="274" y="410"/>
                </a:cubicBezTo>
                <a:cubicBezTo>
                  <a:pt x="278" y="413"/>
                  <a:pt x="278" y="413"/>
                  <a:pt x="278" y="413"/>
                </a:cubicBezTo>
                <a:cubicBezTo>
                  <a:pt x="280" y="410"/>
                  <a:pt x="283" y="407"/>
                  <a:pt x="285" y="404"/>
                </a:cubicBezTo>
                <a:lnTo>
                  <a:pt x="281" y="401"/>
                </a:lnTo>
                <a:close/>
                <a:moveTo>
                  <a:pt x="297" y="382"/>
                </a:moveTo>
                <a:cubicBezTo>
                  <a:pt x="294" y="385"/>
                  <a:pt x="292" y="388"/>
                  <a:pt x="289" y="391"/>
                </a:cubicBezTo>
                <a:cubicBezTo>
                  <a:pt x="293" y="395"/>
                  <a:pt x="293" y="395"/>
                  <a:pt x="293" y="395"/>
                </a:cubicBezTo>
                <a:cubicBezTo>
                  <a:pt x="296" y="392"/>
                  <a:pt x="298" y="389"/>
                  <a:pt x="301" y="386"/>
                </a:cubicBezTo>
                <a:lnTo>
                  <a:pt x="297" y="382"/>
                </a:lnTo>
                <a:close/>
                <a:moveTo>
                  <a:pt x="313" y="364"/>
                </a:moveTo>
                <a:cubicBezTo>
                  <a:pt x="310" y="367"/>
                  <a:pt x="307" y="370"/>
                  <a:pt x="305" y="373"/>
                </a:cubicBezTo>
                <a:cubicBezTo>
                  <a:pt x="309" y="377"/>
                  <a:pt x="309" y="377"/>
                  <a:pt x="309" y="377"/>
                </a:cubicBezTo>
                <a:cubicBezTo>
                  <a:pt x="311" y="374"/>
                  <a:pt x="314" y="371"/>
                  <a:pt x="317" y="368"/>
                </a:cubicBezTo>
                <a:lnTo>
                  <a:pt x="313" y="364"/>
                </a:lnTo>
                <a:close/>
                <a:moveTo>
                  <a:pt x="329" y="347"/>
                </a:moveTo>
                <a:cubicBezTo>
                  <a:pt x="326" y="350"/>
                  <a:pt x="324" y="353"/>
                  <a:pt x="321" y="355"/>
                </a:cubicBezTo>
                <a:cubicBezTo>
                  <a:pt x="325" y="359"/>
                  <a:pt x="325" y="359"/>
                  <a:pt x="325" y="359"/>
                </a:cubicBezTo>
                <a:cubicBezTo>
                  <a:pt x="328" y="356"/>
                  <a:pt x="330" y="353"/>
                  <a:pt x="333" y="350"/>
                </a:cubicBezTo>
                <a:lnTo>
                  <a:pt x="329" y="347"/>
                </a:lnTo>
                <a:close/>
                <a:moveTo>
                  <a:pt x="346" y="329"/>
                </a:moveTo>
                <a:cubicBezTo>
                  <a:pt x="343" y="332"/>
                  <a:pt x="340" y="335"/>
                  <a:pt x="337" y="338"/>
                </a:cubicBezTo>
                <a:cubicBezTo>
                  <a:pt x="341" y="342"/>
                  <a:pt x="341" y="342"/>
                  <a:pt x="341" y="342"/>
                </a:cubicBezTo>
                <a:cubicBezTo>
                  <a:pt x="344" y="339"/>
                  <a:pt x="347" y="336"/>
                  <a:pt x="350" y="333"/>
                </a:cubicBezTo>
                <a:lnTo>
                  <a:pt x="346" y="329"/>
                </a:lnTo>
                <a:close/>
                <a:moveTo>
                  <a:pt x="363" y="313"/>
                </a:moveTo>
                <a:cubicBezTo>
                  <a:pt x="360" y="315"/>
                  <a:pt x="357" y="318"/>
                  <a:pt x="354" y="321"/>
                </a:cubicBezTo>
                <a:cubicBezTo>
                  <a:pt x="358" y="325"/>
                  <a:pt x="358" y="325"/>
                  <a:pt x="358" y="325"/>
                </a:cubicBezTo>
                <a:cubicBezTo>
                  <a:pt x="361" y="322"/>
                  <a:pt x="364" y="319"/>
                  <a:pt x="367" y="316"/>
                </a:cubicBezTo>
                <a:lnTo>
                  <a:pt x="363" y="313"/>
                </a:lnTo>
                <a:close/>
                <a:moveTo>
                  <a:pt x="380" y="296"/>
                </a:moveTo>
                <a:cubicBezTo>
                  <a:pt x="377" y="299"/>
                  <a:pt x="374" y="301"/>
                  <a:pt x="372" y="304"/>
                </a:cubicBezTo>
                <a:cubicBezTo>
                  <a:pt x="375" y="308"/>
                  <a:pt x="375" y="308"/>
                  <a:pt x="375" y="308"/>
                </a:cubicBezTo>
                <a:cubicBezTo>
                  <a:pt x="378" y="305"/>
                  <a:pt x="381" y="303"/>
                  <a:pt x="384" y="300"/>
                </a:cubicBezTo>
                <a:lnTo>
                  <a:pt x="380" y="296"/>
                </a:lnTo>
                <a:close/>
                <a:moveTo>
                  <a:pt x="398" y="280"/>
                </a:moveTo>
                <a:cubicBezTo>
                  <a:pt x="395" y="282"/>
                  <a:pt x="392" y="285"/>
                  <a:pt x="389" y="288"/>
                </a:cubicBezTo>
                <a:cubicBezTo>
                  <a:pt x="393" y="292"/>
                  <a:pt x="393" y="292"/>
                  <a:pt x="393" y="292"/>
                </a:cubicBezTo>
                <a:cubicBezTo>
                  <a:pt x="396" y="289"/>
                  <a:pt x="399" y="286"/>
                  <a:pt x="402" y="284"/>
                </a:cubicBezTo>
                <a:lnTo>
                  <a:pt x="398" y="280"/>
                </a:lnTo>
                <a:close/>
                <a:moveTo>
                  <a:pt x="416" y="264"/>
                </a:moveTo>
                <a:cubicBezTo>
                  <a:pt x="413" y="267"/>
                  <a:pt x="410" y="269"/>
                  <a:pt x="407" y="272"/>
                </a:cubicBezTo>
                <a:cubicBezTo>
                  <a:pt x="411" y="276"/>
                  <a:pt x="411" y="276"/>
                  <a:pt x="411" y="276"/>
                </a:cubicBezTo>
                <a:cubicBezTo>
                  <a:pt x="414" y="273"/>
                  <a:pt x="417" y="271"/>
                  <a:pt x="420" y="268"/>
                </a:cubicBezTo>
                <a:lnTo>
                  <a:pt x="416" y="264"/>
                </a:lnTo>
                <a:close/>
                <a:moveTo>
                  <a:pt x="435" y="249"/>
                </a:moveTo>
                <a:cubicBezTo>
                  <a:pt x="432" y="251"/>
                  <a:pt x="428" y="254"/>
                  <a:pt x="425" y="256"/>
                </a:cubicBezTo>
                <a:cubicBezTo>
                  <a:pt x="429" y="260"/>
                  <a:pt x="429" y="260"/>
                  <a:pt x="429" y="260"/>
                </a:cubicBezTo>
                <a:cubicBezTo>
                  <a:pt x="432" y="258"/>
                  <a:pt x="435" y="255"/>
                  <a:pt x="438" y="253"/>
                </a:cubicBezTo>
                <a:lnTo>
                  <a:pt x="435" y="249"/>
                </a:lnTo>
                <a:close/>
                <a:moveTo>
                  <a:pt x="453" y="234"/>
                </a:moveTo>
                <a:cubicBezTo>
                  <a:pt x="450" y="236"/>
                  <a:pt x="447" y="239"/>
                  <a:pt x="444" y="241"/>
                </a:cubicBezTo>
                <a:cubicBezTo>
                  <a:pt x="447" y="245"/>
                  <a:pt x="447" y="245"/>
                  <a:pt x="447" y="245"/>
                </a:cubicBezTo>
                <a:cubicBezTo>
                  <a:pt x="451" y="243"/>
                  <a:pt x="454" y="240"/>
                  <a:pt x="457" y="238"/>
                </a:cubicBezTo>
                <a:lnTo>
                  <a:pt x="453" y="234"/>
                </a:lnTo>
                <a:close/>
                <a:moveTo>
                  <a:pt x="473" y="219"/>
                </a:moveTo>
                <a:cubicBezTo>
                  <a:pt x="469" y="221"/>
                  <a:pt x="466" y="224"/>
                  <a:pt x="463" y="226"/>
                </a:cubicBezTo>
                <a:cubicBezTo>
                  <a:pt x="466" y="231"/>
                  <a:pt x="466" y="231"/>
                  <a:pt x="466" y="231"/>
                </a:cubicBezTo>
                <a:cubicBezTo>
                  <a:pt x="469" y="228"/>
                  <a:pt x="473" y="226"/>
                  <a:pt x="476" y="223"/>
                </a:cubicBezTo>
                <a:lnTo>
                  <a:pt x="473" y="219"/>
                </a:lnTo>
                <a:close/>
                <a:moveTo>
                  <a:pt x="492" y="205"/>
                </a:moveTo>
                <a:cubicBezTo>
                  <a:pt x="489" y="207"/>
                  <a:pt x="486" y="210"/>
                  <a:pt x="482" y="212"/>
                </a:cubicBezTo>
                <a:cubicBezTo>
                  <a:pt x="485" y="216"/>
                  <a:pt x="485" y="216"/>
                  <a:pt x="485" y="216"/>
                </a:cubicBezTo>
                <a:cubicBezTo>
                  <a:pt x="489" y="214"/>
                  <a:pt x="492" y="212"/>
                  <a:pt x="495" y="209"/>
                </a:cubicBezTo>
                <a:lnTo>
                  <a:pt x="492" y="205"/>
                </a:lnTo>
                <a:close/>
                <a:moveTo>
                  <a:pt x="512" y="191"/>
                </a:moveTo>
                <a:cubicBezTo>
                  <a:pt x="509" y="193"/>
                  <a:pt x="505" y="196"/>
                  <a:pt x="502" y="198"/>
                </a:cubicBezTo>
                <a:cubicBezTo>
                  <a:pt x="505" y="202"/>
                  <a:pt x="505" y="202"/>
                  <a:pt x="505" y="202"/>
                </a:cubicBezTo>
                <a:cubicBezTo>
                  <a:pt x="508" y="200"/>
                  <a:pt x="512" y="198"/>
                  <a:pt x="515" y="196"/>
                </a:cubicBezTo>
                <a:lnTo>
                  <a:pt x="512" y="191"/>
                </a:lnTo>
                <a:close/>
                <a:moveTo>
                  <a:pt x="532" y="178"/>
                </a:moveTo>
                <a:cubicBezTo>
                  <a:pt x="529" y="180"/>
                  <a:pt x="525" y="182"/>
                  <a:pt x="522" y="184"/>
                </a:cubicBezTo>
                <a:cubicBezTo>
                  <a:pt x="525" y="189"/>
                  <a:pt x="525" y="189"/>
                  <a:pt x="525" y="189"/>
                </a:cubicBezTo>
                <a:cubicBezTo>
                  <a:pt x="528" y="187"/>
                  <a:pt x="531" y="184"/>
                  <a:pt x="535" y="182"/>
                </a:cubicBezTo>
                <a:lnTo>
                  <a:pt x="532" y="178"/>
                </a:lnTo>
                <a:close/>
                <a:moveTo>
                  <a:pt x="552" y="165"/>
                </a:moveTo>
                <a:cubicBezTo>
                  <a:pt x="549" y="167"/>
                  <a:pt x="545" y="169"/>
                  <a:pt x="542" y="171"/>
                </a:cubicBezTo>
                <a:cubicBezTo>
                  <a:pt x="545" y="176"/>
                  <a:pt x="545" y="176"/>
                  <a:pt x="545" y="176"/>
                </a:cubicBezTo>
                <a:cubicBezTo>
                  <a:pt x="548" y="174"/>
                  <a:pt x="552" y="172"/>
                  <a:pt x="555" y="169"/>
                </a:cubicBezTo>
                <a:cubicBezTo>
                  <a:pt x="552" y="165"/>
                  <a:pt x="552" y="165"/>
                  <a:pt x="552" y="165"/>
                </a:cubicBezTo>
                <a:close/>
                <a:moveTo>
                  <a:pt x="573" y="152"/>
                </a:moveTo>
                <a:cubicBezTo>
                  <a:pt x="569" y="155"/>
                  <a:pt x="566" y="157"/>
                  <a:pt x="563" y="159"/>
                </a:cubicBezTo>
                <a:cubicBezTo>
                  <a:pt x="565" y="163"/>
                  <a:pt x="565" y="163"/>
                  <a:pt x="565" y="163"/>
                </a:cubicBezTo>
                <a:cubicBezTo>
                  <a:pt x="569" y="161"/>
                  <a:pt x="572" y="159"/>
                  <a:pt x="576" y="157"/>
                </a:cubicBezTo>
                <a:lnTo>
                  <a:pt x="573" y="152"/>
                </a:lnTo>
                <a:close/>
                <a:moveTo>
                  <a:pt x="594" y="141"/>
                </a:moveTo>
                <a:cubicBezTo>
                  <a:pt x="590" y="142"/>
                  <a:pt x="587" y="144"/>
                  <a:pt x="583" y="146"/>
                </a:cubicBezTo>
                <a:cubicBezTo>
                  <a:pt x="586" y="151"/>
                  <a:pt x="586" y="151"/>
                  <a:pt x="586" y="151"/>
                </a:cubicBezTo>
                <a:cubicBezTo>
                  <a:pt x="590" y="149"/>
                  <a:pt x="593" y="147"/>
                  <a:pt x="597" y="145"/>
                </a:cubicBezTo>
                <a:lnTo>
                  <a:pt x="594" y="141"/>
                </a:lnTo>
                <a:close/>
                <a:moveTo>
                  <a:pt x="615" y="129"/>
                </a:moveTo>
                <a:cubicBezTo>
                  <a:pt x="612" y="131"/>
                  <a:pt x="608" y="133"/>
                  <a:pt x="604" y="135"/>
                </a:cubicBezTo>
                <a:cubicBezTo>
                  <a:pt x="607" y="139"/>
                  <a:pt x="607" y="139"/>
                  <a:pt x="607" y="139"/>
                </a:cubicBezTo>
                <a:cubicBezTo>
                  <a:pt x="611" y="137"/>
                  <a:pt x="614" y="136"/>
                  <a:pt x="618" y="134"/>
                </a:cubicBezTo>
                <a:lnTo>
                  <a:pt x="615" y="129"/>
                </a:lnTo>
                <a:close/>
                <a:moveTo>
                  <a:pt x="637" y="118"/>
                </a:moveTo>
                <a:cubicBezTo>
                  <a:pt x="633" y="120"/>
                  <a:pt x="629" y="122"/>
                  <a:pt x="626" y="123"/>
                </a:cubicBezTo>
                <a:cubicBezTo>
                  <a:pt x="628" y="128"/>
                  <a:pt x="628" y="128"/>
                  <a:pt x="628" y="128"/>
                </a:cubicBezTo>
                <a:cubicBezTo>
                  <a:pt x="632" y="126"/>
                  <a:pt x="635" y="125"/>
                  <a:pt x="639" y="123"/>
                </a:cubicBezTo>
                <a:lnTo>
                  <a:pt x="637" y="118"/>
                </a:lnTo>
                <a:close/>
                <a:moveTo>
                  <a:pt x="658" y="107"/>
                </a:moveTo>
                <a:cubicBezTo>
                  <a:pt x="655" y="109"/>
                  <a:pt x="651" y="111"/>
                  <a:pt x="647" y="113"/>
                </a:cubicBezTo>
                <a:cubicBezTo>
                  <a:pt x="650" y="117"/>
                  <a:pt x="650" y="117"/>
                  <a:pt x="650" y="117"/>
                </a:cubicBezTo>
                <a:cubicBezTo>
                  <a:pt x="653" y="116"/>
                  <a:pt x="657" y="114"/>
                  <a:pt x="661" y="112"/>
                </a:cubicBezTo>
                <a:lnTo>
                  <a:pt x="658" y="107"/>
                </a:lnTo>
                <a:close/>
                <a:moveTo>
                  <a:pt x="680" y="97"/>
                </a:moveTo>
                <a:cubicBezTo>
                  <a:pt x="677" y="99"/>
                  <a:pt x="673" y="101"/>
                  <a:pt x="669" y="102"/>
                </a:cubicBezTo>
                <a:cubicBezTo>
                  <a:pt x="671" y="107"/>
                  <a:pt x="671" y="107"/>
                  <a:pt x="671" y="107"/>
                </a:cubicBezTo>
                <a:cubicBezTo>
                  <a:pt x="675" y="105"/>
                  <a:pt x="679" y="104"/>
                  <a:pt x="682" y="102"/>
                </a:cubicBezTo>
                <a:lnTo>
                  <a:pt x="680" y="97"/>
                </a:lnTo>
                <a:close/>
                <a:moveTo>
                  <a:pt x="702" y="88"/>
                </a:moveTo>
                <a:cubicBezTo>
                  <a:pt x="699" y="89"/>
                  <a:pt x="695" y="91"/>
                  <a:pt x="691" y="92"/>
                </a:cubicBezTo>
                <a:cubicBezTo>
                  <a:pt x="693" y="97"/>
                  <a:pt x="693" y="97"/>
                  <a:pt x="693" y="97"/>
                </a:cubicBezTo>
                <a:cubicBezTo>
                  <a:pt x="697" y="96"/>
                  <a:pt x="701" y="94"/>
                  <a:pt x="704" y="93"/>
                </a:cubicBezTo>
                <a:lnTo>
                  <a:pt x="702" y="88"/>
                </a:lnTo>
                <a:close/>
                <a:moveTo>
                  <a:pt x="725" y="79"/>
                </a:moveTo>
                <a:cubicBezTo>
                  <a:pt x="721" y="80"/>
                  <a:pt x="717" y="82"/>
                  <a:pt x="713" y="83"/>
                </a:cubicBezTo>
                <a:cubicBezTo>
                  <a:pt x="715" y="88"/>
                  <a:pt x="715" y="88"/>
                  <a:pt x="715" y="88"/>
                </a:cubicBezTo>
                <a:cubicBezTo>
                  <a:pt x="719" y="87"/>
                  <a:pt x="723" y="85"/>
                  <a:pt x="727" y="84"/>
                </a:cubicBezTo>
                <a:lnTo>
                  <a:pt x="725" y="79"/>
                </a:lnTo>
                <a:close/>
                <a:moveTo>
                  <a:pt x="747" y="70"/>
                </a:moveTo>
                <a:cubicBezTo>
                  <a:pt x="743" y="71"/>
                  <a:pt x="740" y="73"/>
                  <a:pt x="736" y="74"/>
                </a:cubicBezTo>
                <a:cubicBezTo>
                  <a:pt x="738" y="79"/>
                  <a:pt x="738" y="79"/>
                  <a:pt x="738" y="79"/>
                </a:cubicBezTo>
                <a:cubicBezTo>
                  <a:pt x="741" y="78"/>
                  <a:pt x="745" y="76"/>
                  <a:pt x="749" y="75"/>
                </a:cubicBezTo>
                <a:lnTo>
                  <a:pt x="747" y="70"/>
                </a:lnTo>
                <a:close/>
                <a:moveTo>
                  <a:pt x="770" y="62"/>
                </a:moveTo>
                <a:cubicBezTo>
                  <a:pt x="766" y="63"/>
                  <a:pt x="762" y="65"/>
                  <a:pt x="758" y="66"/>
                </a:cubicBezTo>
                <a:cubicBezTo>
                  <a:pt x="760" y="71"/>
                  <a:pt x="760" y="71"/>
                  <a:pt x="760" y="71"/>
                </a:cubicBezTo>
                <a:cubicBezTo>
                  <a:pt x="764" y="70"/>
                  <a:pt x="768" y="68"/>
                  <a:pt x="771" y="67"/>
                </a:cubicBezTo>
                <a:lnTo>
                  <a:pt x="770" y="62"/>
                </a:lnTo>
                <a:close/>
                <a:moveTo>
                  <a:pt x="793" y="54"/>
                </a:moveTo>
                <a:cubicBezTo>
                  <a:pt x="789" y="56"/>
                  <a:pt x="785" y="57"/>
                  <a:pt x="781" y="58"/>
                </a:cubicBezTo>
                <a:cubicBezTo>
                  <a:pt x="783" y="63"/>
                  <a:pt x="783" y="63"/>
                  <a:pt x="783" y="63"/>
                </a:cubicBezTo>
                <a:cubicBezTo>
                  <a:pt x="787" y="62"/>
                  <a:pt x="790" y="61"/>
                  <a:pt x="794" y="60"/>
                </a:cubicBezTo>
                <a:lnTo>
                  <a:pt x="793" y="54"/>
                </a:lnTo>
                <a:close/>
                <a:moveTo>
                  <a:pt x="815" y="47"/>
                </a:moveTo>
                <a:cubicBezTo>
                  <a:pt x="812" y="48"/>
                  <a:pt x="808" y="50"/>
                  <a:pt x="804" y="51"/>
                </a:cubicBezTo>
                <a:cubicBezTo>
                  <a:pt x="806" y="56"/>
                  <a:pt x="806" y="56"/>
                  <a:pt x="806" y="56"/>
                </a:cubicBezTo>
                <a:cubicBezTo>
                  <a:pt x="809" y="55"/>
                  <a:pt x="813" y="54"/>
                  <a:pt x="817" y="52"/>
                </a:cubicBezTo>
                <a:lnTo>
                  <a:pt x="815" y="47"/>
                </a:lnTo>
                <a:close/>
                <a:moveTo>
                  <a:pt x="839" y="41"/>
                </a:moveTo>
                <a:cubicBezTo>
                  <a:pt x="835" y="42"/>
                  <a:pt x="831" y="43"/>
                  <a:pt x="827" y="44"/>
                </a:cubicBezTo>
                <a:cubicBezTo>
                  <a:pt x="829" y="49"/>
                  <a:pt x="829" y="49"/>
                  <a:pt x="829" y="49"/>
                </a:cubicBezTo>
                <a:cubicBezTo>
                  <a:pt x="832" y="48"/>
                  <a:pt x="836" y="47"/>
                  <a:pt x="840" y="46"/>
                </a:cubicBezTo>
                <a:lnTo>
                  <a:pt x="839" y="41"/>
                </a:lnTo>
                <a:close/>
                <a:moveTo>
                  <a:pt x="862" y="35"/>
                </a:moveTo>
                <a:cubicBezTo>
                  <a:pt x="858" y="36"/>
                  <a:pt x="854" y="37"/>
                  <a:pt x="850" y="38"/>
                </a:cubicBezTo>
                <a:cubicBezTo>
                  <a:pt x="852" y="43"/>
                  <a:pt x="852" y="43"/>
                  <a:pt x="852" y="43"/>
                </a:cubicBezTo>
                <a:cubicBezTo>
                  <a:pt x="855" y="42"/>
                  <a:pt x="859" y="41"/>
                  <a:pt x="863" y="40"/>
                </a:cubicBezTo>
                <a:lnTo>
                  <a:pt x="862" y="35"/>
                </a:lnTo>
                <a:close/>
                <a:moveTo>
                  <a:pt x="885" y="29"/>
                </a:moveTo>
                <a:cubicBezTo>
                  <a:pt x="881" y="30"/>
                  <a:pt x="877" y="31"/>
                  <a:pt x="874" y="32"/>
                </a:cubicBezTo>
                <a:cubicBezTo>
                  <a:pt x="875" y="37"/>
                  <a:pt x="875" y="37"/>
                  <a:pt x="875" y="37"/>
                </a:cubicBezTo>
                <a:cubicBezTo>
                  <a:pt x="879" y="36"/>
                  <a:pt x="883" y="35"/>
                  <a:pt x="886" y="34"/>
                </a:cubicBezTo>
                <a:lnTo>
                  <a:pt x="885" y="29"/>
                </a:lnTo>
                <a:close/>
                <a:moveTo>
                  <a:pt x="909" y="24"/>
                </a:moveTo>
                <a:cubicBezTo>
                  <a:pt x="905" y="25"/>
                  <a:pt x="901" y="26"/>
                  <a:pt x="897" y="26"/>
                </a:cubicBezTo>
                <a:cubicBezTo>
                  <a:pt x="898" y="32"/>
                  <a:pt x="898" y="32"/>
                  <a:pt x="898" y="32"/>
                </a:cubicBezTo>
                <a:cubicBezTo>
                  <a:pt x="902" y="31"/>
                  <a:pt x="906" y="30"/>
                  <a:pt x="910" y="29"/>
                </a:cubicBezTo>
                <a:lnTo>
                  <a:pt x="909" y="24"/>
                </a:lnTo>
                <a:close/>
                <a:moveTo>
                  <a:pt x="932" y="19"/>
                </a:moveTo>
                <a:cubicBezTo>
                  <a:pt x="928" y="20"/>
                  <a:pt x="925" y="21"/>
                  <a:pt x="921" y="22"/>
                </a:cubicBezTo>
                <a:cubicBezTo>
                  <a:pt x="922" y="27"/>
                  <a:pt x="922" y="27"/>
                  <a:pt x="922" y="27"/>
                </a:cubicBezTo>
                <a:cubicBezTo>
                  <a:pt x="926" y="26"/>
                  <a:pt x="929" y="25"/>
                  <a:pt x="933" y="25"/>
                </a:cubicBezTo>
                <a:lnTo>
                  <a:pt x="932" y="19"/>
                </a:lnTo>
                <a:close/>
                <a:moveTo>
                  <a:pt x="956" y="15"/>
                </a:moveTo>
                <a:cubicBezTo>
                  <a:pt x="952" y="16"/>
                  <a:pt x="948" y="17"/>
                  <a:pt x="944" y="17"/>
                </a:cubicBezTo>
                <a:cubicBezTo>
                  <a:pt x="945" y="23"/>
                  <a:pt x="945" y="23"/>
                  <a:pt x="945" y="23"/>
                </a:cubicBezTo>
                <a:cubicBezTo>
                  <a:pt x="949" y="22"/>
                  <a:pt x="953" y="21"/>
                  <a:pt x="957" y="21"/>
                </a:cubicBezTo>
                <a:lnTo>
                  <a:pt x="956" y="15"/>
                </a:lnTo>
                <a:close/>
                <a:moveTo>
                  <a:pt x="980" y="12"/>
                </a:moveTo>
                <a:cubicBezTo>
                  <a:pt x="976" y="12"/>
                  <a:pt x="972" y="13"/>
                  <a:pt x="968" y="13"/>
                </a:cubicBezTo>
                <a:cubicBezTo>
                  <a:pt x="969" y="19"/>
                  <a:pt x="969" y="19"/>
                  <a:pt x="969" y="19"/>
                </a:cubicBezTo>
                <a:cubicBezTo>
                  <a:pt x="973" y="18"/>
                  <a:pt x="977" y="18"/>
                  <a:pt x="981" y="17"/>
                </a:cubicBezTo>
                <a:lnTo>
                  <a:pt x="980" y="12"/>
                </a:lnTo>
                <a:close/>
                <a:moveTo>
                  <a:pt x="1004" y="9"/>
                </a:moveTo>
                <a:cubicBezTo>
                  <a:pt x="1000" y="9"/>
                  <a:pt x="996" y="10"/>
                  <a:pt x="992" y="10"/>
                </a:cubicBezTo>
                <a:cubicBezTo>
                  <a:pt x="993" y="15"/>
                  <a:pt x="993" y="15"/>
                  <a:pt x="993" y="15"/>
                </a:cubicBezTo>
                <a:cubicBezTo>
                  <a:pt x="996" y="15"/>
                  <a:pt x="1000" y="14"/>
                  <a:pt x="1004" y="14"/>
                </a:cubicBezTo>
                <a:lnTo>
                  <a:pt x="1004" y="9"/>
                </a:lnTo>
                <a:close/>
                <a:moveTo>
                  <a:pt x="1028" y="6"/>
                </a:moveTo>
                <a:cubicBezTo>
                  <a:pt x="1024" y="6"/>
                  <a:pt x="1020" y="7"/>
                  <a:pt x="1016" y="7"/>
                </a:cubicBezTo>
                <a:cubicBezTo>
                  <a:pt x="1016" y="13"/>
                  <a:pt x="1016" y="13"/>
                  <a:pt x="1016" y="13"/>
                </a:cubicBezTo>
                <a:cubicBezTo>
                  <a:pt x="1020" y="12"/>
                  <a:pt x="1024" y="12"/>
                  <a:pt x="1028" y="11"/>
                </a:cubicBezTo>
                <a:lnTo>
                  <a:pt x="1028" y="6"/>
                </a:lnTo>
                <a:close/>
                <a:moveTo>
                  <a:pt x="1052" y="4"/>
                </a:moveTo>
                <a:cubicBezTo>
                  <a:pt x="1048" y="4"/>
                  <a:pt x="1044" y="5"/>
                  <a:pt x="1040" y="5"/>
                </a:cubicBezTo>
                <a:cubicBezTo>
                  <a:pt x="1040" y="10"/>
                  <a:pt x="1040" y="10"/>
                  <a:pt x="1040" y="10"/>
                </a:cubicBezTo>
                <a:cubicBezTo>
                  <a:pt x="1044" y="10"/>
                  <a:pt x="1048" y="10"/>
                  <a:pt x="1052" y="9"/>
                </a:cubicBezTo>
                <a:lnTo>
                  <a:pt x="1052" y="4"/>
                </a:lnTo>
                <a:close/>
                <a:moveTo>
                  <a:pt x="1076" y="2"/>
                </a:moveTo>
                <a:cubicBezTo>
                  <a:pt x="1072" y="2"/>
                  <a:pt x="1068" y="3"/>
                  <a:pt x="1064" y="3"/>
                </a:cubicBezTo>
                <a:cubicBezTo>
                  <a:pt x="1064" y="8"/>
                  <a:pt x="1064" y="8"/>
                  <a:pt x="1064" y="8"/>
                </a:cubicBezTo>
                <a:cubicBezTo>
                  <a:pt x="1068" y="8"/>
                  <a:pt x="1072" y="8"/>
                  <a:pt x="1076" y="8"/>
                </a:cubicBezTo>
                <a:lnTo>
                  <a:pt x="1076" y="2"/>
                </a:lnTo>
                <a:close/>
                <a:moveTo>
                  <a:pt x="1100" y="1"/>
                </a:moveTo>
                <a:cubicBezTo>
                  <a:pt x="1096" y="1"/>
                  <a:pt x="1092" y="1"/>
                  <a:pt x="1088" y="2"/>
                </a:cubicBezTo>
                <a:cubicBezTo>
                  <a:pt x="1088" y="7"/>
                  <a:pt x="1088" y="7"/>
                  <a:pt x="1088" y="7"/>
                </a:cubicBezTo>
                <a:cubicBezTo>
                  <a:pt x="1092" y="7"/>
                  <a:pt x="1096" y="7"/>
                  <a:pt x="1100" y="6"/>
                </a:cubicBezTo>
                <a:lnTo>
                  <a:pt x="1100" y="1"/>
                </a:lnTo>
                <a:close/>
                <a:moveTo>
                  <a:pt x="1124" y="0"/>
                </a:moveTo>
                <a:cubicBezTo>
                  <a:pt x="1120" y="1"/>
                  <a:pt x="1116" y="1"/>
                  <a:pt x="1112" y="1"/>
                </a:cubicBezTo>
                <a:cubicBezTo>
                  <a:pt x="1112" y="6"/>
                  <a:pt x="1112" y="6"/>
                  <a:pt x="1112" y="6"/>
                </a:cubicBezTo>
                <a:cubicBezTo>
                  <a:pt x="1116" y="6"/>
                  <a:pt x="1120" y="6"/>
                  <a:pt x="1124" y="6"/>
                </a:cubicBezTo>
                <a:cubicBezTo>
                  <a:pt x="1124" y="0"/>
                  <a:pt x="1124" y="0"/>
                  <a:pt x="1124" y="0"/>
                </a:cubicBezTo>
                <a:close/>
                <a:moveTo>
                  <a:pt x="1148" y="0"/>
                </a:moveTo>
                <a:cubicBezTo>
                  <a:pt x="1147" y="0"/>
                  <a:pt x="1146" y="0"/>
                  <a:pt x="1145" y="0"/>
                </a:cubicBezTo>
                <a:cubicBezTo>
                  <a:pt x="1142" y="0"/>
                  <a:pt x="1139" y="0"/>
                  <a:pt x="1136" y="0"/>
                </a:cubicBezTo>
                <a:cubicBezTo>
                  <a:pt x="1136" y="6"/>
                  <a:pt x="1136" y="6"/>
                  <a:pt x="1136" y="6"/>
                </a:cubicBezTo>
                <a:cubicBezTo>
                  <a:pt x="1139" y="6"/>
                  <a:pt x="1142" y="6"/>
                  <a:pt x="1145" y="6"/>
                </a:cubicBezTo>
                <a:cubicBezTo>
                  <a:pt x="1146" y="6"/>
                  <a:pt x="1147" y="6"/>
                  <a:pt x="1148" y="6"/>
                </a:cubicBezTo>
                <a:lnTo>
                  <a:pt x="1148" y="0"/>
                </a:lnTo>
                <a:close/>
                <a:moveTo>
                  <a:pt x="1172" y="1"/>
                </a:moveTo>
                <a:cubicBezTo>
                  <a:pt x="1168" y="0"/>
                  <a:pt x="1164" y="0"/>
                  <a:pt x="1160" y="0"/>
                </a:cubicBezTo>
                <a:cubicBezTo>
                  <a:pt x="1160" y="6"/>
                  <a:pt x="1160" y="6"/>
                  <a:pt x="1160" y="6"/>
                </a:cubicBezTo>
                <a:cubicBezTo>
                  <a:pt x="1164" y="6"/>
                  <a:pt x="1168" y="6"/>
                  <a:pt x="1172" y="6"/>
                </a:cubicBezTo>
                <a:lnTo>
                  <a:pt x="1172" y="1"/>
                </a:lnTo>
                <a:close/>
                <a:moveTo>
                  <a:pt x="1196" y="1"/>
                </a:moveTo>
                <a:cubicBezTo>
                  <a:pt x="1192" y="1"/>
                  <a:pt x="1188" y="1"/>
                  <a:pt x="1184" y="1"/>
                </a:cubicBezTo>
                <a:cubicBezTo>
                  <a:pt x="1184" y="6"/>
                  <a:pt x="1184" y="6"/>
                  <a:pt x="1184" y="6"/>
                </a:cubicBezTo>
                <a:cubicBezTo>
                  <a:pt x="1188" y="6"/>
                  <a:pt x="1192" y="6"/>
                  <a:pt x="1196" y="7"/>
                </a:cubicBezTo>
                <a:lnTo>
                  <a:pt x="1196" y="1"/>
                </a:lnTo>
                <a:close/>
                <a:moveTo>
                  <a:pt x="1220" y="3"/>
                </a:moveTo>
                <a:cubicBezTo>
                  <a:pt x="1216" y="2"/>
                  <a:pt x="1212" y="2"/>
                  <a:pt x="1208" y="2"/>
                </a:cubicBezTo>
                <a:cubicBezTo>
                  <a:pt x="1208" y="7"/>
                  <a:pt x="1208" y="7"/>
                  <a:pt x="1208" y="7"/>
                </a:cubicBezTo>
                <a:cubicBezTo>
                  <a:pt x="1212" y="7"/>
                  <a:pt x="1215" y="8"/>
                  <a:pt x="1219" y="8"/>
                </a:cubicBezTo>
                <a:lnTo>
                  <a:pt x="1220" y="3"/>
                </a:lnTo>
                <a:close/>
                <a:moveTo>
                  <a:pt x="1244" y="4"/>
                </a:moveTo>
                <a:cubicBezTo>
                  <a:pt x="1240" y="4"/>
                  <a:pt x="1236" y="4"/>
                  <a:pt x="1232" y="3"/>
                </a:cubicBezTo>
                <a:cubicBezTo>
                  <a:pt x="1231" y="9"/>
                  <a:pt x="1231" y="9"/>
                  <a:pt x="1231" y="9"/>
                </a:cubicBezTo>
                <a:cubicBezTo>
                  <a:pt x="1235" y="9"/>
                  <a:pt x="1239" y="9"/>
                  <a:pt x="1243" y="10"/>
                </a:cubicBezTo>
                <a:lnTo>
                  <a:pt x="1244" y="4"/>
                </a:lnTo>
                <a:close/>
                <a:moveTo>
                  <a:pt x="1268" y="6"/>
                </a:moveTo>
                <a:cubicBezTo>
                  <a:pt x="1264" y="6"/>
                  <a:pt x="1260" y="6"/>
                  <a:pt x="1256" y="5"/>
                </a:cubicBezTo>
                <a:cubicBezTo>
                  <a:pt x="1255" y="11"/>
                  <a:pt x="1255" y="11"/>
                  <a:pt x="1255" y="11"/>
                </a:cubicBezTo>
                <a:cubicBezTo>
                  <a:pt x="1259" y="11"/>
                  <a:pt x="1263" y="11"/>
                  <a:pt x="1267" y="12"/>
                </a:cubicBezTo>
                <a:lnTo>
                  <a:pt x="1268" y="6"/>
                </a:lnTo>
                <a:close/>
                <a:moveTo>
                  <a:pt x="1292" y="9"/>
                </a:moveTo>
                <a:cubicBezTo>
                  <a:pt x="1288" y="9"/>
                  <a:pt x="1284" y="8"/>
                  <a:pt x="1280" y="8"/>
                </a:cubicBezTo>
                <a:cubicBezTo>
                  <a:pt x="1279" y="13"/>
                  <a:pt x="1279" y="13"/>
                  <a:pt x="1279" y="13"/>
                </a:cubicBezTo>
                <a:cubicBezTo>
                  <a:pt x="1283" y="14"/>
                  <a:pt x="1287" y="14"/>
                  <a:pt x="1291" y="14"/>
                </a:cubicBezTo>
                <a:lnTo>
                  <a:pt x="1292" y="9"/>
                </a:lnTo>
                <a:close/>
                <a:moveTo>
                  <a:pt x="1315" y="12"/>
                </a:moveTo>
                <a:cubicBezTo>
                  <a:pt x="1312" y="12"/>
                  <a:pt x="1308" y="11"/>
                  <a:pt x="1304" y="11"/>
                </a:cubicBezTo>
                <a:cubicBezTo>
                  <a:pt x="1303" y="16"/>
                  <a:pt x="1303" y="16"/>
                  <a:pt x="1303" y="16"/>
                </a:cubicBezTo>
                <a:cubicBezTo>
                  <a:pt x="1307" y="17"/>
                  <a:pt x="1311" y="17"/>
                  <a:pt x="1315" y="18"/>
                </a:cubicBezTo>
                <a:lnTo>
                  <a:pt x="1315" y="12"/>
                </a:lnTo>
                <a:close/>
                <a:moveTo>
                  <a:pt x="1339" y="16"/>
                </a:moveTo>
                <a:cubicBezTo>
                  <a:pt x="1335" y="15"/>
                  <a:pt x="1331" y="15"/>
                  <a:pt x="1327" y="14"/>
                </a:cubicBezTo>
                <a:cubicBezTo>
                  <a:pt x="1327" y="19"/>
                  <a:pt x="1327" y="19"/>
                  <a:pt x="1327" y="19"/>
                </a:cubicBezTo>
                <a:cubicBezTo>
                  <a:pt x="1330" y="20"/>
                  <a:pt x="1334" y="21"/>
                  <a:pt x="1338" y="21"/>
                </a:cubicBezTo>
                <a:lnTo>
                  <a:pt x="1339" y="16"/>
                </a:lnTo>
                <a:close/>
                <a:moveTo>
                  <a:pt x="1363" y="20"/>
                </a:moveTo>
                <a:cubicBezTo>
                  <a:pt x="1359" y="19"/>
                  <a:pt x="1355" y="19"/>
                  <a:pt x="1351" y="18"/>
                </a:cubicBezTo>
                <a:cubicBezTo>
                  <a:pt x="1350" y="23"/>
                  <a:pt x="1350" y="23"/>
                  <a:pt x="1350" y="23"/>
                </a:cubicBezTo>
                <a:cubicBezTo>
                  <a:pt x="1354" y="24"/>
                  <a:pt x="1358" y="25"/>
                  <a:pt x="1362" y="25"/>
                </a:cubicBezTo>
                <a:cubicBezTo>
                  <a:pt x="1363" y="20"/>
                  <a:pt x="1363" y="20"/>
                  <a:pt x="1363" y="20"/>
                </a:cubicBezTo>
                <a:close/>
                <a:moveTo>
                  <a:pt x="1387" y="25"/>
                </a:moveTo>
                <a:cubicBezTo>
                  <a:pt x="1383" y="24"/>
                  <a:pt x="1379" y="23"/>
                  <a:pt x="1375" y="23"/>
                </a:cubicBezTo>
                <a:cubicBezTo>
                  <a:pt x="1374" y="28"/>
                  <a:pt x="1374" y="28"/>
                  <a:pt x="1374" y="28"/>
                </a:cubicBezTo>
                <a:cubicBezTo>
                  <a:pt x="1378" y="29"/>
                  <a:pt x="1382" y="29"/>
                  <a:pt x="1385" y="30"/>
                </a:cubicBezTo>
                <a:lnTo>
                  <a:pt x="1387" y="25"/>
                </a:lnTo>
                <a:close/>
                <a:moveTo>
                  <a:pt x="1410" y="30"/>
                </a:moveTo>
                <a:cubicBezTo>
                  <a:pt x="1406" y="29"/>
                  <a:pt x="1402" y="28"/>
                  <a:pt x="1398" y="27"/>
                </a:cubicBezTo>
                <a:cubicBezTo>
                  <a:pt x="1397" y="33"/>
                  <a:pt x="1397" y="33"/>
                  <a:pt x="1397" y="33"/>
                </a:cubicBezTo>
                <a:cubicBezTo>
                  <a:pt x="1401" y="34"/>
                  <a:pt x="1405" y="34"/>
                  <a:pt x="1409" y="35"/>
                </a:cubicBezTo>
                <a:lnTo>
                  <a:pt x="1410" y="30"/>
                </a:lnTo>
                <a:close/>
                <a:moveTo>
                  <a:pt x="1433" y="36"/>
                </a:moveTo>
                <a:cubicBezTo>
                  <a:pt x="1429" y="35"/>
                  <a:pt x="1426" y="34"/>
                  <a:pt x="1422" y="33"/>
                </a:cubicBezTo>
                <a:cubicBezTo>
                  <a:pt x="1420" y="38"/>
                  <a:pt x="1420" y="38"/>
                  <a:pt x="1420" y="38"/>
                </a:cubicBezTo>
                <a:cubicBezTo>
                  <a:pt x="1424" y="39"/>
                  <a:pt x="1428" y="40"/>
                  <a:pt x="1432" y="41"/>
                </a:cubicBezTo>
                <a:lnTo>
                  <a:pt x="1433" y="36"/>
                </a:lnTo>
                <a:close/>
                <a:moveTo>
                  <a:pt x="1457" y="42"/>
                </a:moveTo>
                <a:cubicBezTo>
                  <a:pt x="1453" y="41"/>
                  <a:pt x="1449" y="40"/>
                  <a:pt x="1445" y="39"/>
                </a:cubicBezTo>
                <a:cubicBezTo>
                  <a:pt x="1444" y="44"/>
                  <a:pt x="1444" y="44"/>
                  <a:pt x="1444" y="44"/>
                </a:cubicBezTo>
                <a:cubicBezTo>
                  <a:pt x="1447" y="45"/>
                  <a:pt x="1451" y="46"/>
                  <a:pt x="1455" y="47"/>
                </a:cubicBezTo>
                <a:lnTo>
                  <a:pt x="1457" y="42"/>
                </a:lnTo>
                <a:close/>
                <a:moveTo>
                  <a:pt x="1480" y="49"/>
                </a:moveTo>
                <a:cubicBezTo>
                  <a:pt x="1476" y="48"/>
                  <a:pt x="1472" y="46"/>
                  <a:pt x="1468" y="45"/>
                </a:cubicBezTo>
                <a:cubicBezTo>
                  <a:pt x="1467" y="50"/>
                  <a:pt x="1467" y="50"/>
                  <a:pt x="1467" y="50"/>
                </a:cubicBezTo>
                <a:cubicBezTo>
                  <a:pt x="1471" y="52"/>
                  <a:pt x="1474" y="53"/>
                  <a:pt x="1478" y="54"/>
                </a:cubicBezTo>
                <a:lnTo>
                  <a:pt x="1480" y="49"/>
                </a:lnTo>
                <a:close/>
                <a:moveTo>
                  <a:pt x="1503" y="56"/>
                </a:moveTo>
                <a:cubicBezTo>
                  <a:pt x="1499" y="55"/>
                  <a:pt x="1495" y="53"/>
                  <a:pt x="1491" y="52"/>
                </a:cubicBezTo>
                <a:cubicBezTo>
                  <a:pt x="1490" y="57"/>
                  <a:pt x="1490" y="57"/>
                  <a:pt x="1490" y="57"/>
                </a:cubicBezTo>
                <a:cubicBezTo>
                  <a:pt x="1493" y="59"/>
                  <a:pt x="1497" y="60"/>
                  <a:pt x="1501" y="61"/>
                </a:cubicBezTo>
                <a:lnTo>
                  <a:pt x="1503" y="56"/>
                </a:lnTo>
                <a:close/>
                <a:moveTo>
                  <a:pt x="1525" y="64"/>
                </a:moveTo>
                <a:cubicBezTo>
                  <a:pt x="1522" y="62"/>
                  <a:pt x="1518" y="61"/>
                  <a:pt x="1514" y="60"/>
                </a:cubicBezTo>
                <a:cubicBezTo>
                  <a:pt x="1512" y="65"/>
                  <a:pt x="1512" y="65"/>
                  <a:pt x="1512" y="65"/>
                </a:cubicBezTo>
                <a:cubicBezTo>
                  <a:pt x="1516" y="66"/>
                  <a:pt x="1520" y="67"/>
                  <a:pt x="1524" y="69"/>
                </a:cubicBezTo>
                <a:lnTo>
                  <a:pt x="1525" y="64"/>
                </a:lnTo>
                <a:close/>
                <a:moveTo>
                  <a:pt x="1548" y="72"/>
                </a:moveTo>
                <a:cubicBezTo>
                  <a:pt x="1544" y="70"/>
                  <a:pt x="1541" y="69"/>
                  <a:pt x="1537" y="68"/>
                </a:cubicBezTo>
                <a:cubicBezTo>
                  <a:pt x="1535" y="73"/>
                  <a:pt x="1535" y="73"/>
                  <a:pt x="1535" y="73"/>
                </a:cubicBezTo>
                <a:cubicBezTo>
                  <a:pt x="1539" y="74"/>
                  <a:pt x="1542" y="75"/>
                  <a:pt x="1546" y="77"/>
                </a:cubicBezTo>
                <a:lnTo>
                  <a:pt x="1548" y="72"/>
                </a:lnTo>
                <a:close/>
                <a:moveTo>
                  <a:pt x="1571" y="80"/>
                </a:moveTo>
                <a:cubicBezTo>
                  <a:pt x="1567" y="79"/>
                  <a:pt x="1563" y="77"/>
                  <a:pt x="1559" y="76"/>
                </a:cubicBezTo>
                <a:cubicBezTo>
                  <a:pt x="1557" y="81"/>
                  <a:pt x="1557" y="81"/>
                  <a:pt x="1557" y="81"/>
                </a:cubicBezTo>
                <a:cubicBezTo>
                  <a:pt x="1561" y="82"/>
                  <a:pt x="1565" y="84"/>
                  <a:pt x="1569" y="85"/>
                </a:cubicBezTo>
                <a:lnTo>
                  <a:pt x="1571" y="80"/>
                </a:lnTo>
                <a:close/>
                <a:moveTo>
                  <a:pt x="1593" y="90"/>
                </a:moveTo>
                <a:cubicBezTo>
                  <a:pt x="1589" y="88"/>
                  <a:pt x="1585" y="86"/>
                  <a:pt x="1582" y="85"/>
                </a:cubicBezTo>
                <a:cubicBezTo>
                  <a:pt x="1580" y="90"/>
                  <a:pt x="1580" y="90"/>
                  <a:pt x="1580" y="90"/>
                </a:cubicBezTo>
                <a:cubicBezTo>
                  <a:pt x="1583" y="91"/>
                  <a:pt x="1587" y="93"/>
                  <a:pt x="1591" y="95"/>
                </a:cubicBezTo>
                <a:lnTo>
                  <a:pt x="1593" y="90"/>
                </a:lnTo>
                <a:close/>
                <a:moveTo>
                  <a:pt x="1615" y="99"/>
                </a:moveTo>
                <a:cubicBezTo>
                  <a:pt x="1611" y="98"/>
                  <a:pt x="1607" y="96"/>
                  <a:pt x="1604" y="94"/>
                </a:cubicBezTo>
                <a:cubicBezTo>
                  <a:pt x="1602" y="99"/>
                  <a:pt x="1602" y="99"/>
                  <a:pt x="1602" y="99"/>
                </a:cubicBezTo>
                <a:cubicBezTo>
                  <a:pt x="1605" y="101"/>
                  <a:pt x="1609" y="103"/>
                  <a:pt x="1613" y="104"/>
                </a:cubicBezTo>
                <a:lnTo>
                  <a:pt x="1615" y="99"/>
                </a:lnTo>
                <a:close/>
                <a:moveTo>
                  <a:pt x="1637" y="109"/>
                </a:moveTo>
                <a:cubicBezTo>
                  <a:pt x="1633" y="108"/>
                  <a:pt x="1629" y="106"/>
                  <a:pt x="1626" y="104"/>
                </a:cubicBezTo>
                <a:cubicBezTo>
                  <a:pt x="1623" y="109"/>
                  <a:pt x="1623" y="109"/>
                  <a:pt x="1623" y="109"/>
                </a:cubicBezTo>
                <a:cubicBezTo>
                  <a:pt x="1627" y="111"/>
                  <a:pt x="1631" y="113"/>
                  <a:pt x="1634" y="114"/>
                </a:cubicBezTo>
                <a:lnTo>
                  <a:pt x="1637" y="109"/>
                </a:lnTo>
                <a:close/>
                <a:moveTo>
                  <a:pt x="1658" y="120"/>
                </a:moveTo>
                <a:cubicBezTo>
                  <a:pt x="1655" y="118"/>
                  <a:pt x="1651" y="116"/>
                  <a:pt x="1647" y="115"/>
                </a:cubicBezTo>
                <a:cubicBezTo>
                  <a:pt x="1645" y="119"/>
                  <a:pt x="1645" y="119"/>
                  <a:pt x="1645" y="119"/>
                </a:cubicBezTo>
                <a:cubicBezTo>
                  <a:pt x="1649" y="121"/>
                  <a:pt x="1652" y="123"/>
                  <a:pt x="1656" y="125"/>
                </a:cubicBezTo>
                <a:lnTo>
                  <a:pt x="1658" y="120"/>
                </a:lnTo>
                <a:close/>
                <a:moveTo>
                  <a:pt x="1680" y="131"/>
                </a:moveTo>
                <a:cubicBezTo>
                  <a:pt x="1676" y="129"/>
                  <a:pt x="1672" y="127"/>
                  <a:pt x="1669" y="126"/>
                </a:cubicBezTo>
                <a:cubicBezTo>
                  <a:pt x="1666" y="130"/>
                  <a:pt x="1666" y="130"/>
                  <a:pt x="1666" y="130"/>
                </a:cubicBezTo>
                <a:cubicBezTo>
                  <a:pt x="1670" y="132"/>
                  <a:pt x="1673" y="134"/>
                  <a:pt x="1677" y="136"/>
                </a:cubicBezTo>
                <a:lnTo>
                  <a:pt x="1680" y="131"/>
                </a:lnTo>
                <a:close/>
                <a:moveTo>
                  <a:pt x="1701" y="143"/>
                </a:moveTo>
                <a:cubicBezTo>
                  <a:pt x="1697" y="141"/>
                  <a:pt x="1694" y="139"/>
                  <a:pt x="1690" y="137"/>
                </a:cubicBezTo>
                <a:cubicBezTo>
                  <a:pt x="1688" y="142"/>
                  <a:pt x="1688" y="142"/>
                  <a:pt x="1688" y="142"/>
                </a:cubicBezTo>
                <a:cubicBezTo>
                  <a:pt x="1691" y="143"/>
                  <a:pt x="1695" y="145"/>
                  <a:pt x="1698" y="147"/>
                </a:cubicBezTo>
                <a:lnTo>
                  <a:pt x="1701" y="143"/>
                </a:lnTo>
                <a:close/>
                <a:moveTo>
                  <a:pt x="1721" y="155"/>
                </a:moveTo>
                <a:cubicBezTo>
                  <a:pt x="1718" y="153"/>
                  <a:pt x="1715" y="151"/>
                  <a:pt x="1711" y="149"/>
                </a:cubicBezTo>
                <a:cubicBezTo>
                  <a:pt x="1708" y="153"/>
                  <a:pt x="1708" y="153"/>
                  <a:pt x="1708" y="153"/>
                </a:cubicBezTo>
                <a:cubicBezTo>
                  <a:pt x="1712" y="155"/>
                  <a:pt x="1715" y="157"/>
                  <a:pt x="1719" y="159"/>
                </a:cubicBezTo>
                <a:lnTo>
                  <a:pt x="1721" y="155"/>
                </a:lnTo>
                <a:close/>
                <a:moveTo>
                  <a:pt x="1742" y="167"/>
                </a:moveTo>
                <a:cubicBezTo>
                  <a:pt x="1738" y="165"/>
                  <a:pt x="1735" y="163"/>
                  <a:pt x="1732" y="161"/>
                </a:cubicBezTo>
                <a:cubicBezTo>
                  <a:pt x="1729" y="165"/>
                  <a:pt x="1729" y="165"/>
                  <a:pt x="1729" y="165"/>
                </a:cubicBezTo>
                <a:cubicBezTo>
                  <a:pt x="1732" y="167"/>
                  <a:pt x="1736" y="170"/>
                  <a:pt x="1739" y="172"/>
                </a:cubicBezTo>
                <a:lnTo>
                  <a:pt x="1742" y="167"/>
                </a:lnTo>
                <a:close/>
                <a:moveTo>
                  <a:pt x="1762" y="180"/>
                </a:moveTo>
                <a:cubicBezTo>
                  <a:pt x="1759" y="178"/>
                  <a:pt x="1755" y="176"/>
                  <a:pt x="1752" y="174"/>
                </a:cubicBezTo>
                <a:cubicBezTo>
                  <a:pt x="1749" y="178"/>
                  <a:pt x="1749" y="178"/>
                  <a:pt x="1749" y="178"/>
                </a:cubicBezTo>
                <a:cubicBezTo>
                  <a:pt x="1752" y="180"/>
                  <a:pt x="1756" y="182"/>
                  <a:pt x="1759" y="184"/>
                </a:cubicBezTo>
                <a:lnTo>
                  <a:pt x="1762" y="180"/>
                </a:lnTo>
                <a:close/>
                <a:moveTo>
                  <a:pt x="1782" y="193"/>
                </a:moveTo>
                <a:cubicBezTo>
                  <a:pt x="1779" y="191"/>
                  <a:pt x="1775" y="189"/>
                  <a:pt x="1772" y="187"/>
                </a:cubicBezTo>
                <a:cubicBezTo>
                  <a:pt x="1769" y="191"/>
                  <a:pt x="1769" y="191"/>
                  <a:pt x="1769" y="191"/>
                </a:cubicBezTo>
                <a:cubicBezTo>
                  <a:pt x="1772" y="193"/>
                  <a:pt x="1776" y="196"/>
                  <a:pt x="1779" y="198"/>
                </a:cubicBezTo>
                <a:cubicBezTo>
                  <a:pt x="1782" y="193"/>
                  <a:pt x="1782" y="193"/>
                  <a:pt x="1782" y="193"/>
                </a:cubicBezTo>
                <a:close/>
                <a:moveTo>
                  <a:pt x="1802" y="207"/>
                </a:moveTo>
                <a:cubicBezTo>
                  <a:pt x="1798" y="205"/>
                  <a:pt x="1795" y="202"/>
                  <a:pt x="1792" y="200"/>
                </a:cubicBezTo>
                <a:cubicBezTo>
                  <a:pt x="1789" y="205"/>
                  <a:pt x="1789" y="205"/>
                  <a:pt x="1789" y="205"/>
                </a:cubicBezTo>
                <a:cubicBezTo>
                  <a:pt x="1792" y="207"/>
                  <a:pt x="1795" y="209"/>
                  <a:pt x="1799" y="211"/>
                </a:cubicBezTo>
                <a:lnTo>
                  <a:pt x="1802" y="207"/>
                </a:lnTo>
                <a:close/>
                <a:moveTo>
                  <a:pt x="1821" y="221"/>
                </a:moveTo>
                <a:cubicBezTo>
                  <a:pt x="1818" y="219"/>
                  <a:pt x="1815" y="217"/>
                  <a:pt x="1811" y="214"/>
                </a:cubicBezTo>
                <a:cubicBezTo>
                  <a:pt x="1808" y="218"/>
                  <a:pt x="1808" y="218"/>
                  <a:pt x="1808" y="218"/>
                </a:cubicBezTo>
                <a:cubicBezTo>
                  <a:pt x="1811" y="221"/>
                  <a:pt x="1815" y="223"/>
                  <a:pt x="1818" y="226"/>
                </a:cubicBezTo>
                <a:lnTo>
                  <a:pt x="1821" y="221"/>
                </a:lnTo>
                <a:close/>
                <a:moveTo>
                  <a:pt x="1840" y="236"/>
                </a:moveTo>
                <a:cubicBezTo>
                  <a:pt x="1837" y="233"/>
                  <a:pt x="1834" y="231"/>
                  <a:pt x="1831" y="229"/>
                </a:cubicBezTo>
                <a:cubicBezTo>
                  <a:pt x="1827" y="233"/>
                  <a:pt x="1827" y="233"/>
                  <a:pt x="1827" y="233"/>
                </a:cubicBezTo>
                <a:cubicBezTo>
                  <a:pt x="1830" y="235"/>
                  <a:pt x="1834" y="238"/>
                  <a:pt x="1837" y="240"/>
                </a:cubicBezTo>
                <a:lnTo>
                  <a:pt x="1840" y="236"/>
                </a:lnTo>
                <a:close/>
                <a:moveTo>
                  <a:pt x="1859" y="251"/>
                </a:moveTo>
                <a:cubicBezTo>
                  <a:pt x="1856" y="248"/>
                  <a:pt x="1853" y="246"/>
                  <a:pt x="1849" y="243"/>
                </a:cubicBezTo>
                <a:cubicBezTo>
                  <a:pt x="1846" y="248"/>
                  <a:pt x="1846" y="248"/>
                  <a:pt x="1846" y="248"/>
                </a:cubicBezTo>
                <a:cubicBezTo>
                  <a:pt x="1849" y="250"/>
                  <a:pt x="1852" y="253"/>
                  <a:pt x="1855" y="255"/>
                </a:cubicBezTo>
                <a:lnTo>
                  <a:pt x="1859" y="251"/>
                </a:lnTo>
                <a:close/>
                <a:moveTo>
                  <a:pt x="1877" y="266"/>
                </a:moveTo>
                <a:cubicBezTo>
                  <a:pt x="1874" y="264"/>
                  <a:pt x="1871" y="261"/>
                  <a:pt x="1868" y="259"/>
                </a:cubicBezTo>
                <a:cubicBezTo>
                  <a:pt x="1865" y="263"/>
                  <a:pt x="1865" y="263"/>
                  <a:pt x="1865" y="263"/>
                </a:cubicBezTo>
                <a:cubicBezTo>
                  <a:pt x="1868" y="265"/>
                  <a:pt x="1871" y="268"/>
                  <a:pt x="1874" y="270"/>
                </a:cubicBezTo>
                <a:lnTo>
                  <a:pt x="1877" y="266"/>
                </a:lnTo>
                <a:close/>
                <a:moveTo>
                  <a:pt x="1895" y="282"/>
                </a:moveTo>
                <a:cubicBezTo>
                  <a:pt x="1892" y="280"/>
                  <a:pt x="1889" y="277"/>
                  <a:pt x="1886" y="274"/>
                </a:cubicBezTo>
                <a:cubicBezTo>
                  <a:pt x="1883" y="278"/>
                  <a:pt x="1883" y="278"/>
                  <a:pt x="1883" y="278"/>
                </a:cubicBezTo>
                <a:cubicBezTo>
                  <a:pt x="1886" y="281"/>
                  <a:pt x="1889" y="284"/>
                  <a:pt x="1892" y="286"/>
                </a:cubicBezTo>
                <a:lnTo>
                  <a:pt x="1895" y="282"/>
                </a:lnTo>
                <a:close/>
                <a:moveTo>
                  <a:pt x="1913" y="299"/>
                </a:moveTo>
                <a:cubicBezTo>
                  <a:pt x="1910" y="296"/>
                  <a:pt x="1907" y="293"/>
                  <a:pt x="1904" y="290"/>
                </a:cubicBezTo>
                <a:cubicBezTo>
                  <a:pt x="1901" y="294"/>
                  <a:pt x="1901" y="294"/>
                  <a:pt x="1901" y="294"/>
                </a:cubicBezTo>
                <a:cubicBezTo>
                  <a:pt x="1904" y="297"/>
                  <a:pt x="1906" y="300"/>
                  <a:pt x="1909" y="302"/>
                </a:cubicBezTo>
                <a:lnTo>
                  <a:pt x="1913" y="299"/>
                </a:lnTo>
                <a:close/>
                <a:moveTo>
                  <a:pt x="1930" y="315"/>
                </a:moveTo>
                <a:cubicBezTo>
                  <a:pt x="1928" y="312"/>
                  <a:pt x="1925" y="310"/>
                  <a:pt x="1922" y="307"/>
                </a:cubicBezTo>
                <a:cubicBezTo>
                  <a:pt x="1918" y="311"/>
                  <a:pt x="1918" y="311"/>
                  <a:pt x="1918" y="311"/>
                </a:cubicBezTo>
                <a:cubicBezTo>
                  <a:pt x="1921" y="313"/>
                  <a:pt x="1924" y="316"/>
                  <a:pt x="1927" y="319"/>
                </a:cubicBezTo>
                <a:lnTo>
                  <a:pt x="1930" y="315"/>
                </a:lnTo>
                <a:close/>
                <a:moveTo>
                  <a:pt x="1947" y="332"/>
                </a:moveTo>
                <a:cubicBezTo>
                  <a:pt x="1945" y="329"/>
                  <a:pt x="1942" y="326"/>
                  <a:pt x="1939" y="324"/>
                </a:cubicBezTo>
                <a:cubicBezTo>
                  <a:pt x="1935" y="327"/>
                  <a:pt x="1935" y="327"/>
                  <a:pt x="1935" y="327"/>
                </a:cubicBezTo>
                <a:cubicBezTo>
                  <a:pt x="1938" y="330"/>
                  <a:pt x="1941" y="333"/>
                  <a:pt x="1944" y="336"/>
                </a:cubicBezTo>
                <a:cubicBezTo>
                  <a:pt x="1947" y="332"/>
                  <a:pt x="1947" y="332"/>
                  <a:pt x="1947" y="332"/>
                </a:cubicBezTo>
                <a:close/>
                <a:moveTo>
                  <a:pt x="1964" y="350"/>
                </a:moveTo>
                <a:cubicBezTo>
                  <a:pt x="1961" y="347"/>
                  <a:pt x="1959" y="344"/>
                  <a:pt x="1956" y="341"/>
                </a:cubicBezTo>
                <a:cubicBezTo>
                  <a:pt x="1952" y="344"/>
                  <a:pt x="1952" y="344"/>
                  <a:pt x="1952" y="344"/>
                </a:cubicBezTo>
                <a:cubicBezTo>
                  <a:pt x="1955" y="347"/>
                  <a:pt x="1957" y="350"/>
                  <a:pt x="1960" y="353"/>
                </a:cubicBezTo>
                <a:lnTo>
                  <a:pt x="1964" y="350"/>
                </a:lnTo>
                <a:close/>
                <a:moveTo>
                  <a:pt x="1980" y="367"/>
                </a:moveTo>
                <a:cubicBezTo>
                  <a:pt x="1978" y="364"/>
                  <a:pt x="1975" y="361"/>
                  <a:pt x="1972" y="358"/>
                </a:cubicBezTo>
                <a:cubicBezTo>
                  <a:pt x="1968" y="362"/>
                  <a:pt x="1968" y="362"/>
                  <a:pt x="1968" y="362"/>
                </a:cubicBezTo>
                <a:cubicBezTo>
                  <a:pt x="1971" y="365"/>
                  <a:pt x="1974" y="368"/>
                  <a:pt x="1976" y="371"/>
                </a:cubicBezTo>
                <a:lnTo>
                  <a:pt x="1980" y="367"/>
                </a:lnTo>
                <a:close/>
                <a:moveTo>
                  <a:pt x="1996" y="385"/>
                </a:moveTo>
                <a:cubicBezTo>
                  <a:pt x="1994" y="382"/>
                  <a:pt x="1991" y="379"/>
                  <a:pt x="1988" y="376"/>
                </a:cubicBezTo>
                <a:cubicBezTo>
                  <a:pt x="1984" y="380"/>
                  <a:pt x="1984" y="380"/>
                  <a:pt x="1984" y="380"/>
                </a:cubicBezTo>
                <a:cubicBezTo>
                  <a:pt x="1987" y="383"/>
                  <a:pt x="1990" y="386"/>
                  <a:pt x="1992" y="389"/>
                </a:cubicBezTo>
                <a:lnTo>
                  <a:pt x="1996" y="385"/>
                </a:lnTo>
                <a:close/>
                <a:moveTo>
                  <a:pt x="2012" y="404"/>
                </a:moveTo>
                <a:cubicBezTo>
                  <a:pt x="2009" y="401"/>
                  <a:pt x="2007" y="398"/>
                  <a:pt x="2004" y="394"/>
                </a:cubicBezTo>
                <a:cubicBezTo>
                  <a:pt x="2000" y="398"/>
                  <a:pt x="2000" y="398"/>
                  <a:pt x="2000" y="398"/>
                </a:cubicBezTo>
                <a:cubicBezTo>
                  <a:pt x="2003" y="401"/>
                  <a:pt x="2005" y="404"/>
                  <a:pt x="2008" y="407"/>
                </a:cubicBezTo>
                <a:lnTo>
                  <a:pt x="2012" y="404"/>
                </a:lnTo>
                <a:close/>
                <a:moveTo>
                  <a:pt x="2027" y="422"/>
                </a:moveTo>
                <a:cubicBezTo>
                  <a:pt x="2025" y="419"/>
                  <a:pt x="2022" y="416"/>
                  <a:pt x="2020" y="413"/>
                </a:cubicBezTo>
                <a:cubicBezTo>
                  <a:pt x="2015" y="416"/>
                  <a:pt x="2015" y="416"/>
                  <a:pt x="2015" y="416"/>
                </a:cubicBezTo>
                <a:cubicBezTo>
                  <a:pt x="2018" y="420"/>
                  <a:pt x="2020" y="423"/>
                  <a:pt x="2023" y="426"/>
                </a:cubicBezTo>
                <a:lnTo>
                  <a:pt x="2027" y="422"/>
                </a:lnTo>
                <a:close/>
                <a:moveTo>
                  <a:pt x="2042" y="441"/>
                </a:moveTo>
                <a:cubicBezTo>
                  <a:pt x="2039" y="438"/>
                  <a:pt x="2037" y="435"/>
                  <a:pt x="2034" y="432"/>
                </a:cubicBezTo>
                <a:cubicBezTo>
                  <a:pt x="2030" y="435"/>
                  <a:pt x="2030" y="435"/>
                  <a:pt x="2030" y="435"/>
                </a:cubicBezTo>
                <a:cubicBezTo>
                  <a:pt x="2033" y="438"/>
                  <a:pt x="2035" y="442"/>
                  <a:pt x="2038" y="445"/>
                </a:cubicBezTo>
                <a:lnTo>
                  <a:pt x="2042" y="441"/>
                </a:lnTo>
                <a:close/>
                <a:moveTo>
                  <a:pt x="2056" y="461"/>
                </a:moveTo>
                <a:cubicBezTo>
                  <a:pt x="2054" y="458"/>
                  <a:pt x="2051" y="454"/>
                  <a:pt x="2049" y="451"/>
                </a:cubicBezTo>
                <a:cubicBezTo>
                  <a:pt x="2045" y="454"/>
                  <a:pt x="2045" y="454"/>
                  <a:pt x="2045" y="454"/>
                </a:cubicBezTo>
                <a:cubicBezTo>
                  <a:pt x="2047" y="458"/>
                  <a:pt x="2050" y="461"/>
                  <a:pt x="2052" y="464"/>
                </a:cubicBezTo>
                <a:lnTo>
                  <a:pt x="2056" y="461"/>
                </a:lnTo>
                <a:close/>
                <a:moveTo>
                  <a:pt x="2070" y="481"/>
                </a:moveTo>
                <a:cubicBezTo>
                  <a:pt x="2068" y="477"/>
                  <a:pt x="2066" y="474"/>
                  <a:pt x="2063" y="471"/>
                </a:cubicBezTo>
                <a:cubicBezTo>
                  <a:pt x="2059" y="474"/>
                  <a:pt x="2059" y="474"/>
                  <a:pt x="2059" y="474"/>
                </a:cubicBezTo>
                <a:cubicBezTo>
                  <a:pt x="2061" y="477"/>
                  <a:pt x="2063" y="480"/>
                  <a:pt x="2066" y="484"/>
                </a:cubicBezTo>
                <a:lnTo>
                  <a:pt x="2070" y="481"/>
                </a:lnTo>
                <a:close/>
                <a:moveTo>
                  <a:pt x="2084" y="500"/>
                </a:moveTo>
                <a:cubicBezTo>
                  <a:pt x="2082" y="497"/>
                  <a:pt x="2079" y="494"/>
                  <a:pt x="2077" y="490"/>
                </a:cubicBezTo>
                <a:cubicBezTo>
                  <a:pt x="2073" y="493"/>
                  <a:pt x="2073" y="493"/>
                  <a:pt x="2073" y="493"/>
                </a:cubicBezTo>
                <a:cubicBezTo>
                  <a:pt x="2075" y="497"/>
                  <a:pt x="2077" y="500"/>
                  <a:pt x="2079" y="503"/>
                </a:cubicBezTo>
                <a:lnTo>
                  <a:pt x="2084" y="500"/>
                </a:lnTo>
                <a:close/>
                <a:moveTo>
                  <a:pt x="2097" y="521"/>
                </a:moveTo>
                <a:cubicBezTo>
                  <a:pt x="2095" y="517"/>
                  <a:pt x="2093" y="514"/>
                  <a:pt x="2090" y="511"/>
                </a:cubicBezTo>
                <a:cubicBezTo>
                  <a:pt x="2086" y="513"/>
                  <a:pt x="2086" y="513"/>
                  <a:pt x="2086" y="513"/>
                </a:cubicBezTo>
                <a:cubicBezTo>
                  <a:pt x="2088" y="517"/>
                  <a:pt x="2090" y="520"/>
                  <a:pt x="2092" y="524"/>
                </a:cubicBezTo>
                <a:lnTo>
                  <a:pt x="2097" y="521"/>
                </a:lnTo>
                <a:close/>
                <a:moveTo>
                  <a:pt x="2110" y="541"/>
                </a:moveTo>
                <a:cubicBezTo>
                  <a:pt x="2108" y="538"/>
                  <a:pt x="2105" y="534"/>
                  <a:pt x="2103" y="531"/>
                </a:cubicBezTo>
                <a:cubicBezTo>
                  <a:pt x="2099" y="534"/>
                  <a:pt x="2099" y="534"/>
                  <a:pt x="2099" y="534"/>
                </a:cubicBezTo>
                <a:cubicBezTo>
                  <a:pt x="2101" y="537"/>
                  <a:pt x="2103" y="541"/>
                  <a:pt x="2105" y="544"/>
                </a:cubicBezTo>
                <a:lnTo>
                  <a:pt x="2110" y="541"/>
                </a:lnTo>
                <a:close/>
                <a:moveTo>
                  <a:pt x="2122" y="562"/>
                </a:moveTo>
                <a:cubicBezTo>
                  <a:pt x="2120" y="558"/>
                  <a:pt x="2118" y="555"/>
                  <a:pt x="2116" y="552"/>
                </a:cubicBezTo>
                <a:cubicBezTo>
                  <a:pt x="2111" y="554"/>
                  <a:pt x="2111" y="554"/>
                  <a:pt x="2111" y="554"/>
                </a:cubicBezTo>
                <a:cubicBezTo>
                  <a:pt x="2113" y="558"/>
                  <a:pt x="2115" y="561"/>
                  <a:pt x="2117" y="565"/>
                </a:cubicBezTo>
                <a:lnTo>
                  <a:pt x="2122" y="562"/>
                </a:lnTo>
                <a:close/>
                <a:moveTo>
                  <a:pt x="2134" y="583"/>
                </a:moveTo>
                <a:cubicBezTo>
                  <a:pt x="2132" y="579"/>
                  <a:pt x="2130" y="576"/>
                  <a:pt x="2128" y="572"/>
                </a:cubicBezTo>
                <a:cubicBezTo>
                  <a:pt x="2123" y="575"/>
                  <a:pt x="2123" y="575"/>
                  <a:pt x="2123" y="575"/>
                </a:cubicBezTo>
                <a:cubicBezTo>
                  <a:pt x="2125" y="579"/>
                  <a:pt x="2127" y="582"/>
                  <a:pt x="2129" y="586"/>
                </a:cubicBezTo>
                <a:lnTo>
                  <a:pt x="2134" y="583"/>
                </a:lnTo>
                <a:close/>
                <a:moveTo>
                  <a:pt x="2145" y="604"/>
                </a:moveTo>
                <a:cubicBezTo>
                  <a:pt x="2143" y="601"/>
                  <a:pt x="2142" y="597"/>
                  <a:pt x="2140" y="594"/>
                </a:cubicBezTo>
                <a:cubicBezTo>
                  <a:pt x="2135" y="596"/>
                  <a:pt x="2135" y="596"/>
                  <a:pt x="2135" y="596"/>
                </a:cubicBezTo>
                <a:cubicBezTo>
                  <a:pt x="2137" y="600"/>
                  <a:pt x="2139" y="603"/>
                  <a:pt x="2141" y="607"/>
                </a:cubicBezTo>
                <a:lnTo>
                  <a:pt x="2145" y="604"/>
                </a:lnTo>
                <a:close/>
                <a:moveTo>
                  <a:pt x="2156" y="626"/>
                </a:moveTo>
                <a:cubicBezTo>
                  <a:pt x="2155" y="622"/>
                  <a:pt x="2153" y="618"/>
                  <a:pt x="2151" y="615"/>
                </a:cubicBezTo>
                <a:cubicBezTo>
                  <a:pt x="2146" y="617"/>
                  <a:pt x="2146" y="617"/>
                  <a:pt x="2146" y="617"/>
                </a:cubicBezTo>
                <a:cubicBezTo>
                  <a:pt x="2148" y="621"/>
                  <a:pt x="2150" y="624"/>
                  <a:pt x="2152" y="628"/>
                </a:cubicBezTo>
                <a:lnTo>
                  <a:pt x="2156" y="626"/>
                </a:lnTo>
                <a:close/>
                <a:moveTo>
                  <a:pt x="2167" y="647"/>
                </a:moveTo>
                <a:cubicBezTo>
                  <a:pt x="2165" y="644"/>
                  <a:pt x="2164" y="640"/>
                  <a:pt x="2162" y="636"/>
                </a:cubicBezTo>
                <a:cubicBezTo>
                  <a:pt x="2157" y="639"/>
                  <a:pt x="2157" y="639"/>
                  <a:pt x="2157" y="639"/>
                </a:cubicBezTo>
                <a:cubicBezTo>
                  <a:pt x="2159" y="642"/>
                  <a:pt x="2160" y="646"/>
                  <a:pt x="2162" y="650"/>
                </a:cubicBezTo>
                <a:lnTo>
                  <a:pt x="2167" y="647"/>
                </a:lnTo>
                <a:close/>
                <a:moveTo>
                  <a:pt x="2177" y="669"/>
                </a:moveTo>
                <a:cubicBezTo>
                  <a:pt x="2175" y="665"/>
                  <a:pt x="2174" y="662"/>
                  <a:pt x="2172" y="658"/>
                </a:cubicBezTo>
                <a:cubicBezTo>
                  <a:pt x="2167" y="660"/>
                  <a:pt x="2167" y="660"/>
                  <a:pt x="2167" y="660"/>
                </a:cubicBezTo>
                <a:cubicBezTo>
                  <a:pt x="2169" y="664"/>
                  <a:pt x="2171" y="668"/>
                  <a:pt x="2172" y="671"/>
                </a:cubicBezTo>
                <a:cubicBezTo>
                  <a:pt x="2177" y="669"/>
                  <a:pt x="2177" y="669"/>
                  <a:pt x="2177" y="669"/>
                </a:cubicBezTo>
                <a:close/>
                <a:moveTo>
                  <a:pt x="2187" y="691"/>
                </a:moveTo>
                <a:cubicBezTo>
                  <a:pt x="2185" y="687"/>
                  <a:pt x="2184" y="684"/>
                  <a:pt x="2182" y="680"/>
                </a:cubicBezTo>
                <a:cubicBezTo>
                  <a:pt x="2177" y="682"/>
                  <a:pt x="2177" y="682"/>
                  <a:pt x="2177" y="682"/>
                </a:cubicBezTo>
                <a:cubicBezTo>
                  <a:pt x="2179" y="686"/>
                  <a:pt x="2180" y="689"/>
                  <a:pt x="2182" y="693"/>
                </a:cubicBezTo>
                <a:cubicBezTo>
                  <a:pt x="2187" y="691"/>
                  <a:pt x="2187" y="691"/>
                  <a:pt x="2187" y="691"/>
                </a:cubicBezTo>
                <a:close/>
                <a:moveTo>
                  <a:pt x="2196" y="713"/>
                </a:moveTo>
                <a:cubicBezTo>
                  <a:pt x="2195" y="709"/>
                  <a:pt x="2193" y="706"/>
                  <a:pt x="2192" y="702"/>
                </a:cubicBezTo>
                <a:cubicBezTo>
                  <a:pt x="2187" y="704"/>
                  <a:pt x="2187" y="704"/>
                  <a:pt x="2187" y="704"/>
                </a:cubicBezTo>
                <a:cubicBezTo>
                  <a:pt x="2188" y="708"/>
                  <a:pt x="2190" y="712"/>
                  <a:pt x="2191" y="715"/>
                </a:cubicBezTo>
                <a:lnTo>
                  <a:pt x="2196" y="713"/>
                </a:lnTo>
                <a:close/>
                <a:moveTo>
                  <a:pt x="2205" y="736"/>
                </a:moveTo>
                <a:cubicBezTo>
                  <a:pt x="2204" y="732"/>
                  <a:pt x="2202" y="728"/>
                  <a:pt x="2201" y="724"/>
                </a:cubicBezTo>
                <a:cubicBezTo>
                  <a:pt x="2196" y="726"/>
                  <a:pt x="2196" y="726"/>
                  <a:pt x="2196" y="726"/>
                </a:cubicBezTo>
                <a:cubicBezTo>
                  <a:pt x="2197" y="730"/>
                  <a:pt x="2199" y="734"/>
                  <a:pt x="2200" y="737"/>
                </a:cubicBezTo>
                <a:lnTo>
                  <a:pt x="2205" y="736"/>
                </a:lnTo>
                <a:close/>
                <a:moveTo>
                  <a:pt x="2213" y="758"/>
                </a:moveTo>
                <a:cubicBezTo>
                  <a:pt x="2212" y="754"/>
                  <a:pt x="2211" y="751"/>
                  <a:pt x="2209" y="747"/>
                </a:cubicBezTo>
                <a:cubicBezTo>
                  <a:pt x="2204" y="749"/>
                  <a:pt x="2204" y="749"/>
                  <a:pt x="2204" y="749"/>
                </a:cubicBezTo>
                <a:cubicBezTo>
                  <a:pt x="2206" y="752"/>
                  <a:pt x="2207" y="756"/>
                  <a:pt x="2208" y="760"/>
                </a:cubicBezTo>
                <a:lnTo>
                  <a:pt x="2213" y="758"/>
                </a:lnTo>
                <a:close/>
                <a:moveTo>
                  <a:pt x="2221" y="781"/>
                </a:moveTo>
                <a:cubicBezTo>
                  <a:pt x="2220" y="777"/>
                  <a:pt x="2219" y="773"/>
                  <a:pt x="2217" y="769"/>
                </a:cubicBezTo>
                <a:cubicBezTo>
                  <a:pt x="2212" y="771"/>
                  <a:pt x="2212" y="771"/>
                  <a:pt x="2212" y="771"/>
                </a:cubicBezTo>
                <a:cubicBezTo>
                  <a:pt x="2214" y="775"/>
                  <a:pt x="2215" y="779"/>
                  <a:pt x="2216" y="783"/>
                </a:cubicBezTo>
                <a:lnTo>
                  <a:pt x="2221" y="781"/>
                </a:lnTo>
                <a:close/>
                <a:moveTo>
                  <a:pt x="2229" y="804"/>
                </a:moveTo>
                <a:cubicBezTo>
                  <a:pt x="2228" y="800"/>
                  <a:pt x="2226" y="796"/>
                  <a:pt x="2225" y="792"/>
                </a:cubicBezTo>
                <a:cubicBezTo>
                  <a:pt x="2220" y="794"/>
                  <a:pt x="2220" y="794"/>
                  <a:pt x="2220" y="794"/>
                </a:cubicBezTo>
                <a:cubicBezTo>
                  <a:pt x="2221" y="798"/>
                  <a:pt x="2223" y="801"/>
                  <a:pt x="2224" y="805"/>
                </a:cubicBezTo>
                <a:lnTo>
                  <a:pt x="2229" y="804"/>
                </a:lnTo>
                <a:close/>
                <a:moveTo>
                  <a:pt x="2236" y="827"/>
                </a:moveTo>
                <a:cubicBezTo>
                  <a:pt x="2235" y="823"/>
                  <a:pt x="2234" y="819"/>
                  <a:pt x="2233" y="815"/>
                </a:cubicBezTo>
                <a:cubicBezTo>
                  <a:pt x="2227" y="817"/>
                  <a:pt x="2227" y="817"/>
                  <a:pt x="2227" y="817"/>
                </a:cubicBezTo>
                <a:cubicBezTo>
                  <a:pt x="2229" y="820"/>
                  <a:pt x="2230" y="824"/>
                  <a:pt x="2231" y="828"/>
                </a:cubicBezTo>
                <a:lnTo>
                  <a:pt x="2236" y="827"/>
                </a:lnTo>
                <a:close/>
                <a:moveTo>
                  <a:pt x="2243" y="850"/>
                </a:moveTo>
                <a:cubicBezTo>
                  <a:pt x="2242" y="846"/>
                  <a:pt x="2241" y="842"/>
                  <a:pt x="2239" y="838"/>
                </a:cubicBezTo>
                <a:cubicBezTo>
                  <a:pt x="2234" y="840"/>
                  <a:pt x="2234" y="840"/>
                  <a:pt x="2234" y="840"/>
                </a:cubicBezTo>
                <a:cubicBezTo>
                  <a:pt x="2235" y="843"/>
                  <a:pt x="2237" y="847"/>
                  <a:pt x="2238" y="851"/>
                </a:cubicBezTo>
                <a:lnTo>
                  <a:pt x="2243" y="850"/>
                </a:lnTo>
                <a:close/>
                <a:moveTo>
                  <a:pt x="2249" y="873"/>
                </a:moveTo>
                <a:cubicBezTo>
                  <a:pt x="2248" y="869"/>
                  <a:pt x="2247" y="865"/>
                  <a:pt x="2246" y="861"/>
                </a:cubicBezTo>
                <a:cubicBezTo>
                  <a:pt x="2241" y="863"/>
                  <a:pt x="2241" y="863"/>
                  <a:pt x="2241" y="863"/>
                </a:cubicBezTo>
                <a:cubicBezTo>
                  <a:pt x="2242" y="867"/>
                  <a:pt x="2243" y="870"/>
                  <a:pt x="2244" y="874"/>
                </a:cubicBezTo>
                <a:lnTo>
                  <a:pt x="2249" y="873"/>
                </a:lnTo>
                <a:close/>
                <a:moveTo>
                  <a:pt x="2255" y="896"/>
                </a:moveTo>
                <a:cubicBezTo>
                  <a:pt x="2254" y="892"/>
                  <a:pt x="2253" y="888"/>
                  <a:pt x="2252" y="885"/>
                </a:cubicBezTo>
                <a:cubicBezTo>
                  <a:pt x="2247" y="886"/>
                  <a:pt x="2247" y="886"/>
                  <a:pt x="2247" y="886"/>
                </a:cubicBezTo>
                <a:cubicBezTo>
                  <a:pt x="2248" y="890"/>
                  <a:pt x="2249" y="894"/>
                  <a:pt x="2250" y="898"/>
                </a:cubicBezTo>
                <a:cubicBezTo>
                  <a:pt x="2255" y="896"/>
                  <a:pt x="2255" y="896"/>
                  <a:pt x="2255" y="896"/>
                </a:cubicBezTo>
                <a:close/>
                <a:moveTo>
                  <a:pt x="2260" y="920"/>
                </a:moveTo>
                <a:cubicBezTo>
                  <a:pt x="2259" y="916"/>
                  <a:pt x="2258" y="912"/>
                  <a:pt x="2258" y="908"/>
                </a:cubicBezTo>
                <a:cubicBezTo>
                  <a:pt x="2252" y="909"/>
                  <a:pt x="2252" y="909"/>
                  <a:pt x="2252" y="909"/>
                </a:cubicBezTo>
                <a:cubicBezTo>
                  <a:pt x="2253" y="913"/>
                  <a:pt x="2254" y="917"/>
                  <a:pt x="2255" y="921"/>
                </a:cubicBezTo>
                <a:lnTo>
                  <a:pt x="2260" y="920"/>
                </a:lnTo>
                <a:close/>
                <a:moveTo>
                  <a:pt x="2265" y="943"/>
                </a:moveTo>
                <a:cubicBezTo>
                  <a:pt x="2264" y="939"/>
                  <a:pt x="2263" y="935"/>
                  <a:pt x="2263" y="931"/>
                </a:cubicBezTo>
                <a:cubicBezTo>
                  <a:pt x="2257" y="933"/>
                  <a:pt x="2257" y="933"/>
                  <a:pt x="2257" y="933"/>
                </a:cubicBezTo>
                <a:cubicBezTo>
                  <a:pt x="2258" y="936"/>
                  <a:pt x="2259" y="940"/>
                  <a:pt x="2260" y="944"/>
                </a:cubicBezTo>
                <a:lnTo>
                  <a:pt x="2265" y="943"/>
                </a:lnTo>
                <a:close/>
                <a:moveTo>
                  <a:pt x="2270" y="967"/>
                </a:moveTo>
                <a:cubicBezTo>
                  <a:pt x="2269" y="963"/>
                  <a:pt x="2268" y="959"/>
                  <a:pt x="2267" y="955"/>
                </a:cubicBezTo>
                <a:cubicBezTo>
                  <a:pt x="2262" y="956"/>
                  <a:pt x="2262" y="956"/>
                  <a:pt x="2262" y="956"/>
                </a:cubicBezTo>
                <a:cubicBezTo>
                  <a:pt x="2263" y="960"/>
                  <a:pt x="2264" y="964"/>
                  <a:pt x="2264" y="968"/>
                </a:cubicBezTo>
                <a:lnTo>
                  <a:pt x="2270" y="967"/>
                </a:lnTo>
                <a:close/>
                <a:moveTo>
                  <a:pt x="2274" y="991"/>
                </a:moveTo>
                <a:cubicBezTo>
                  <a:pt x="2273" y="987"/>
                  <a:pt x="2272" y="983"/>
                  <a:pt x="2272" y="979"/>
                </a:cubicBezTo>
                <a:cubicBezTo>
                  <a:pt x="2266" y="980"/>
                  <a:pt x="2266" y="980"/>
                  <a:pt x="2266" y="980"/>
                </a:cubicBezTo>
                <a:cubicBezTo>
                  <a:pt x="2267" y="984"/>
                  <a:pt x="2268" y="987"/>
                  <a:pt x="2268" y="991"/>
                </a:cubicBezTo>
                <a:lnTo>
                  <a:pt x="2274" y="991"/>
                </a:lnTo>
                <a:close/>
                <a:moveTo>
                  <a:pt x="2277" y="1014"/>
                </a:moveTo>
                <a:cubicBezTo>
                  <a:pt x="2277" y="1010"/>
                  <a:pt x="2276" y="1006"/>
                  <a:pt x="2275" y="1002"/>
                </a:cubicBezTo>
                <a:cubicBezTo>
                  <a:pt x="2270" y="1003"/>
                  <a:pt x="2270" y="1003"/>
                  <a:pt x="2270" y="1003"/>
                </a:cubicBezTo>
                <a:cubicBezTo>
                  <a:pt x="2271" y="1007"/>
                  <a:pt x="2271" y="1011"/>
                  <a:pt x="2272" y="1015"/>
                </a:cubicBezTo>
                <a:lnTo>
                  <a:pt x="2277" y="1014"/>
                </a:lnTo>
                <a:close/>
                <a:moveTo>
                  <a:pt x="2280" y="1038"/>
                </a:moveTo>
                <a:cubicBezTo>
                  <a:pt x="2280" y="1034"/>
                  <a:pt x="2279" y="1030"/>
                  <a:pt x="2279" y="1026"/>
                </a:cubicBezTo>
                <a:cubicBezTo>
                  <a:pt x="2274" y="1027"/>
                  <a:pt x="2274" y="1027"/>
                  <a:pt x="2274" y="1027"/>
                </a:cubicBezTo>
                <a:cubicBezTo>
                  <a:pt x="2274" y="1031"/>
                  <a:pt x="2275" y="1035"/>
                  <a:pt x="2275" y="1039"/>
                </a:cubicBezTo>
                <a:lnTo>
                  <a:pt x="2280" y="1038"/>
                </a:lnTo>
                <a:close/>
                <a:moveTo>
                  <a:pt x="2283" y="1062"/>
                </a:moveTo>
                <a:cubicBezTo>
                  <a:pt x="2283" y="1058"/>
                  <a:pt x="2282" y="1054"/>
                  <a:pt x="2282" y="1050"/>
                </a:cubicBezTo>
                <a:cubicBezTo>
                  <a:pt x="2277" y="1051"/>
                  <a:pt x="2277" y="1051"/>
                  <a:pt x="2277" y="1051"/>
                </a:cubicBezTo>
                <a:cubicBezTo>
                  <a:pt x="2277" y="1055"/>
                  <a:pt x="2277" y="1059"/>
                  <a:pt x="2278" y="1063"/>
                </a:cubicBezTo>
                <a:lnTo>
                  <a:pt x="2283" y="1062"/>
                </a:lnTo>
                <a:close/>
                <a:moveTo>
                  <a:pt x="2286" y="1086"/>
                </a:moveTo>
                <a:cubicBezTo>
                  <a:pt x="2285" y="1082"/>
                  <a:pt x="2285" y="1078"/>
                  <a:pt x="2284" y="1074"/>
                </a:cubicBezTo>
                <a:cubicBezTo>
                  <a:pt x="2279" y="1075"/>
                  <a:pt x="2279" y="1075"/>
                  <a:pt x="2279" y="1075"/>
                </a:cubicBezTo>
                <a:cubicBezTo>
                  <a:pt x="2279" y="1079"/>
                  <a:pt x="2280" y="1083"/>
                  <a:pt x="2280" y="1086"/>
                </a:cubicBezTo>
                <a:lnTo>
                  <a:pt x="2286" y="1086"/>
                </a:lnTo>
                <a:close/>
                <a:moveTo>
                  <a:pt x="2287" y="1110"/>
                </a:moveTo>
                <a:cubicBezTo>
                  <a:pt x="2287" y="1106"/>
                  <a:pt x="2287" y="1102"/>
                  <a:pt x="2287" y="1098"/>
                </a:cubicBezTo>
                <a:cubicBezTo>
                  <a:pt x="2281" y="1098"/>
                  <a:pt x="2281" y="1098"/>
                  <a:pt x="2281" y="1098"/>
                </a:cubicBezTo>
                <a:cubicBezTo>
                  <a:pt x="2281" y="1102"/>
                  <a:pt x="2282" y="1106"/>
                  <a:pt x="2282" y="1110"/>
                </a:cubicBezTo>
                <a:lnTo>
                  <a:pt x="2287" y="1110"/>
                </a:lnTo>
                <a:close/>
                <a:moveTo>
                  <a:pt x="2289" y="1134"/>
                </a:moveTo>
                <a:cubicBezTo>
                  <a:pt x="2289" y="1130"/>
                  <a:pt x="2288" y="1126"/>
                  <a:pt x="2288" y="1122"/>
                </a:cubicBezTo>
                <a:cubicBezTo>
                  <a:pt x="2283" y="1122"/>
                  <a:pt x="2283" y="1122"/>
                  <a:pt x="2283" y="1122"/>
                </a:cubicBezTo>
                <a:cubicBezTo>
                  <a:pt x="2283" y="1126"/>
                  <a:pt x="2283" y="1130"/>
                  <a:pt x="2284" y="1134"/>
                </a:cubicBezTo>
                <a:lnTo>
                  <a:pt x="2289" y="1134"/>
                </a:lnTo>
                <a:close/>
                <a:moveTo>
                  <a:pt x="2290" y="1158"/>
                </a:moveTo>
                <a:cubicBezTo>
                  <a:pt x="2290" y="1154"/>
                  <a:pt x="2290" y="1150"/>
                  <a:pt x="2289" y="1146"/>
                </a:cubicBezTo>
                <a:cubicBezTo>
                  <a:pt x="2284" y="1146"/>
                  <a:pt x="2284" y="1146"/>
                  <a:pt x="2284" y="1146"/>
                </a:cubicBezTo>
                <a:cubicBezTo>
                  <a:pt x="2284" y="1150"/>
                  <a:pt x="2284" y="1154"/>
                  <a:pt x="2285" y="1158"/>
                </a:cubicBezTo>
                <a:lnTo>
                  <a:pt x="2290" y="1158"/>
                </a:lnTo>
                <a:close/>
                <a:moveTo>
                  <a:pt x="2291" y="1182"/>
                </a:moveTo>
                <a:cubicBezTo>
                  <a:pt x="2290" y="1178"/>
                  <a:pt x="2290" y="1174"/>
                  <a:pt x="2290" y="1170"/>
                </a:cubicBezTo>
                <a:cubicBezTo>
                  <a:pt x="2285" y="1170"/>
                  <a:pt x="2285" y="1170"/>
                  <a:pt x="2285" y="1170"/>
                </a:cubicBezTo>
                <a:cubicBezTo>
                  <a:pt x="2285" y="1174"/>
                  <a:pt x="2285" y="1178"/>
                  <a:pt x="2285" y="1182"/>
                </a:cubicBezTo>
                <a:lnTo>
                  <a:pt x="2291" y="1182"/>
                </a:lnTo>
                <a:close/>
                <a:moveTo>
                  <a:pt x="2291" y="1206"/>
                </a:moveTo>
                <a:cubicBezTo>
                  <a:pt x="2291" y="1202"/>
                  <a:pt x="2291" y="1198"/>
                  <a:pt x="2291" y="1194"/>
                </a:cubicBezTo>
                <a:cubicBezTo>
                  <a:pt x="2285" y="1194"/>
                  <a:pt x="2285" y="1194"/>
                  <a:pt x="2285" y="1194"/>
                </a:cubicBezTo>
                <a:cubicBezTo>
                  <a:pt x="2285" y="1198"/>
                  <a:pt x="2285" y="1202"/>
                  <a:pt x="2285" y="1206"/>
                </a:cubicBezTo>
                <a:lnTo>
                  <a:pt x="2291" y="1206"/>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39" name="Oval 141"/>
          <p:cNvSpPr>
            <a:spLocks noChangeArrowheads="1"/>
          </p:cNvSpPr>
          <p:nvPr>
            <p:custDataLst>
              <p:tags r:id="rId11"/>
            </p:custDataLst>
          </p:nvPr>
        </p:nvSpPr>
        <p:spPr bwMode="auto">
          <a:xfrm>
            <a:off x="5485544" y="1972008"/>
            <a:ext cx="1027746" cy="1028063"/>
          </a:xfrm>
          <a:prstGeom prst="ellipse">
            <a:avLst/>
          </a:prstGeom>
          <a:solidFill>
            <a:schemeClr val="bg1">
              <a:lumMod val="50000"/>
            </a:schemeClr>
          </a:solidFill>
          <a:ln>
            <a:noFill/>
          </a:ln>
        </p:spPr>
        <p:txBody>
          <a:bodyPr vert="horz" wrap="square" lIns="91440" tIns="45720" rIns="91440" bIns="45720" numCol="1" anchor="t" anchorCtr="0" compatLnSpc="1"/>
          <a:lstStyle/>
          <a:p>
            <a:endParaRPr lang="en-US">
              <a:cs typeface="+mn-ea"/>
              <a:sym typeface="+mn-lt"/>
            </a:endParaRPr>
          </a:p>
        </p:txBody>
      </p:sp>
      <p:sp>
        <p:nvSpPr>
          <p:cNvPr id="41" name="Freeform 143"/>
          <p:cNvSpPr/>
          <p:nvPr>
            <p:custDataLst>
              <p:tags r:id="rId12"/>
            </p:custDataLst>
          </p:nvPr>
        </p:nvSpPr>
        <p:spPr bwMode="auto">
          <a:xfrm>
            <a:off x="6722285" y="2487538"/>
            <a:ext cx="1126625" cy="1028063"/>
          </a:xfrm>
          <a:custGeom>
            <a:avLst/>
            <a:gdLst>
              <a:gd name="T0" fmla="*/ 318 w 636"/>
              <a:gd name="T1" fmla="*/ 580 h 580"/>
              <a:gd name="T2" fmla="*/ 113 w 636"/>
              <a:gd name="T3" fmla="*/ 496 h 580"/>
              <a:gd name="T4" fmla="*/ 113 w 636"/>
              <a:gd name="T5" fmla="*/ 85 h 580"/>
              <a:gd name="T6" fmla="*/ 318 w 636"/>
              <a:gd name="T7" fmla="*/ 0 h 580"/>
              <a:gd name="T8" fmla="*/ 523 w 636"/>
              <a:gd name="T9" fmla="*/ 85 h 580"/>
              <a:gd name="T10" fmla="*/ 523 w 636"/>
              <a:gd name="T11" fmla="*/ 496 h 580"/>
              <a:gd name="T12" fmla="*/ 318 w 636"/>
              <a:gd name="T13" fmla="*/ 580 h 580"/>
            </a:gdLst>
            <a:ahLst/>
            <a:cxnLst>
              <a:cxn ang="0">
                <a:pos x="T0" y="T1"/>
              </a:cxn>
              <a:cxn ang="0">
                <a:pos x="T2" y="T3"/>
              </a:cxn>
              <a:cxn ang="0">
                <a:pos x="T4" y="T5"/>
              </a:cxn>
              <a:cxn ang="0">
                <a:pos x="T6" y="T7"/>
              </a:cxn>
              <a:cxn ang="0">
                <a:pos x="T8" y="T9"/>
              </a:cxn>
              <a:cxn ang="0">
                <a:pos x="T10" y="T11"/>
              </a:cxn>
              <a:cxn ang="0">
                <a:pos x="T12" y="T13"/>
              </a:cxn>
            </a:cxnLst>
            <a:rect l="0" t="0" r="r" b="b"/>
            <a:pathLst>
              <a:path w="636" h="580">
                <a:moveTo>
                  <a:pt x="318" y="580"/>
                </a:moveTo>
                <a:cubicBezTo>
                  <a:pt x="240" y="580"/>
                  <a:pt x="168" y="550"/>
                  <a:pt x="113" y="496"/>
                </a:cubicBezTo>
                <a:cubicBezTo>
                  <a:pt x="0" y="382"/>
                  <a:pt x="0" y="198"/>
                  <a:pt x="113" y="85"/>
                </a:cubicBezTo>
                <a:cubicBezTo>
                  <a:pt x="168" y="31"/>
                  <a:pt x="240" y="0"/>
                  <a:pt x="318" y="0"/>
                </a:cubicBezTo>
                <a:cubicBezTo>
                  <a:pt x="395" y="0"/>
                  <a:pt x="468" y="31"/>
                  <a:pt x="523" y="85"/>
                </a:cubicBezTo>
                <a:cubicBezTo>
                  <a:pt x="636" y="198"/>
                  <a:pt x="636" y="382"/>
                  <a:pt x="523" y="496"/>
                </a:cubicBezTo>
                <a:cubicBezTo>
                  <a:pt x="468" y="550"/>
                  <a:pt x="395" y="580"/>
                  <a:pt x="318" y="580"/>
                </a:cubicBezTo>
                <a:close/>
              </a:path>
            </a:pathLst>
          </a:custGeom>
          <a:solidFill>
            <a:srgbClr val="5BAAA4"/>
          </a:solidFill>
          <a:ln>
            <a:noFill/>
          </a:ln>
        </p:spPr>
        <p:txBody>
          <a:bodyPr vert="horz" wrap="square" lIns="91440" tIns="45720" rIns="91440" bIns="45720" numCol="1" anchor="t" anchorCtr="0" compatLnSpc="1"/>
          <a:lstStyle/>
          <a:p>
            <a:endParaRPr lang="en-US">
              <a:cs typeface="+mn-ea"/>
              <a:sym typeface="+mn-lt"/>
            </a:endParaRPr>
          </a:p>
        </p:txBody>
      </p:sp>
      <p:sp>
        <p:nvSpPr>
          <p:cNvPr id="43" name="Oval 145"/>
          <p:cNvSpPr>
            <a:spLocks noChangeArrowheads="1"/>
          </p:cNvSpPr>
          <p:nvPr>
            <p:custDataLst>
              <p:tags r:id="rId13"/>
            </p:custDataLst>
          </p:nvPr>
        </p:nvSpPr>
        <p:spPr bwMode="auto">
          <a:xfrm>
            <a:off x="7317059" y="3765124"/>
            <a:ext cx="1027746" cy="1028063"/>
          </a:xfrm>
          <a:prstGeom prst="ellipse">
            <a:avLst/>
          </a:prstGeom>
          <a:solidFill>
            <a:srgbClr val="388BA5"/>
          </a:solidFill>
          <a:ln>
            <a:noFill/>
          </a:ln>
        </p:spPr>
        <p:txBody>
          <a:bodyPr vert="horz" wrap="square" lIns="91440" tIns="45720" rIns="91440" bIns="45720" numCol="1" anchor="t" anchorCtr="0" compatLnSpc="1"/>
          <a:lstStyle/>
          <a:p>
            <a:endParaRPr lang="en-US">
              <a:cs typeface="+mn-ea"/>
              <a:sym typeface="+mn-lt"/>
            </a:endParaRPr>
          </a:p>
        </p:txBody>
      </p:sp>
      <p:sp>
        <p:nvSpPr>
          <p:cNvPr id="45" name="Freeform 147"/>
          <p:cNvSpPr/>
          <p:nvPr>
            <p:custDataLst>
              <p:tags r:id="rId14"/>
            </p:custDataLst>
          </p:nvPr>
        </p:nvSpPr>
        <p:spPr bwMode="auto">
          <a:xfrm>
            <a:off x="4149924" y="2487538"/>
            <a:ext cx="1126625" cy="1028063"/>
          </a:xfrm>
          <a:custGeom>
            <a:avLst/>
            <a:gdLst>
              <a:gd name="T0" fmla="*/ 318 w 636"/>
              <a:gd name="T1" fmla="*/ 580 h 580"/>
              <a:gd name="T2" fmla="*/ 113 w 636"/>
              <a:gd name="T3" fmla="*/ 496 h 580"/>
              <a:gd name="T4" fmla="*/ 113 w 636"/>
              <a:gd name="T5" fmla="*/ 85 h 580"/>
              <a:gd name="T6" fmla="*/ 318 w 636"/>
              <a:gd name="T7" fmla="*/ 0 h 580"/>
              <a:gd name="T8" fmla="*/ 523 w 636"/>
              <a:gd name="T9" fmla="*/ 85 h 580"/>
              <a:gd name="T10" fmla="*/ 523 w 636"/>
              <a:gd name="T11" fmla="*/ 496 h 580"/>
              <a:gd name="T12" fmla="*/ 318 w 636"/>
              <a:gd name="T13" fmla="*/ 580 h 580"/>
            </a:gdLst>
            <a:ahLst/>
            <a:cxnLst>
              <a:cxn ang="0">
                <a:pos x="T0" y="T1"/>
              </a:cxn>
              <a:cxn ang="0">
                <a:pos x="T2" y="T3"/>
              </a:cxn>
              <a:cxn ang="0">
                <a:pos x="T4" y="T5"/>
              </a:cxn>
              <a:cxn ang="0">
                <a:pos x="T6" y="T7"/>
              </a:cxn>
              <a:cxn ang="0">
                <a:pos x="T8" y="T9"/>
              </a:cxn>
              <a:cxn ang="0">
                <a:pos x="T10" y="T11"/>
              </a:cxn>
              <a:cxn ang="0">
                <a:pos x="T12" y="T13"/>
              </a:cxn>
            </a:cxnLst>
            <a:rect l="0" t="0" r="r" b="b"/>
            <a:pathLst>
              <a:path w="636" h="580">
                <a:moveTo>
                  <a:pt x="318" y="580"/>
                </a:moveTo>
                <a:cubicBezTo>
                  <a:pt x="241" y="580"/>
                  <a:pt x="168" y="550"/>
                  <a:pt x="113" y="496"/>
                </a:cubicBezTo>
                <a:cubicBezTo>
                  <a:pt x="0" y="382"/>
                  <a:pt x="0" y="198"/>
                  <a:pt x="113" y="85"/>
                </a:cubicBezTo>
                <a:cubicBezTo>
                  <a:pt x="168" y="31"/>
                  <a:pt x="241" y="0"/>
                  <a:pt x="318" y="0"/>
                </a:cubicBezTo>
                <a:cubicBezTo>
                  <a:pt x="396" y="0"/>
                  <a:pt x="468" y="31"/>
                  <a:pt x="523" y="85"/>
                </a:cubicBezTo>
                <a:cubicBezTo>
                  <a:pt x="636" y="198"/>
                  <a:pt x="636" y="382"/>
                  <a:pt x="523" y="496"/>
                </a:cubicBezTo>
                <a:cubicBezTo>
                  <a:pt x="468" y="550"/>
                  <a:pt x="396" y="580"/>
                  <a:pt x="318" y="580"/>
                </a:cubicBezTo>
                <a:close/>
              </a:path>
            </a:pathLst>
          </a:custGeom>
          <a:solidFill>
            <a:srgbClr val="5BAAA4"/>
          </a:solidFill>
          <a:ln>
            <a:noFill/>
          </a:ln>
        </p:spPr>
        <p:txBody>
          <a:bodyPr vert="horz" wrap="square" lIns="91440" tIns="45720" rIns="91440" bIns="45720" numCol="1" anchor="t" anchorCtr="0" compatLnSpc="1"/>
          <a:lstStyle/>
          <a:p>
            <a:endParaRPr lang="en-US">
              <a:cs typeface="+mn-ea"/>
              <a:sym typeface="+mn-lt"/>
            </a:endParaRPr>
          </a:p>
        </p:txBody>
      </p:sp>
      <p:sp>
        <p:nvSpPr>
          <p:cNvPr id="47" name="Oval 149"/>
          <p:cNvSpPr>
            <a:spLocks noChangeArrowheads="1"/>
          </p:cNvSpPr>
          <p:nvPr>
            <p:custDataLst>
              <p:tags r:id="rId15"/>
            </p:custDataLst>
          </p:nvPr>
        </p:nvSpPr>
        <p:spPr bwMode="auto">
          <a:xfrm>
            <a:off x="3653280" y="3765124"/>
            <a:ext cx="1027746" cy="1028063"/>
          </a:xfrm>
          <a:prstGeom prst="ellipse">
            <a:avLst/>
          </a:prstGeom>
          <a:solidFill>
            <a:srgbClr val="388BA5"/>
          </a:solidFill>
          <a:ln>
            <a:noFill/>
          </a:ln>
        </p:spPr>
        <p:txBody>
          <a:bodyPr vert="horz" wrap="square" lIns="91440" tIns="45720" rIns="91440" bIns="45720" numCol="1" anchor="t" anchorCtr="0" compatLnSpc="1"/>
          <a:lstStyle/>
          <a:p>
            <a:endParaRPr lang="en-US">
              <a:cs typeface="+mn-ea"/>
              <a:sym typeface="+mn-lt"/>
            </a:endParaRPr>
          </a:p>
        </p:txBody>
      </p:sp>
      <p:sp>
        <p:nvSpPr>
          <p:cNvPr id="49" name="Freeform 151"/>
          <p:cNvSpPr>
            <a:spLocks noEditPoints="1"/>
          </p:cNvSpPr>
          <p:nvPr>
            <p:custDataLst>
              <p:tags r:id="rId16"/>
            </p:custDataLst>
          </p:nvPr>
        </p:nvSpPr>
        <p:spPr bwMode="auto">
          <a:xfrm>
            <a:off x="7455640" y="3432427"/>
            <a:ext cx="595523" cy="272751"/>
          </a:xfrm>
          <a:custGeom>
            <a:avLst/>
            <a:gdLst>
              <a:gd name="T0" fmla="*/ 795 w 795"/>
              <a:gd name="T1" fmla="*/ 16 h 364"/>
              <a:gd name="T2" fmla="*/ 778 w 795"/>
              <a:gd name="T3" fmla="*/ 5 h 364"/>
              <a:gd name="T4" fmla="*/ 733 w 795"/>
              <a:gd name="T5" fmla="*/ 45 h 364"/>
              <a:gd name="T6" fmla="*/ 752 w 795"/>
              <a:gd name="T7" fmla="*/ 14 h 364"/>
              <a:gd name="T8" fmla="*/ 733 w 795"/>
              <a:gd name="T9" fmla="*/ 45 h 364"/>
              <a:gd name="T10" fmla="*/ 707 w 795"/>
              <a:gd name="T11" fmla="*/ 54 h 364"/>
              <a:gd name="T12" fmla="*/ 674 w 795"/>
              <a:gd name="T13" fmla="*/ 49 h 364"/>
              <a:gd name="T14" fmla="*/ 629 w 795"/>
              <a:gd name="T15" fmla="*/ 90 h 364"/>
              <a:gd name="T16" fmla="*/ 648 w 795"/>
              <a:gd name="T17" fmla="*/ 61 h 364"/>
              <a:gd name="T18" fmla="*/ 629 w 795"/>
              <a:gd name="T19" fmla="*/ 90 h 364"/>
              <a:gd name="T20" fmla="*/ 603 w 795"/>
              <a:gd name="T21" fmla="*/ 102 h 364"/>
              <a:gd name="T22" fmla="*/ 570 w 795"/>
              <a:gd name="T23" fmla="*/ 94 h 364"/>
              <a:gd name="T24" fmla="*/ 527 w 795"/>
              <a:gd name="T25" fmla="*/ 135 h 364"/>
              <a:gd name="T26" fmla="*/ 544 w 795"/>
              <a:gd name="T27" fmla="*/ 106 h 364"/>
              <a:gd name="T28" fmla="*/ 527 w 795"/>
              <a:gd name="T29" fmla="*/ 135 h 364"/>
              <a:gd name="T30" fmla="*/ 501 w 795"/>
              <a:gd name="T31" fmla="*/ 146 h 364"/>
              <a:gd name="T32" fmla="*/ 466 w 795"/>
              <a:gd name="T33" fmla="*/ 142 h 364"/>
              <a:gd name="T34" fmla="*/ 423 w 795"/>
              <a:gd name="T35" fmla="*/ 182 h 364"/>
              <a:gd name="T36" fmla="*/ 440 w 795"/>
              <a:gd name="T37" fmla="*/ 154 h 364"/>
              <a:gd name="T38" fmla="*/ 423 w 795"/>
              <a:gd name="T39" fmla="*/ 182 h 364"/>
              <a:gd name="T40" fmla="*/ 397 w 795"/>
              <a:gd name="T41" fmla="*/ 194 h 364"/>
              <a:gd name="T42" fmla="*/ 362 w 795"/>
              <a:gd name="T43" fmla="*/ 187 h 364"/>
              <a:gd name="T44" fmla="*/ 319 w 795"/>
              <a:gd name="T45" fmla="*/ 227 h 364"/>
              <a:gd name="T46" fmla="*/ 336 w 795"/>
              <a:gd name="T47" fmla="*/ 198 h 364"/>
              <a:gd name="T48" fmla="*/ 319 w 795"/>
              <a:gd name="T49" fmla="*/ 227 h 364"/>
              <a:gd name="T50" fmla="*/ 293 w 795"/>
              <a:gd name="T51" fmla="*/ 239 h 364"/>
              <a:gd name="T52" fmla="*/ 260 w 795"/>
              <a:gd name="T53" fmla="*/ 232 h 364"/>
              <a:gd name="T54" fmla="*/ 215 w 795"/>
              <a:gd name="T55" fmla="*/ 272 h 364"/>
              <a:gd name="T56" fmla="*/ 234 w 795"/>
              <a:gd name="T57" fmla="*/ 243 h 364"/>
              <a:gd name="T58" fmla="*/ 215 w 795"/>
              <a:gd name="T59" fmla="*/ 272 h 364"/>
              <a:gd name="T60" fmla="*/ 189 w 795"/>
              <a:gd name="T61" fmla="*/ 284 h 364"/>
              <a:gd name="T62" fmla="*/ 156 w 795"/>
              <a:gd name="T63" fmla="*/ 279 h 364"/>
              <a:gd name="T64" fmla="*/ 111 w 795"/>
              <a:gd name="T65" fmla="*/ 319 h 364"/>
              <a:gd name="T66" fmla="*/ 130 w 795"/>
              <a:gd name="T67" fmla="*/ 291 h 364"/>
              <a:gd name="T68" fmla="*/ 111 w 795"/>
              <a:gd name="T69" fmla="*/ 319 h 364"/>
              <a:gd name="T70" fmla="*/ 85 w 795"/>
              <a:gd name="T71" fmla="*/ 331 h 364"/>
              <a:gd name="T72" fmla="*/ 52 w 795"/>
              <a:gd name="T73" fmla="*/ 324 h 364"/>
              <a:gd name="T74" fmla="*/ 7 w 795"/>
              <a:gd name="T75" fmla="*/ 364 h 364"/>
              <a:gd name="T76" fmla="*/ 26 w 795"/>
              <a:gd name="T77" fmla="*/ 336 h 364"/>
              <a:gd name="T78" fmla="*/ 7 w 795"/>
              <a:gd name="T79" fmla="*/ 36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95" h="364">
                <a:moveTo>
                  <a:pt x="785" y="21"/>
                </a:moveTo>
                <a:lnTo>
                  <a:pt x="795" y="16"/>
                </a:lnTo>
                <a:lnTo>
                  <a:pt x="785" y="0"/>
                </a:lnTo>
                <a:lnTo>
                  <a:pt x="778" y="5"/>
                </a:lnTo>
                <a:lnTo>
                  <a:pt x="785" y="21"/>
                </a:lnTo>
                <a:close/>
                <a:moveTo>
                  <a:pt x="733" y="45"/>
                </a:moveTo>
                <a:lnTo>
                  <a:pt x="759" y="33"/>
                </a:lnTo>
                <a:lnTo>
                  <a:pt x="752" y="14"/>
                </a:lnTo>
                <a:lnTo>
                  <a:pt x="726" y="26"/>
                </a:lnTo>
                <a:lnTo>
                  <a:pt x="733" y="45"/>
                </a:lnTo>
                <a:close/>
                <a:moveTo>
                  <a:pt x="681" y="66"/>
                </a:moveTo>
                <a:lnTo>
                  <a:pt x="707" y="54"/>
                </a:lnTo>
                <a:lnTo>
                  <a:pt x="700" y="38"/>
                </a:lnTo>
                <a:lnTo>
                  <a:pt x="674" y="49"/>
                </a:lnTo>
                <a:lnTo>
                  <a:pt x="681" y="66"/>
                </a:lnTo>
                <a:close/>
                <a:moveTo>
                  <a:pt x="629" y="90"/>
                </a:moveTo>
                <a:lnTo>
                  <a:pt x="655" y="78"/>
                </a:lnTo>
                <a:lnTo>
                  <a:pt x="648" y="61"/>
                </a:lnTo>
                <a:lnTo>
                  <a:pt x="622" y="73"/>
                </a:lnTo>
                <a:lnTo>
                  <a:pt x="629" y="90"/>
                </a:lnTo>
                <a:close/>
                <a:moveTo>
                  <a:pt x="579" y="113"/>
                </a:moveTo>
                <a:lnTo>
                  <a:pt x="603" y="102"/>
                </a:lnTo>
                <a:lnTo>
                  <a:pt x="596" y="83"/>
                </a:lnTo>
                <a:lnTo>
                  <a:pt x="570" y="94"/>
                </a:lnTo>
                <a:lnTo>
                  <a:pt x="579" y="113"/>
                </a:lnTo>
                <a:close/>
                <a:moveTo>
                  <a:pt x="527" y="135"/>
                </a:moveTo>
                <a:lnTo>
                  <a:pt x="553" y="123"/>
                </a:lnTo>
                <a:lnTo>
                  <a:pt x="544" y="106"/>
                </a:lnTo>
                <a:lnTo>
                  <a:pt x="518" y="118"/>
                </a:lnTo>
                <a:lnTo>
                  <a:pt x="527" y="135"/>
                </a:lnTo>
                <a:close/>
                <a:moveTo>
                  <a:pt x="475" y="158"/>
                </a:moveTo>
                <a:lnTo>
                  <a:pt x="501" y="146"/>
                </a:lnTo>
                <a:lnTo>
                  <a:pt x="492" y="130"/>
                </a:lnTo>
                <a:lnTo>
                  <a:pt x="466" y="142"/>
                </a:lnTo>
                <a:lnTo>
                  <a:pt x="475" y="158"/>
                </a:lnTo>
                <a:close/>
                <a:moveTo>
                  <a:pt x="423" y="182"/>
                </a:moveTo>
                <a:lnTo>
                  <a:pt x="449" y="170"/>
                </a:lnTo>
                <a:lnTo>
                  <a:pt x="440" y="154"/>
                </a:lnTo>
                <a:lnTo>
                  <a:pt x="414" y="163"/>
                </a:lnTo>
                <a:lnTo>
                  <a:pt x="423" y="182"/>
                </a:lnTo>
                <a:close/>
                <a:moveTo>
                  <a:pt x="371" y="203"/>
                </a:moveTo>
                <a:lnTo>
                  <a:pt x="397" y="194"/>
                </a:lnTo>
                <a:lnTo>
                  <a:pt x="388" y="175"/>
                </a:lnTo>
                <a:lnTo>
                  <a:pt x="362" y="187"/>
                </a:lnTo>
                <a:lnTo>
                  <a:pt x="371" y="203"/>
                </a:lnTo>
                <a:close/>
                <a:moveTo>
                  <a:pt x="319" y="227"/>
                </a:moveTo>
                <a:lnTo>
                  <a:pt x="345" y="215"/>
                </a:lnTo>
                <a:lnTo>
                  <a:pt x="336" y="198"/>
                </a:lnTo>
                <a:lnTo>
                  <a:pt x="312" y="210"/>
                </a:lnTo>
                <a:lnTo>
                  <a:pt x="319" y="227"/>
                </a:lnTo>
                <a:close/>
                <a:moveTo>
                  <a:pt x="267" y="251"/>
                </a:moveTo>
                <a:lnTo>
                  <a:pt x="293" y="239"/>
                </a:lnTo>
                <a:lnTo>
                  <a:pt x="286" y="222"/>
                </a:lnTo>
                <a:lnTo>
                  <a:pt x="260" y="232"/>
                </a:lnTo>
                <a:lnTo>
                  <a:pt x="267" y="251"/>
                </a:lnTo>
                <a:close/>
                <a:moveTo>
                  <a:pt x="215" y="272"/>
                </a:moveTo>
                <a:lnTo>
                  <a:pt x="241" y="262"/>
                </a:lnTo>
                <a:lnTo>
                  <a:pt x="234" y="243"/>
                </a:lnTo>
                <a:lnTo>
                  <a:pt x="208" y="255"/>
                </a:lnTo>
                <a:lnTo>
                  <a:pt x="215" y="272"/>
                </a:lnTo>
                <a:close/>
                <a:moveTo>
                  <a:pt x="163" y="295"/>
                </a:moveTo>
                <a:lnTo>
                  <a:pt x="189" y="284"/>
                </a:lnTo>
                <a:lnTo>
                  <a:pt x="182" y="267"/>
                </a:lnTo>
                <a:lnTo>
                  <a:pt x="156" y="279"/>
                </a:lnTo>
                <a:lnTo>
                  <a:pt x="163" y="295"/>
                </a:lnTo>
                <a:close/>
                <a:moveTo>
                  <a:pt x="111" y="319"/>
                </a:moveTo>
                <a:lnTo>
                  <a:pt x="137" y="307"/>
                </a:lnTo>
                <a:lnTo>
                  <a:pt x="130" y="291"/>
                </a:lnTo>
                <a:lnTo>
                  <a:pt x="104" y="303"/>
                </a:lnTo>
                <a:lnTo>
                  <a:pt x="111" y="319"/>
                </a:lnTo>
                <a:close/>
                <a:moveTo>
                  <a:pt x="59" y="343"/>
                </a:moveTo>
                <a:lnTo>
                  <a:pt x="85" y="331"/>
                </a:lnTo>
                <a:lnTo>
                  <a:pt x="78" y="312"/>
                </a:lnTo>
                <a:lnTo>
                  <a:pt x="52" y="324"/>
                </a:lnTo>
                <a:lnTo>
                  <a:pt x="59" y="343"/>
                </a:lnTo>
                <a:close/>
                <a:moveTo>
                  <a:pt x="7" y="364"/>
                </a:moveTo>
                <a:lnTo>
                  <a:pt x="33" y="352"/>
                </a:lnTo>
                <a:lnTo>
                  <a:pt x="26" y="336"/>
                </a:lnTo>
                <a:lnTo>
                  <a:pt x="0" y="347"/>
                </a:lnTo>
                <a:lnTo>
                  <a:pt x="7" y="364"/>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0" name="Freeform 152"/>
          <p:cNvSpPr/>
          <p:nvPr>
            <p:custDataLst>
              <p:tags r:id="rId17"/>
            </p:custDataLst>
          </p:nvPr>
        </p:nvSpPr>
        <p:spPr bwMode="auto">
          <a:xfrm>
            <a:off x="7428673" y="3667712"/>
            <a:ext cx="60676" cy="60695"/>
          </a:xfrm>
          <a:custGeom>
            <a:avLst/>
            <a:gdLst>
              <a:gd name="T0" fmla="*/ 23 w 34"/>
              <a:gd name="T1" fmla="*/ 31 h 34"/>
              <a:gd name="T2" fmla="*/ 3 w 34"/>
              <a:gd name="T3" fmla="*/ 23 h 34"/>
              <a:gd name="T4" fmla="*/ 11 w 34"/>
              <a:gd name="T5" fmla="*/ 4 h 34"/>
              <a:gd name="T6" fmla="*/ 31 w 34"/>
              <a:gd name="T7" fmla="*/ 11 h 34"/>
              <a:gd name="T8" fmla="*/ 23 w 34"/>
              <a:gd name="T9" fmla="*/ 31 h 34"/>
            </a:gdLst>
            <a:ahLst/>
            <a:cxnLst>
              <a:cxn ang="0">
                <a:pos x="T0" y="T1"/>
              </a:cxn>
              <a:cxn ang="0">
                <a:pos x="T2" y="T3"/>
              </a:cxn>
              <a:cxn ang="0">
                <a:pos x="T4" y="T5"/>
              </a:cxn>
              <a:cxn ang="0">
                <a:pos x="T6" y="T7"/>
              </a:cxn>
              <a:cxn ang="0">
                <a:pos x="T8" y="T9"/>
              </a:cxn>
            </a:cxnLst>
            <a:rect l="0" t="0" r="r" b="b"/>
            <a:pathLst>
              <a:path w="34" h="34">
                <a:moveTo>
                  <a:pt x="23" y="31"/>
                </a:moveTo>
                <a:cubicBezTo>
                  <a:pt x="16" y="34"/>
                  <a:pt x="7" y="31"/>
                  <a:pt x="3" y="23"/>
                </a:cubicBezTo>
                <a:cubicBezTo>
                  <a:pt x="0" y="16"/>
                  <a:pt x="3" y="7"/>
                  <a:pt x="11" y="4"/>
                </a:cubicBezTo>
                <a:cubicBezTo>
                  <a:pt x="19" y="0"/>
                  <a:pt x="27" y="4"/>
                  <a:pt x="31" y="11"/>
                </a:cubicBezTo>
                <a:cubicBezTo>
                  <a:pt x="34" y="19"/>
                  <a:pt x="31" y="28"/>
                  <a:pt x="23" y="31"/>
                </a:cubicBez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1" name="Freeform 153"/>
          <p:cNvSpPr/>
          <p:nvPr>
            <p:custDataLst>
              <p:tags r:id="rId18"/>
            </p:custDataLst>
          </p:nvPr>
        </p:nvSpPr>
        <p:spPr bwMode="auto">
          <a:xfrm>
            <a:off x="8024195" y="3410697"/>
            <a:ext cx="68916" cy="64442"/>
          </a:xfrm>
          <a:custGeom>
            <a:avLst/>
            <a:gdLst>
              <a:gd name="T0" fmla="*/ 38 w 92"/>
              <a:gd name="T1" fmla="*/ 86 h 86"/>
              <a:gd name="T2" fmla="*/ 92 w 92"/>
              <a:gd name="T3" fmla="*/ 10 h 86"/>
              <a:gd name="T4" fmla="*/ 0 w 92"/>
              <a:gd name="T5" fmla="*/ 0 h 86"/>
              <a:gd name="T6" fmla="*/ 38 w 92"/>
              <a:gd name="T7" fmla="*/ 86 h 86"/>
            </a:gdLst>
            <a:ahLst/>
            <a:cxnLst>
              <a:cxn ang="0">
                <a:pos x="T0" y="T1"/>
              </a:cxn>
              <a:cxn ang="0">
                <a:pos x="T2" y="T3"/>
              </a:cxn>
              <a:cxn ang="0">
                <a:pos x="T4" y="T5"/>
              </a:cxn>
              <a:cxn ang="0">
                <a:pos x="T6" y="T7"/>
              </a:cxn>
            </a:cxnLst>
            <a:rect l="0" t="0" r="r" b="b"/>
            <a:pathLst>
              <a:path w="92" h="86">
                <a:moveTo>
                  <a:pt x="38" y="86"/>
                </a:moveTo>
                <a:lnTo>
                  <a:pt x="92" y="10"/>
                </a:lnTo>
                <a:lnTo>
                  <a:pt x="0" y="0"/>
                </a:lnTo>
                <a:lnTo>
                  <a:pt x="38" y="86"/>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2" name="Freeform 154"/>
          <p:cNvSpPr>
            <a:spLocks noEditPoints="1"/>
          </p:cNvSpPr>
          <p:nvPr>
            <p:custDataLst>
              <p:tags r:id="rId19"/>
            </p:custDataLst>
          </p:nvPr>
        </p:nvSpPr>
        <p:spPr bwMode="auto">
          <a:xfrm>
            <a:off x="6613668" y="2220032"/>
            <a:ext cx="273416" cy="595707"/>
          </a:xfrm>
          <a:custGeom>
            <a:avLst/>
            <a:gdLst>
              <a:gd name="T0" fmla="*/ 365 w 365"/>
              <a:gd name="T1" fmla="*/ 7 h 795"/>
              <a:gd name="T2" fmla="*/ 343 w 365"/>
              <a:gd name="T3" fmla="*/ 10 h 795"/>
              <a:gd name="T4" fmla="*/ 339 w 365"/>
              <a:gd name="T5" fmla="*/ 69 h 795"/>
              <a:gd name="T6" fmla="*/ 332 w 365"/>
              <a:gd name="T7" fmla="*/ 33 h 795"/>
              <a:gd name="T8" fmla="*/ 339 w 365"/>
              <a:gd name="T9" fmla="*/ 69 h 795"/>
              <a:gd name="T10" fmla="*/ 327 w 365"/>
              <a:gd name="T11" fmla="*/ 95 h 795"/>
              <a:gd name="T12" fmla="*/ 298 w 365"/>
              <a:gd name="T13" fmla="*/ 111 h 795"/>
              <a:gd name="T14" fmla="*/ 291 w 365"/>
              <a:gd name="T15" fmla="*/ 173 h 795"/>
              <a:gd name="T16" fmla="*/ 287 w 365"/>
              <a:gd name="T17" fmla="*/ 137 h 795"/>
              <a:gd name="T18" fmla="*/ 291 w 365"/>
              <a:gd name="T19" fmla="*/ 173 h 795"/>
              <a:gd name="T20" fmla="*/ 282 w 365"/>
              <a:gd name="T21" fmla="*/ 199 h 795"/>
              <a:gd name="T22" fmla="*/ 251 w 365"/>
              <a:gd name="T23" fmla="*/ 215 h 795"/>
              <a:gd name="T24" fmla="*/ 246 w 365"/>
              <a:gd name="T25" fmla="*/ 275 h 795"/>
              <a:gd name="T26" fmla="*/ 242 w 365"/>
              <a:gd name="T27" fmla="*/ 241 h 795"/>
              <a:gd name="T28" fmla="*/ 246 w 365"/>
              <a:gd name="T29" fmla="*/ 275 h 795"/>
              <a:gd name="T30" fmla="*/ 235 w 365"/>
              <a:gd name="T31" fmla="*/ 301 h 795"/>
              <a:gd name="T32" fmla="*/ 206 w 365"/>
              <a:gd name="T33" fmla="*/ 319 h 795"/>
              <a:gd name="T34" fmla="*/ 202 w 365"/>
              <a:gd name="T35" fmla="*/ 379 h 795"/>
              <a:gd name="T36" fmla="*/ 194 w 365"/>
              <a:gd name="T37" fmla="*/ 345 h 795"/>
              <a:gd name="T38" fmla="*/ 202 w 365"/>
              <a:gd name="T39" fmla="*/ 379 h 795"/>
              <a:gd name="T40" fmla="*/ 190 w 365"/>
              <a:gd name="T41" fmla="*/ 405 h 795"/>
              <a:gd name="T42" fmla="*/ 161 w 365"/>
              <a:gd name="T43" fmla="*/ 424 h 795"/>
              <a:gd name="T44" fmla="*/ 154 w 365"/>
              <a:gd name="T45" fmla="*/ 483 h 795"/>
              <a:gd name="T46" fmla="*/ 149 w 365"/>
              <a:gd name="T47" fmla="*/ 450 h 795"/>
              <a:gd name="T48" fmla="*/ 154 w 365"/>
              <a:gd name="T49" fmla="*/ 483 h 795"/>
              <a:gd name="T50" fmla="*/ 142 w 365"/>
              <a:gd name="T51" fmla="*/ 509 h 795"/>
              <a:gd name="T52" fmla="*/ 114 w 365"/>
              <a:gd name="T53" fmla="*/ 528 h 795"/>
              <a:gd name="T54" fmla="*/ 109 w 365"/>
              <a:gd name="T55" fmla="*/ 587 h 795"/>
              <a:gd name="T56" fmla="*/ 102 w 365"/>
              <a:gd name="T57" fmla="*/ 554 h 795"/>
              <a:gd name="T58" fmla="*/ 109 w 365"/>
              <a:gd name="T59" fmla="*/ 587 h 795"/>
              <a:gd name="T60" fmla="*/ 97 w 365"/>
              <a:gd name="T61" fmla="*/ 613 h 795"/>
              <a:gd name="T62" fmla="*/ 69 w 365"/>
              <a:gd name="T63" fmla="*/ 632 h 795"/>
              <a:gd name="T64" fmla="*/ 62 w 365"/>
              <a:gd name="T65" fmla="*/ 691 h 795"/>
              <a:gd name="T66" fmla="*/ 57 w 365"/>
              <a:gd name="T67" fmla="*/ 658 h 795"/>
              <a:gd name="T68" fmla="*/ 62 w 365"/>
              <a:gd name="T69" fmla="*/ 691 h 795"/>
              <a:gd name="T70" fmla="*/ 50 w 365"/>
              <a:gd name="T71" fmla="*/ 717 h 795"/>
              <a:gd name="T72" fmla="*/ 22 w 365"/>
              <a:gd name="T73" fmla="*/ 736 h 795"/>
              <a:gd name="T74" fmla="*/ 17 w 365"/>
              <a:gd name="T75" fmla="*/ 795 h 795"/>
              <a:gd name="T76" fmla="*/ 10 w 365"/>
              <a:gd name="T77" fmla="*/ 762 h 795"/>
              <a:gd name="T78" fmla="*/ 17 w 365"/>
              <a:gd name="T79" fmla="*/ 795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5" h="795">
                <a:moveTo>
                  <a:pt x="362" y="17"/>
                </a:moveTo>
                <a:lnTo>
                  <a:pt x="365" y="7"/>
                </a:lnTo>
                <a:lnTo>
                  <a:pt x="348" y="0"/>
                </a:lnTo>
                <a:lnTo>
                  <a:pt x="343" y="10"/>
                </a:lnTo>
                <a:lnTo>
                  <a:pt x="362" y="17"/>
                </a:lnTo>
                <a:close/>
                <a:moveTo>
                  <a:pt x="339" y="69"/>
                </a:moveTo>
                <a:lnTo>
                  <a:pt x="351" y="43"/>
                </a:lnTo>
                <a:lnTo>
                  <a:pt x="332" y="33"/>
                </a:lnTo>
                <a:lnTo>
                  <a:pt x="322" y="59"/>
                </a:lnTo>
                <a:lnTo>
                  <a:pt x="339" y="69"/>
                </a:lnTo>
                <a:close/>
                <a:moveTo>
                  <a:pt x="315" y="121"/>
                </a:moveTo>
                <a:lnTo>
                  <a:pt x="327" y="95"/>
                </a:lnTo>
                <a:lnTo>
                  <a:pt x="310" y="85"/>
                </a:lnTo>
                <a:lnTo>
                  <a:pt x="298" y="111"/>
                </a:lnTo>
                <a:lnTo>
                  <a:pt x="315" y="121"/>
                </a:lnTo>
                <a:close/>
                <a:moveTo>
                  <a:pt x="291" y="173"/>
                </a:moveTo>
                <a:lnTo>
                  <a:pt x="303" y="147"/>
                </a:lnTo>
                <a:lnTo>
                  <a:pt x="287" y="137"/>
                </a:lnTo>
                <a:lnTo>
                  <a:pt x="275" y="163"/>
                </a:lnTo>
                <a:lnTo>
                  <a:pt x="291" y="173"/>
                </a:lnTo>
                <a:close/>
                <a:moveTo>
                  <a:pt x="270" y="225"/>
                </a:moveTo>
                <a:lnTo>
                  <a:pt x="282" y="199"/>
                </a:lnTo>
                <a:lnTo>
                  <a:pt x="263" y="189"/>
                </a:lnTo>
                <a:lnTo>
                  <a:pt x="251" y="215"/>
                </a:lnTo>
                <a:lnTo>
                  <a:pt x="270" y="225"/>
                </a:lnTo>
                <a:close/>
                <a:moveTo>
                  <a:pt x="246" y="275"/>
                </a:moveTo>
                <a:lnTo>
                  <a:pt x="258" y="249"/>
                </a:lnTo>
                <a:lnTo>
                  <a:pt x="242" y="241"/>
                </a:lnTo>
                <a:lnTo>
                  <a:pt x="230" y="267"/>
                </a:lnTo>
                <a:lnTo>
                  <a:pt x="246" y="275"/>
                </a:lnTo>
                <a:close/>
                <a:moveTo>
                  <a:pt x="223" y="327"/>
                </a:moveTo>
                <a:lnTo>
                  <a:pt x="235" y="301"/>
                </a:lnTo>
                <a:lnTo>
                  <a:pt x="218" y="293"/>
                </a:lnTo>
                <a:lnTo>
                  <a:pt x="206" y="319"/>
                </a:lnTo>
                <a:lnTo>
                  <a:pt x="223" y="327"/>
                </a:lnTo>
                <a:close/>
                <a:moveTo>
                  <a:pt x="202" y="379"/>
                </a:moveTo>
                <a:lnTo>
                  <a:pt x="211" y="353"/>
                </a:lnTo>
                <a:lnTo>
                  <a:pt x="194" y="345"/>
                </a:lnTo>
                <a:lnTo>
                  <a:pt x="183" y="371"/>
                </a:lnTo>
                <a:lnTo>
                  <a:pt x="202" y="379"/>
                </a:lnTo>
                <a:close/>
                <a:moveTo>
                  <a:pt x="178" y="431"/>
                </a:moveTo>
                <a:lnTo>
                  <a:pt x="190" y="405"/>
                </a:lnTo>
                <a:lnTo>
                  <a:pt x="171" y="397"/>
                </a:lnTo>
                <a:lnTo>
                  <a:pt x="161" y="424"/>
                </a:lnTo>
                <a:lnTo>
                  <a:pt x="178" y="431"/>
                </a:lnTo>
                <a:close/>
                <a:moveTo>
                  <a:pt x="154" y="483"/>
                </a:moveTo>
                <a:lnTo>
                  <a:pt x="166" y="457"/>
                </a:lnTo>
                <a:lnTo>
                  <a:pt x="149" y="450"/>
                </a:lnTo>
                <a:lnTo>
                  <a:pt x="138" y="476"/>
                </a:lnTo>
                <a:lnTo>
                  <a:pt x="154" y="483"/>
                </a:lnTo>
                <a:close/>
                <a:moveTo>
                  <a:pt x="131" y="535"/>
                </a:moveTo>
                <a:lnTo>
                  <a:pt x="142" y="509"/>
                </a:lnTo>
                <a:lnTo>
                  <a:pt x="126" y="502"/>
                </a:lnTo>
                <a:lnTo>
                  <a:pt x="114" y="528"/>
                </a:lnTo>
                <a:lnTo>
                  <a:pt x="131" y="535"/>
                </a:lnTo>
                <a:close/>
                <a:moveTo>
                  <a:pt x="109" y="587"/>
                </a:moveTo>
                <a:lnTo>
                  <a:pt x="121" y="561"/>
                </a:lnTo>
                <a:lnTo>
                  <a:pt x="102" y="554"/>
                </a:lnTo>
                <a:lnTo>
                  <a:pt x="90" y="580"/>
                </a:lnTo>
                <a:lnTo>
                  <a:pt x="109" y="587"/>
                </a:lnTo>
                <a:close/>
                <a:moveTo>
                  <a:pt x="86" y="639"/>
                </a:moveTo>
                <a:lnTo>
                  <a:pt x="97" y="613"/>
                </a:lnTo>
                <a:lnTo>
                  <a:pt x="81" y="606"/>
                </a:lnTo>
                <a:lnTo>
                  <a:pt x="69" y="632"/>
                </a:lnTo>
                <a:lnTo>
                  <a:pt x="86" y="639"/>
                </a:lnTo>
                <a:close/>
                <a:moveTo>
                  <a:pt x="62" y="691"/>
                </a:moveTo>
                <a:lnTo>
                  <a:pt x="74" y="665"/>
                </a:lnTo>
                <a:lnTo>
                  <a:pt x="57" y="658"/>
                </a:lnTo>
                <a:lnTo>
                  <a:pt x="45" y="684"/>
                </a:lnTo>
                <a:lnTo>
                  <a:pt x="62" y="691"/>
                </a:lnTo>
                <a:close/>
                <a:moveTo>
                  <a:pt x="41" y="743"/>
                </a:moveTo>
                <a:lnTo>
                  <a:pt x="50" y="717"/>
                </a:lnTo>
                <a:lnTo>
                  <a:pt x="34" y="710"/>
                </a:lnTo>
                <a:lnTo>
                  <a:pt x="22" y="736"/>
                </a:lnTo>
                <a:lnTo>
                  <a:pt x="41" y="743"/>
                </a:lnTo>
                <a:close/>
                <a:moveTo>
                  <a:pt x="17" y="795"/>
                </a:moveTo>
                <a:lnTo>
                  <a:pt x="29" y="769"/>
                </a:lnTo>
                <a:lnTo>
                  <a:pt x="10" y="762"/>
                </a:lnTo>
                <a:lnTo>
                  <a:pt x="0" y="788"/>
                </a:lnTo>
                <a:lnTo>
                  <a:pt x="17" y="795"/>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3" name="Freeform 155"/>
          <p:cNvSpPr/>
          <p:nvPr>
            <p:custDataLst>
              <p:tags r:id="rId20"/>
            </p:custDataLst>
          </p:nvPr>
        </p:nvSpPr>
        <p:spPr bwMode="auto">
          <a:xfrm>
            <a:off x="6588947" y="2780520"/>
            <a:ext cx="62174" cy="61444"/>
          </a:xfrm>
          <a:custGeom>
            <a:avLst/>
            <a:gdLst>
              <a:gd name="T0" fmla="*/ 31 w 35"/>
              <a:gd name="T1" fmla="*/ 24 h 35"/>
              <a:gd name="T2" fmla="*/ 11 w 35"/>
              <a:gd name="T3" fmla="*/ 31 h 35"/>
              <a:gd name="T4" fmla="*/ 4 w 35"/>
              <a:gd name="T5" fmla="*/ 11 h 35"/>
              <a:gd name="T6" fmla="*/ 24 w 35"/>
              <a:gd name="T7" fmla="*/ 4 h 35"/>
              <a:gd name="T8" fmla="*/ 31 w 35"/>
              <a:gd name="T9" fmla="*/ 24 h 35"/>
            </a:gdLst>
            <a:ahLst/>
            <a:cxnLst>
              <a:cxn ang="0">
                <a:pos x="T0" y="T1"/>
              </a:cxn>
              <a:cxn ang="0">
                <a:pos x="T2" y="T3"/>
              </a:cxn>
              <a:cxn ang="0">
                <a:pos x="T4" y="T5"/>
              </a:cxn>
              <a:cxn ang="0">
                <a:pos x="T6" y="T7"/>
              </a:cxn>
              <a:cxn ang="0">
                <a:pos x="T8" y="T9"/>
              </a:cxn>
            </a:cxnLst>
            <a:rect l="0" t="0" r="r" b="b"/>
            <a:pathLst>
              <a:path w="35" h="35">
                <a:moveTo>
                  <a:pt x="31" y="24"/>
                </a:moveTo>
                <a:cubicBezTo>
                  <a:pt x="28" y="31"/>
                  <a:pt x="19" y="35"/>
                  <a:pt x="11" y="31"/>
                </a:cubicBezTo>
                <a:cubicBezTo>
                  <a:pt x="4" y="28"/>
                  <a:pt x="0" y="19"/>
                  <a:pt x="4" y="11"/>
                </a:cubicBezTo>
                <a:cubicBezTo>
                  <a:pt x="7" y="4"/>
                  <a:pt x="16" y="0"/>
                  <a:pt x="24" y="4"/>
                </a:cubicBezTo>
                <a:cubicBezTo>
                  <a:pt x="31" y="7"/>
                  <a:pt x="35" y="16"/>
                  <a:pt x="31" y="24"/>
                </a:cubicBez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4" name="Freeform 156"/>
          <p:cNvSpPr/>
          <p:nvPr>
            <p:custDataLst>
              <p:tags r:id="rId21"/>
            </p:custDataLst>
          </p:nvPr>
        </p:nvSpPr>
        <p:spPr bwMode="auto">
          <a:xfrm>
            <a:off x="6844386" y="2175822"/>
            <a:ext cx="63672" cy="71185"/>
          </a:xfrm>
          <a:custGeom>
            <a:avLst/>
            <a:gdLst>
              <a:gd name="T0" fmla="*/ 85 w 85"/>
              <a:gd name="T1" fmla="*/ 95 h 95"/>
              <a:gd name="T2" fmla="*/ 76 w 85"/>
              <a:gd name="T3" fmla="*/ 0 h 95"/>
              <a:gd name="T4" fmla="*/ 0 w 85"/>
              <a:gd name="T5" fmla="*/ 57 h 95"/>
              <a:gd name="T6" fmla="*/ 85 w 85"/>
              <a:gd name="T7" fmla="*/ 95 h 95"/>
            </a:gdLst>
            <a:ahLst/>
            <a:cxnLst>
              <a:cxn ang="0">
                <a:pos x="T0" y="T1"/>
              </a:cxn>
              <a:cxn ang="0">
                <a:pos x="T2" y="T3"/>
              </a:cxn>
              <a:cxn ang="0">
                <a:pos x="T4" y="T5"/>
              </a:cxn>
              <a:cxn ang="0">
                <a:pos x="T6" y="T7"/>
              </a:cxn>
            </a:cxnLst>
            <a:rect l="0" t="0" r="r" b="b"/>
            <a:pathLst>
              <a:path w="85" h="95">
                <a:moveTo>
                  <a:pt x="85" y="95"/>
                </a:moveTo>
                <a:lnTo>
                  <a:pt x="76" y="0"/>
                </a:lnTo>
                <a:lnTo>
                  <a:pt x="0" y="57"/>
                </a:lnTo>
                <a:lnTo>
                  <a:pt x="85" y="95"/>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5" name="Freeform 157"/>
          <p:cNvSpPr>
            <a:spLocks noEditPoints="1"/>
          </p:cNvSpPr>
          <p:nvPr>
            <p:custDataLst>
              <p:tags r:id="rId22"/>
            </p:custDataLst>
          </p:nvPr>
        </p:nvSpPr>
        <p:spPr bwMode="auto">
          <a:xfrm>
            <a:off x="3963401" y="3432427"/>
            <a:ext cx="595523" cy="272751"/>
          </a:xfrm>
          <a:custGeom>
            <a:avLst/>
            <a:gdLst>
              <a:gd name="T0" fmla="*/ 10 w 795"/>
              <a:gd name="T1" fmla="*/ 0 h 364"/>
              <a:gd name="T2" fmla="*/ 10 w 795"/>
              <a:gd name="T3" fmla="*/ 21 h 364"/>
              <a:gd name="T4" fmla="*/ 69 w 795"/>
              <a:gd name="T5" fmla="*/ 26 h 364"/>
              <a:gd name="T6" fmla="*/ 36 w 795"/>
              <a:gd name="T7" fmla="*/ 33 h 364"/>
              <a:gd name="T8" fmla="*/ 69 w 795"/>
              <a:gd name="T9" fmla="*/ 26 h 364"/>
              <a:gd name="T10" fmla="*/ 95 w 795"/>
              <a:gd name="T11" fmla="*/ 38 h 364"/>
              <a:gd name="T12" fmla="*/ 114 w 795"/>
              <a:gd name="T13" fmla="*/ 66 h 364"/>
              <a:gd name="T14" fmla="*/ 173 w 795"/>
              <a:gd name="T15" fmla="*/ 73 h 364"/>
              <a:gd name="T16" fmla="*/ 140 w 795"/>
              <a:gd name="T17" fmla="*/ 78 h 364"/>
              <a:gd name="T18" fmla="*/ 173 w 795"/>
              <a:gd name="T19" fmla="*/ 73 h 364"/>
              <a:gd name="T20" fmla="*/ 199 w 795"/>
              <a:gd name="T21" fmla="*/ 83 h 364"/>
              <a:gd name="T22" fmla="*/ 218 w 795"/>
              <a:gd name="T23" fmla="*/ 113 h 364"/>
              <a:gd name="T24" fmla="*/ 277 w 795"/>
              <a:gd name="T25" fmla="*/ 118 h 364"/>
              <a:gd name="T26" fmla="*/ 244 w 795"/>
              <a:gd name="T27" fmla="*/ 123 h 364"/>
              <a:gd name="T28" fmla="*/ 277 w 795"/>
              <a:gd name="T29" fmla="*/ 118 h 364"/>
              <a:gd name="T30" fmla="*/ 303 w 795"/>
              <a:gd name="T31" fmla="*/ 130 h 364"/>
              <a:gd name="T32" fmla="*/ 322 w 795"/>
              <a:gd name="T33" fmla="*/ 158 h 364"/>
              <a:gd name="T34" fmla="*/ 381 w 795"/>
              <a:gd name="T35" fmla="*/ 163 h 364"/>
              <a:gd name="T36" fmla="*/ 348 w 795"/>
              <a:gd name="T37" fmla="*/ 170 h 364"/>
              <a:gd name="T38" fmla="*/ 381 w 795"/>
              <a:gd name="T39" fmla="*/ 163 h 364"/>
              <a:gd name="T40" fmla="*/ 407 w 795"/>
              <a:gd name="T41" fmla="*/ 175 h 364"/>
              <a:gd name="T42" fmla="*/ 424 w 795"/>
              <a:gd name="T43" fmla="*/ 203 h 364"/>
              <a:gd name="T44" fmla="*/ 485 w 795"/>
              <a:gd name="T45" fmla="*/ 210 h 364"/>
              <a:gd name="T46" fmla="*/ 450 w 795"/>
              <a:gd name="T47" fmla="*/ 215 h 364"/>
              <a:gd name="T48" fmla="*/ 485 w 795"/>
              <a:gd name="T49" fmla="*/ 210 h 364"/>
              <a:gd name="T50" fmla="*/ 511 w 795"/>
              <a:gd name="T51" fmla="*/ 222 h 364"/>
              <a:gd name="T52" fmla="*/ 528 w 795"/>
              <a:gd name="T53" fmla="*/ 251 h 364"/>
              <a:gd name="T54" fmla="*/ 589 w 795"/>
              <a:gd name="T55" fmla="*/ 255 h 364"/>
              <a:gd name="T56" fmla="*/ 554 w 795"/>
              <a:gd name="T57" fmla="*/ 262 h 364"/>
              <a:gd name="T58" fmla="*/ 589 w 795"/>
              <a:gd name="T59" fmla="*/ 255 h 364"/>
              <a:gd name="T60" fmla="*/ 615 w 795"/>
              <a:gd name="T61" fmla="*/ 267 h 364"/>
              <a:gd name="T62" fmla="*/ 632 w 795"/>
              <a:gd name="T63" fmla="*/ 295 h 364"/>
              <a:gd name="T64" fmla="*/ 691 w 795"/>
              <a:gd name="T65" fmla="*/ 303 h 364"/>
              <a:gd name="T66" fmla="*/ 658 w 795"/>
              <a:gd name="T67" fmla="*/ 307 h 364"/>
              <a:gd name="T68" fmla="*/ 691 w 795"/>
              <a:gd name="T69" fmla="*/ 303 h 364"/>
              <a:gd name="T70" fmla="*/ 717 w 795"/>
              <a:gd name="T71" fmla="*/ 312 h 364"/>
              <a:gd name="T72" fmla="*/ 736 w 795"/>
              <a:gd name="T73" fmla="*/ 343 h 364"/>
              <a:gd name="T74" fmla="*/ 795 w 795"/>
              <a:gd name="T75" fmla="*/ 347 h 364"/>
              <a:gd name="T76" fmla="*/ 762 w 795"/>
              <a:gd name="T77" fmla="*/ 352 h 364"/>
              <a:gd name="T78" fmla="*/ 795 w 795"/>
              <a:gd name="T79" fmla="*/ 347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95" h="364">
                <a:moveTo>
                  <a:pt x="17" y="5"/>
                </a:moveTo>
                <a:lnTo>
                  <a:pt x="10" y="0"/>
                </a:lnTo>
                <a:lnTo>
                  <a:pt x="0" y="16"/>
                </a:lnTo>
                <a:lnTo>
                  <a:pt x="10" y="21"/>
                </a:lnTo>
                <a:lnTo>
                  <a:pt x="17" y="5"/>
                </a:lnTo>
                <a:close/>
                <a:moveTo>
                  <a:pt x="69" y="26"/>
                </a:moveTo>
                <a:lnTo>
                  <a:pt x="43" y="14"/>
                </a:lnTo>
                <a:lnTo>
                  <a:pt x="36" y="33"/>
                </a:lnTo>
                <a:lnTo>
                  <a:pt x="62" y="45"/>
                </a:lnTo>
                <a:lnTo>
                  <a:pt x="69" y="26"/>
                </a:lnTo>
                <a:close/>
                <a:moveTo>
                  <a:pt x="121" y="49"/>
                </a:moveTo>
                <a:lnTo>
                  <a:pt x="95" y="38"/>
                </a:lnTo>
                <a:lnTo>
                  <a:pt x="88" y="54"/>
                </a:lnTo>
                <a:lnTo>
                  <a:pt x="114" y="66"/>
                </a:lnTo>
                <a:lnTo>
                  <a:pt x="121" y="49"/>
                </a:lnTo>
                <a:close/>
                <a:moveTo>
                  <a:pt x="173" y="73"/>
                </a:moveTo>
                <a:lnTo>
                  <a:pt x="147" y="61"/>
                </a:lnTo>
                <a:lnTo>
                  <a:pt x="140" y="78"/>
                </a:lnTo>
                <a:lnTo>
                  <a:pt x="166" y="90"/>
                </a:lnTo>
                <a:lnTo>
                  <a:pt x="173" y="73"/>
                </a:lnTo>
                <a:close/>
                <a:moveTo>
                  <a:pt x="225" y="94"/>
                </a:moveTo>
                <a:lnTo>
                  <a:pt x="199" y="83"/>
                </a:lnTo>
                <a:lnTo>
                  <a:pt x="192" y="102"/>
                </a:lnTo>
                <a:lnTo>
                  <a:pt x="218" y="113"/>
                </a:lnTo>
                <a:lnTo>
                  <a:pt x="225" y="94"/>
                </a:lnTo>
                <a:close/>
                <a:moveTo>
                  <a:pt x="277" y="118"/>
                </a:moveTo>
                <a:lnTo>
                  <a:pt x="251" y="106"/>
                </a:lnTo>
                <a:lnTo>
                  <a:pt x="244" y="123"/>
                </a:lnTo>
                <a:lnTo>
                  <a:pt x="270" y="135"/>
                </a:lnTo>
                <a:lnTo>
                  <a:pt x="277" y="118"/>
                </a:lnTo>
                <a:close/>
                <a:moveTo>
                  <a:pt x="329" y="142"/>
                </a:moveTo>
                <a:lnTo>
                  <a:pt x="303" y="130"/>
                </a:lnTo>
                <a:lnTo>
                  <a:pt x="296" y="146"/>
                </a:lnTo>
                <a:lnTo>
                  <a:pt x="322" y="158"/>
                </a:lnTo>
                <a:lnTo>
                  <a:pt x="329" y="142"/>
                </a:lnTo>
                <a:close/>
                <a:moveTo>
                  <a:pt x="381" y="163"/>
                </a:moveTo>
                <a:lnTo>
                  <a:pt x="355" y="154"/>
                </a:lnTo>
                <a:lnTo>
                  <a:pt x="348" y="170"/>
                </a:lnTo>
                <a:lnTo>
                  <a:pt x="374" y="182"/>
                </a:lnTo>
                <a:lnTo>
                  <a:pt x="381" y="163"/>
                </a:lnTo>
                <a:close/>
                <a:moveTo>
                  <a:pt x="433" y="187"/>
                </a:moveTo>
                <a:lnTo>
                  <a:pt x="407" y="175"/>
                </a:lnTo>
                <a:lnTo>
                  <a:pt x="398" y="194"/>
                </a:lnTo>
                <a:lnTo>
                  <a:pt x="424" y="203"/>
                </a:lnTo>
                <a:lnTo>
                  <a:pt x="433" y="187"/>
                </a:lnTo>
                <a:close/>
                <a:moveTo>
                  <a:pt x="485" y="210"/>
                </a:moveTo>
                <a:lnTo>
                  <a:pt x="459" y="198"/>
                </a:lnTo>
                <a:lnTo>
                  <a:pt x="450" y="215"/>
                </a:lnTo>
                <a:lnTo>
                  <a:pt x="476" y="227"/>
                </a:lnTo>
                <a:lnTo>
                  <a:pt x="485" y="210"/>
                </a:lnTo>
                <a:close/>
                <a:moveTo>
                  <a:pt x="537" y="232"/>
                </a:moveTo>
                <a:lnTo>
                  <a:pt x="511" y="222"/>
                </a:lnTo>
                <a:lnTo>
                  <a:pt x="502" y="239"/>
                </a:lnTo>
                <a:lnTo>
                  <a:pt x="528" y="251"/>
                </a:lnTo>
                <a:lnTo>
                  <a:pt x="537" y="232"/>
                </a:lnTo>
                <a:close/>
                <a:moveTo>
                  <a:pt x="589" y="255"/>
                </a:moveTo>
                <a:lnTo>
                  <a:pt x="563" y="243"/>
                </a:lnTo>
                <a:lnTo>
                  <a:pt x="554" y="262"/>
                </a:lnTo>
                <a:lnTo>
                  <a:pt x="580" y="272"/>
                </a:lnTo>
                <a:lnTo>
                  <a:pt x="589" y="255"/>
                </a:lnTo>
                <a:close/>
                <a:moveTo>
                  <a:pt x="641" y="279"/>
                </a:moveTo>
                <a:lnTo>
                  <a:pt x="615" y="267"/>
                </a:lnTo>
                <a:lnTo>
                  <a:pt x="606" y="284"/>
                </a:lnTo>
                <a:lnTo>
                  <a:pt x="632" y="295"/>
                </a:lnTo>
                <a:lnTo>
                  <a:pt x="641" y="279"/>
                </a:lnTo>
                <a:close/>
                <a:moveTo>
                  <a:pt x="691" y="303"/>
                </a:moveTo>
                <a:lnTo>
                  <a:pt x="665" y="291"/>
                </a:lnTo>
                <a:lnTo>
                  <a:pt x="658" y="307"/>
                </a:lnTo>
                <a:lnTo>
                  <a:pt x="684" y="319"/>
                </a:lnTo>
                <a:lnTo>
                  <a:pt x="691" y="303"/>
                </a:lnTo>
                <a:close/>
                <a:moveTo>
                  <a:pt x="743" y="324"/>
                </a:moveTo>
                <a:lnTo>
                  <a:pt x="717" y="312"/>
                </a:lnTo>
                <a:lnTo>
                  <a:pt x="710" y="331"/>
                </a:lnTo>
                <a:lnTo>
                  <a:pt x="736" y="343"/>
                </a:lnTo>
                <a:lnTo>
                  <a:pt x="743" y="324"/>
                </a:lnTo>
                <a:close/>
                <a:moveTo>
                  <a:pt x="795" y="347"/>
                </a:moveTo>
                <a:lnTo>
                  <a:pt x="769" y="336"/>
                </a:lnTo>
                <a:lnTo>
                  <a:pt x="762" y="352"/>
                </a:lnTo>
                <a:lnTo>
                  <a:pt x="788" y="364"/>
                </a:lnTo>
                <a:lnTo>
                  <a:pt x="795" y="347"/>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6" name="Freeform 158"/>
          <p:cNvSpPr/>
          <p:nvPr>
            <p:custDataLst>
              <p:tags r:id="rId23"/>
            </p:custDataLst>
          </p:nvPr>
        </p:nvSpPr>
        <p:spPr bwMode="auto">
          <a:xfrm>
            <a:off x="4525216" y="3667712"/>
            <a:ext cx="59926" cy="60695"/>
          </a:xfrm>
          <a:custGeom>
            <a:avLst/>
            <a:gdLst>
              <a:gd name="T0" fmla="*/ 23 w 34"/>
              <a:gd name="T1" fmla="*/ 4 h 34"/>
              <a:gd name="T2" fmla="*/ 31 w 34"/>
              <a:gd name="T3" fmla="*/ 23 h 34"/>
              <a:gd name="T4" fmla="*/ 11 w 34"/>
              <a:gd name="T5" fmla="*/ 31 h 34"/>
              <a:gd name="T6" fmla="*/ 3 w 34"/>
              <a:gd name="T7" fmla="*/ 11 h 34"/>
              <a:gd name="T8" fmla="*/ 23 w 34"/>
              <a:gd name="T9" fmla="*/ 4 h 34"/>
            </a:gdLst>
            <a:ahLst/>
            <a:cxnLst>
              <a:cxn ang="0">
                <a:pos x="T0" y="T1"/>
              </a:cxn>
              <a:cxn ang="0">
                <a:pos x="T2" y="T3"/>
              </a:cxn>
              <a:cxn ang="0">
                <a:pos x="T4" y="T5"/>
              </a:cxn>
              <a:cxn ang="0">
                <a:pos x="T6" y="T7"/>
              </a:cxn>
              <a:cxn ang="0">
                <a:pos x="T8" y="T9"/>
              </a:cxn>
            </a:cxnLst>
            <a:rect l="0" t="0" r="r" b="b"/>
            <a:pathLst>
              <a:path w="34" h="34">
                <a:moveTo>
                  <a:pt x="23" y="4"/>
                </a:moveTo>
                <a:cubicBezTo>
                  <a:pt x="31" y="7"/>
                  <a:pt x="34" y="16"/>
                  <a:pt x="31" y="23"/>
                </a:cubicBezTo>
                <a:cubicBezTo>
                  <a:pt x="27" y="31"/>
                  <a:pt x="19" y="34"/>
                  <a:pt x="11" y="31"/>
                </a:cubicBezTo>
                <a:cubicBezTo>
                  <a:pt x="3" y="28"/>
                  <a:pt x="0" y="19"/>
                  <a:pt x="3" y="11"/>
                </a:cubicBezTo>
                <a:cubicBezTo>
                  <a:pt x="7" y="4"/>
                  <a:pt x="16" y="0"/>
                  <a:pt x="23" y="4"/>
                </a:cubicBez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7" name="Freeform 159"/>
          <p:cNvSpPr/>
          <p:nvPr>
            <p:custDataLst>
              <p:tags r:id="rId24"/>
            </p:custDataLst>
          </p:nvPr>
        </p:nvSpPr>
        <p:spPr bwMode="auto">
          <a:xfrm>
            <a:off x="3920703" y="3410697"/>
            <a:ext cx="69665" cy="64442"/>
          </a:xfrm>
          <a:custGeom>
            <a:avLst/>
            <a:gdLst>
              <a:gd name="T0" fmla="*/ 93 w 93"/>
              <a:gd name="T1" fmla="*/ 0 h 86"/>
              <a:gd name="T2" fmla="*/ 0 w 93"/>
              <a:gd name="T3" fmla="*/ 10 h 86"/>
              <a:gd name="T4" fmla="*/ 55 w 93"/>
              <a:gd name="T5" fmla="*/ 86 h 86"/>
              <a:gd name="T6" fmla="*/ 93 w 93"/>
              <a:gd name="T7" fmla="*/ 0 h 86"/>
            </a:gdLst>
            <a:ahLst/>
            <a:cxnLst>
              <a:cxn ang="0">
                <a:pos x="T0" y="T1"/>
              </a:cxn>
              <a:cxn ang="0">
                <a:pos x="T2" y="T3"/>
              </a:cxn>
              <a:cxn ang="0">
                <a:pos x="T4" y="T5"/>
              </a:cxn>
              <a:cxn ang="0">
                <a:pos x="T6" y="T7"/>
              </a:cxn>
            </a:cxnLst>
            <a:rect l="0" t="0" r="r" b="b"/>
            <a:pathLst>
              <a:path w="93" h="86">
                <a:moveTo>
                  <a:pt x="93" y="0"/>
                </a:moveTo>
                <a:lnTo>
                  <a:pt x="0" y="10"/>
                </a:lnTo>
                <a:lnTo>
                  <a:pt x="55" y="86"/>
                </a:lnTo>
                <a:lnTo>
                  <a:pt x="93" y="0"/>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8" name="Freeform 160"/>
          <p:cNvSpPr>
            <a:spLocks noEditPoints="1"/>
          </p:cNvSpPr>
          <p:nvPr>
            <p:custDataLst>
              <p:tags r:id="rId25"/>
            </p:custDataLst>
          </p:nvPr>
        </p:nvSpPr>
        <p:spPr bwMode="auto">
          <a:xfrm>
            <a:off x="5127482" y="2220032"/>
            <a:ext cx="274915" cy="595707"/>
          </a:xfrm>
          <a:custGeom>
            <a:avLst/>
            <a:gdLst>
              <a:gd name="T0" fmla="*/ 17 w 367"/>
              <a:gd name="T1" fmla="*/ 0 h 795"/>
              <a:gd name="T2" fmla="*/ 5 w 367"/>
              <a:gd name="T3" fmla="*/ 17 h 795"/>
              <a:gd name="T4" fmla="*/ 45 w 367"/>
              <a:gd name="T5" fmla="*/ 59 h 795"/>
              <a:gd name="T6" fmla="*/ 14 w 367"/>
              <a:gd name="T7" fmla="*/ 43 h 795"/>
              <a:gd name="T8" fmla="*/ 45 w 367"/>
              <a:gd name="T9" fmla="*/ 59 h 795"/>
              <a:gd name="T10" fmla="*/ 55 w 367"/>
              <a:gd name="T11" fmla="*/ 85 h 795"/>
              <a:gd name="T12" fmla="*/ 50 w 367"/>
              <a:gd name="T13" fmla="*/ 121 h 795"/>
              <a:gd name="T14" fmla="*/ 90 w 367"/>
              <a:gd name="T15" fmla="*/ 163 h 795"/>
              <a:gd name="T16" fmla="*/ 62 w 367"/>
              <a:gd name="T17" fmla="*/ 147 h 795"/>
              <a:gd name="T18" fmla="*/ 90 w 367"/>
              <a:gd name="T19" fmla="*/ 163 h 795"/>
              <a:gd name="T20" fmla="*/ 102 w 367"/>
              <a:gd name="T21" fmla="*/ 189 h 795"/>
              <a:gd name="T22" fmla="*/ 95 w 367"/>
              <a:gd name="T23" fmla="*/ 225 h 795"/>
              <a:gd name="T24" fmla="*/ 135 w 367"/>
              <a:gd name="T25" fmla="*/ 267 h 795"/>
              <a:gd name="T26" fmla="*/ 107 w 367"/>
              <a:gd name="T27" fmla="*/ 249 h 795"/>
              <a:gd name="T28" fmla="*/ 135 w 367"/>
              <a:gd name="T29" fmla="*/ 267 h 795"/>
              <a:gd name="T30" fmla="*/ 147 w 367"/>
              <a:gd name="T31" fmla="*/ 293 h 795"/>
              <a:gd name="T32" fmla="*/ 142 w 367"/>
              <a:gd name="T33" fmla="*/ 327 h 795"/>
              <a:gd name="T34" fmla="*/ 182 w 367"/>
              <a:gd name="T35" fmla="*/ 371 h 795"/>
              <a:gd name="T36" fmla="*/ 154 w 367"/>
              <a:gd name="T37" fmla="*/ 353 h 795"/>
              <a:gd name="T38" fmla="*/ 182 w 367"/>
              <a:gd name="T39" fmla="*/ 371 h 795"/>
              <a:gd name="T40" fmla="*/ 194 w 367"/>
              <a:gd name="T41" fmla="*/ 397 h 795"/>
              <a:gd name="T42" fmla="*/ 187 w 367"/>
              <a:gd name="T43" fmla="*/ 431 h 795"/>
              <a:gd name="T44" fmla="*/ 227 w 367"/>
              <a:gd name="T45" fmla="*/ 476 h 795"/>
              <a:gd name="T46" fmla="*/ 199 w 367"/>
              <a:gd name="T47" fmla="*/ 457 h 795"/>
              <a:gd name="T48" fmla="*/ 227 w 367"/>
              <a:gd name="T49" fmla="*/ 476 h 795"/>
              <a:gd name="T50" fmla="*/ 239 w 367"/>
              <a:gd name="T51" fmla="*/ 502 h 795"/>
              <a:gd name="T52" fmla="*/ 234 w 367"/>
              <a:gd name="T53" fmla="*/ 535 h 795"/>
              <a:gd name="T54" fmla="*/ 274 w 367"/>
              <a:gd name="T55" fmla="*/ 580 h 795"/>
              <a:gd name="T56" fmla="*/ 246 w 367"/>
              <a:gd name="T57" fmla="*/ 561 h 795"/>
              <a:gd name="T58" fmla="*/ 274 w 367"/>
              <a:gd name="T59" fmla="*/ 580 h 795"/>
              <a:gd name="T60" fmla="*/ 286 w 367"/>
              <a:gd name="T61" fmla="*/ 606 h 795"/>
              <a:gd name="T62" fmla="*/ 279 w 367"/>
              <a:gd name="T63" fmla="*/ 639 h 795"/>
              <a:gd name="T64" fmla="*/ 319 w 367"/>
              <a:gd name="T65" fmla="*/ 684 h 795"/>
              <a:gd name="T66" fmla="*/ 291 w 367"/>
              <a:gd name="T67" fmla="*/ 665 h 795"/>
              <a:gd name="T68" fmla="*/ 319 w 367"/>
              <a:gd name="T69" fmla="*/ 684 h 795"/>
              <a:gd name="T70" fmla="*/ 331 w 367"/>
              <a:gd name="T71" fmla="*/ 710 h 795"/>
              <a:gd name="T72" fmla="*/ 327 w 367"/>
              <a:gd name="T73" fmla="*/ 743 h 795"/>
              <a:gd name="T74" fmla="*/ 367 w 367"/>
              <a:gd name="T75" fmla="*/ 788 h 795"/>
              <a:gd name="T76" fmla="*/ 336 w 367"/>
              <a:gd name="T77" fmla="*/ 769 h 795"/>
              <a:gd name="T78" fmla="*/ 367 w 367"/>
              <a:gd name="T79" fmla="*/ 788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7" h="795">
                <a:moveTo>
                  <a:pt x="21" y="10"/>
                </a:moveTo>
                <a:lnTo>
                  <a:pt x="17" y="0"/>
                </a:lnTo>
                <a:lnTo>
                  <a:pt x="0" y="7"/>
                </a:lnTo>
                <a:lnTo>
                  <a:pt x="5" y="17"/>
                </a:lnTo>
                <a:lnTo>
                  <a:pt x="21" y="10"/>
                </a:lnTo>
                <a:close/>
                <a:moveTo>
                  <a:pt x="45" y="59"/>
                </a:moveTo>
                <a:lnTo>
                  <a:pt x="33" y="33"/>
                </a:lnTo>
                <a:lnTo>
                  <a:pt x="14" y="43"/>
                </a:lnTo>
                <a:lnTo>
                  <a:pt x="26" y="69"/>
                </a:lnTo>
                <a:lnTo>
                  <a:pt x="45" y="59"/>
                </a:lnTo>
                <a:close/>
                <a:moveTo>
                  <a:pt x="66" y="111"/>
                </a:moveTo>
                <a:lnTo>
                  <a:pt x="55" y="85"/>
                </a:lnTo>
                <a:lnTo>
                  <a:pt x="38" y="95"/>
                </a:lnTo>
                <a:lnTo>
                  <a:pt x="50" y="121"/>
                </a:lnTo>
                <a:lnTo>
                  <a:pt x="66" y="111"/>
                </a:lnTo>
                <a:close/>
                <a:moveTo>
                  <a:pt x="90" y="163"/>
                </a:moveTo>
                <a:lnTo>
                  <a:pt x="78" y="137"/>
                </a:lnTo>
                <a:lnTo>
                  <a:pt x="62" y="147"/>
                </a:lnTo>
                <a:lnTo>
                  <a:pt x="73" y="173"/>
                </a:lnTo>
                <a:lnTo>
                  <a:pt x="90" y="163"/>
                </a:lnTo>
                <a:close/>
                <a:moveTo>
                  <a:pt x="114" y="215"/>
                </a:moveTo>
                <a:lnTo>
                  <a:pt x="102" y="189"/>
                </a:lnTo>
                <a:lnTo>
                  <a:pt x="85" y="199"/>
                </a:lnTo>
                <a:lnTo>
                  <a:pt x="95" y="225"/>
                </a:lnTo>
                <a:lnTo>
                  <a:pt x="114" y="215"/>
                </a:lnTo>
                <a:close/>
                <a:moveTo>
                  <a:pt x="135" y="267"/>
                </a:moveTo>
                <a:lnTo>
                  <a:pt x="125" y="241"/>
                </a:lnTo>
                <a:lnTo>
                  <a:pt x="107" y="249"/>
                </a:lnTo>
                <a:lnTo>
                  <a:pt x="118" y="275"/>
                </a:lnTo>
                <a:lnTo>
                  <a:pt x="135" y="267"/>
                </a:lnTo>
                <a:close/>
                <a:moveTo>
                  <a:pt x="159" y="319"/>
                </a:moveTo>
                <a:lnTo>
                  <a:pt x="147" y="293"/>
                </a:lnTo>
                <a:lnTo>
                  <a:pt x="130" y="301"/>
                </a:lnTo>
                <a:lnTo>
                  <a:pt x="142" y="327"/>
                </a:lnTo>
                <a:lnTo>
                  <a:pt x="159" y="319"/>
                </a:lnTo>
                <a:close/>
                <a:moveTo>
                  <a:pt x="182" y="371"/>
                </a:moveTo>
                <a:lnTo>
                  <a:pt x="170" y="345"/>
                </a:lnTo>
                <a:lnTo>
                  <a:pt x="154" y="353"/>
                </a:lnTo>
                <a:lnTo>
                  <a:pt x="166" y="379"/>
                </a:lnTo>
                <a:lnTo>
                  <a:pt x="182" y="371"/>
                </a:lnTo>
                <a:close/>
                <a:moveTo>
                  <a:pt x="206" y="424"/>
                </a:moveTo>
                <a:lnTo>
                  <a:pt x="194" y="397"/>
                </a:lnTo>
                <a:lnTo>
                  <a:pt x="175" y="405"/>
                </a:lnTo>
                <a:lnTo>
                  <a:pt x="187" y="431"/>
                </a:lnTo>
                <a:lnTo>
                  <a:pt x="206" y="424"/>
                </a:lnTo>
                <a:close/>
                <a:moveTo>
                  <a:pt x="227" y="476"/>
                </a:moveTo>
                <a:lnTo>
                  <a:pt x="215" y="450"/>
                </a:lnTo>
                <a:lnTo>
                  <a:pt x="199" y="457"/>
                </a:lnTo>
                <a:lnTo>
                  <a:pt x="211" y="483"/>
                </a:lnTo>
                <a:lnTo>
                  <a:pt x="227" y="476"/>
                </a:lnTo>
                <a:close/>
                <a:moveTo>
                  <a:pt x="251" y="528"/>
                </a:moveTo>
                <a:lnTo>
                  <a:pt x="239" y="502"/>
                </a:lnTo>
                <a:lnTo>
                  <a:pt x="222" y="509"/>
                </a:lnTo>
                <a:lnTo>
                  <a:pt x="234" y="535"/>
                </a:lnTo>
                <a:lnTo>
                  <a:pt x="251" y="528"/>
                </a:lnTo>
                <a:close/>
                <a:moveTo>
                  <a:pt x="274" y="580"/>
                </a:moveTo>
                <a:lnTo>
                  <a:pt x="263" y="554"/>
                </a:lnTo>
                <a:lnTo>
                  <a:pt x="246" y="561"/>
                </a:lnTo>
                <a:lnTo>
                  <a:pt x="256" y="587"/>
                </a:lnTo>
                <a:lnTo>
                  <a:pt x="274" y="580"/>
                </a:lnTo>
                <a:close/>
                <a:moveTo>
                  <a:pt x="296" y="632"/>
                </a:moveTo>
                <a:lnTo>
                  <a:pt x="286" y="606"/>
                </a:lnTo>
                <a:lnTo>
                  <a:pt x="267" y="613"/>
                </a:lnTo>
                <a:lnTo>
                  <a:pt x="279" y="639"/>
                </a:lnTo>
                <a:lnTo>
                  <a:pt x="296" y="632"/>
                </a:lnTo>
                <a:close/>
                <a:moveTo>
                  <a:pt x="319" y="684"/>
                </a:moveTo>
                <a:lnTo>
                  <a:pt x="308" y="658"/>
                </a:lnTo>
                <a:lnTo>
                  <a:pt x="291" y="665"/>
                </a:lnTo>
                <a:lnTo>
                  <a:pt x="303" y="691"/>
                </a:lnTo>
                <a:lnTo>
                  <a:pt x="319" y="684"/>
                </a:lnTo>
                <a:close/>
                <a:moveTo>
                  <a:pt x="343" y="736"/>
                </a:moveTo>
                <a:lnTo>
                  <a:pt x="331" y="710"/>
                </a:lnTo>
                <a:lnTo>
                  <a:pt x="315" y="717"/>
                </a:lnTo>
                <a:lnTo>
                  <a:pt x="327" y="743"/>
                </a:lnTo>
                <a:lnTo>
                  <a:pt x="343" y="736"/>
                </a:lnTo>
                <a:close/>
                <a:moveTo>
                  <a:pt x="367" y="788"/>
                </a:moveTo>
                <a:lnTo>
                  <a:pt x="355" y="762"/>
                </a:lnTo>
                <a:lnTo>
                  <a:pt x="336" y="769"/>
                </a:lnTo>
                <a:lnTo>
                  <a:pt x="348" y="795"/>
                </a:lnTo>
                <a:lnTo>
                  <a:pt x="367" y="788"/>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59" name="Freeform 161"/>
          <p:cNvSpPr/>
          <p:nvPr>
            <p:custDataLst>
              <p:tags r:id="rId26"/>
            </p:custDataLst>
          </p:nvPr>
        </p:nvSpPr>
        <p:spPr bwMode="auto">
          <a:xfrm>
            <a:off x="5364941" y="2780520"/>
            <a:ext cx="59926" cy="61444"/>
          </a:xfrm>
          <a:custGeom>
            <a:avLst/>
            <a:gdLst>
              <a:gd name="T0" fmla="*/ 30 w 34"/>
              <a:gd name="T1" fmla="*/ 11 h 35"/>
              <a:gd name="T2" fmla="*/ 23 w 34"/>
              <a:gd name="T3" fmla="*/ 31 h 35"/>
              <a:gd name="T4" fmla="*/ 3 w 34"/>
              <a:gd name="T5" fmla="*/ 24 h 35"/>
              <a:gd name="T6" fmla="*/ 11 w 34"/>
              <a:gd name="T7" fmla="*/ 4 h 35"/>
              <a:gd name="T8" fmla="*/ 30 w 34"/>
              <a:gd name="T9" fmla="*/ 11 h 35"/>
            </a:gdLst>
            <a:ahLst/>
            <a:cxnLst>
              <a:cxn ang="0">
                <a:pos x="T0" y="T1"/>
              </a:cxn>
              <a:cxn ang="0">
                <a:pos x="T2" y="T3"/>
              </a:cxn>
              <a:cxn ang="0">
                <a:pos x="T4" y="T5"/>
              </a:cxn>
              <a:cxn ang="0">
                <a:pos x="T6" y="T7"/>
              </a:cxn>
              <a:cxn ang="0">
                <a:pos x="T8" y="T9"/>
              </a:cxn>
            </a:cxnLst>
            <a:rect l="0" t="0" r="r" b="b"/>
            <a:pathLst>
              <a:path w="34" h="35">
                <a:moveTo>
                  <a:pt x="30" y="11"/>
                </a:moveTo>
                <a:cubicBezTo>
                  <a:pt x="34" y="19"/>
                  <a:pt x="30" y="28"/>
                  <a:pt x="23" y="31"/>
                </a:cubicBezTo>
                <a:cubicBezTo>
                  <a:pt x="15" y="35"/>
                  <a:pt x="6" y="31"/>
                  <a:pt x="3" y="24"/>
                </a:cubicBezTo>
                <a:cubicBezTo>
                  <a:pt x="0" y="16"/>
                  <a:pt x="3" y="7"/>
                  <a:pt x="11" y="4"/>
                </a:cubicBezTo>
                <a:cubicBezTo>
                  <a:pt x="18" y="0"/>
                  <a:pt x="27" y="4"/>
                  <a:pt x="30" y="11"/>
                </a:cubicBez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60" name="Freeform 162"/>
          <p:cNvSpPr/>
          <p:nvPr>
            <p:custDataLst>
              <p:tags r:id="rId27"/>
            </p:custDataLst>
          </p:nvPr>
        </p:nvSpPr>
        <p:spPr bwMode="auto">
          <a:xfrm>
            <a:off x="5106507" y="2177321"/>
            <a:ext cx="63672" cy="69687"/>
          </a:xfrm>
          <a:custGeom>
            <a:avLst/>
            <a:gdLst>
              <a:gd name="T0" fmla="*/ 85 w 85"/>
              <a:gd name="T1" fmla="*/ 55 h 93"/>
              <a:gd name="T2" fmla="*/ 9 w 85"/>
              <a:gd name="T3" fmla="*/ 0 h 93"/>
              <a:gd name="T4" fmla="*/ 0 w 85"/>
              <a:gd name="T5" fmla="*/ 93 h 93"/>
              <a:gd name="T6" fmla="*/ 85 w 85"/>
              <a:gd name="T7" fmla="*/ 55 h 93"/>
            </a:gdLst>
            <a:ahLst/>
            <a:cxnLst>
              <a:cxn ang="0">
                <a:pos x="T0" y="T1"/>
              </a:cxn>
              <a:cxn ang="0">
                <a:pos x="T2" y="T3"/>
              </a:cxn>
              <a:cxn ang="0">
                <a:pos x="T4" y="T5"/>
              </a:cxn>
              <a:cxn ang="0">
                <a:pos x="T6" y="T7"/>
              </a:cxn>
            </a:cxnLst>
            <a:rect l="0" t="0" r="r" b="b"/>
            <a:pathLst>
              <a:path w="85" h="93">
                <a:moveTo>
                  <a:pt x="85" y="55"/>
                </a:moveTo>
                <a:lnTo>
                  <a:pt x="9" y="0"/>
                </a:lnTo>
                <a:lnTo>
                  <a:pt x="0" y="93"/>
                </a:lnTo>
                <a:lnTo>
                  <a:pt x="85" y="55"/>
                </a:lnTo>
                <a:close/>
              </a:path>
            </a:pathLst>
          </a:custGeom>
          <a:solidFill>
            <a:schemeClr val="tx2"/>
          </a:solidFill>
          <a:ln>
            <a:noFill/>
          </a:ln>
        </p:spPr>
        <p:txBody>
          <a:bodyPr vert="horz" wrap="square" lIns="91440" tIns="45720" rIns="91440" bIns="45720" numCol="1" anchor="t" anchorCtr="0" compatLnSpc="1"/>
          <a:lstStyle/>
          <a:p>
            <a:endParaRPr lang="en-US">
              <a:cs typeface="+mn-ea"/>
              <a:sym typeface="+mn-lt"/>
            </a:endParaRPr>
          </a:p>
        </p:txBody>
      </p:sp>
      <p:sp>
        <p:nvSpPr>
          <p:cNvPr id="27" name="Freeform 163"/>
          <p:cNvSpPr>
            <a:spLocks noEditPoints="1"/>
          </p:cNvSpPr>
          <p:nvPr>
            <p:custDataLst>
              <p:tags r:id="rId28"/>
            </p:custDataLst>
          </p:nvPr>
        </p:nvSpPr>
        <p:spPr bwMode="auto">
          <a:xfrm>
            <a:off x="4495629" y="2750457"/>
            <a:ext cx="447203" cy="456426"/>
          </a:xfrm>
          <a:custGeom>
            <a:avLst/>
            <a:gdLst>
              <a:gd name="T0" fmla="*/ 87 w 91"/>
              <a:gd name="T1" fmla="*/ 39 h 93"/>
              <a:gd name="T2" fmla="*/ 91 w 91"/>
              <a:gd name="T3" fmla="*/ 46 h 93"/>
              <a:gd name="T4" fmla="*/ 91 w 91"/>
              <a:gd name="T5" fmla="*/ 83 h 93"/>
              <a:gd name="T6" fmla="*/ 81 w 91"/>
              <a:gd name="T7" fmla="*/ 93 h 93"/>
              <a:gd name="T8" fmla="*/ 10 w 91"/>
              <a:gd name="T9" fmla="*/ 93 h 93"/>
              <a:gd name="T10" fmla="*/ 0 w 91"/>
              <a:gd name="T11" fmla="*/ 83 h 93"/>
              <a:gd name="T12" fmla="*/ 0 w 91"/>
              <a:gd name="T13" fmla="*/ 46 h 93"/>
              <a:gd name="T14" fmla="*/ 3 w 91"/>
              <a:gd name="T15" fmla="*/ 40 h 93"/>
              <a:gd name="T16" fmla="*/ 3 w 91"/>
              <a:gd name="T17" fmla="*/ 40 h 93"/>
              <a:gd name="T18" fmla="*/ 3 w 91"/>
              <a:gd name="T19" fmla="*/ 40 h 93"/>
              <a:gd name="T20" fmla="*/ 3 w 91"/>
              <a:gd name="T21" fmla="*/ 39 h 93"/>
              <a:gd name="T22" fmla="*/ 40 w 91"/>
              <a:gd name="T23" fmla="*/ 3 h 93"/>
              <a:gd name="T24" fmla="*/ 51 w 91"/>
              <a:gd name="T25" fmla="*/ 3 h 93"/>
              <a:gd name="T26" fmla="*/ 87 w 91"/>
              <a:gd name="T27" fmla="*/ 39 h 93"/>
              <a:gd name="T28" fmla="*/ 16 w 91"/>
              <a:gd name="T29" fmla="*/ 30 h 93"/>
              <a:gd name="T30" fmla="*/ 16 w 91"/>
              <a:gd name="T31" fmla="*/ 52 h 93"/>
              <a:gd name="T32" fmla="*/ 46 w 91"/>
              <a:gd name="T33" fmla="*/ 75 h 93"/>
              <a:gd name="T34" fmla="*/ 73 w 91"/>
              <a:gd name="T35" fmla="*/ 54 h 93"/>
              <a:gd name="T36" fmla="*/ 73 w 91"/>
              <a:gd name="T37" fmla="*/ 30 h 93"/>
              <a:gd name="T38" fmla="*/ 16 w 91"/>
              <a:gd name="T39" fmla="*/ 30 h 93"/>
              <a:gd name="T40" fmla="*/ 26 w 91"/>
              <a:gd name="T41" fmla="*/ 35 h 93"/>
              <a:gd name="T42" fmla="*/ 26 w 91"/>
              <a:gd name="T43" fmla="*/ 39 h 93"/>
              <a:gd name="T44" fmla="*/ 64 w 91"/>
              <a:gd name="T45" fmla="*/ 39 h 93"/>
              <a:gd name="T46" fmla="*/ 64 w 91"/>
              <a:gd name="T47" fmla="*/ 35 h 93"/>
              <a:gd name="T48" fmla="*/ 26 w 91"/>
              <a:gd name="T49" fmla="*/ 35 h 93"/>
              <a:gd name="T50" fmla="*/ 26 w 91"/>
              <a:gd name="T51" fmla="*/ 51 h 93"/>
              <a:gd name="T52" fmla="*/ 26 w 91"/>
              <a:gd name="T53" fmla="*/ 55 h 93"/>
              <a:gd name="T54" fmla="*/ 64 w 91"/>
              <a:gd name="T55" fmla="*/ 55 h 93"/>
              <a:gd name="T56" fmla="*/ 64 w 91"/>
              <a:gd name="T57" fmla="*/ 51 h 93"/>
              <a:gd name="T58" fmla="*/ 26 w 91"/>
              <a:gd name="T59" fmla="*/ 51 h 93"/>
              <a:gd name="T60" fmla="*/ 26 w 91"/>
              <a:gd name="T61" fmla="*/ 43 h 93"/>
              <a:gd name="T62" fmla="*/ 26 w 91"/>
              <a:gd name="T63" fmla="*/ 47 h 93"/>
              <a:gd name="T64" fmla="*/ 64 w 91"/>
              <a:gd name="T65" fmla="*/ 47 h 93"/>
              <a:gd name="T66" fmla="*/ 64 w 91"/>
              <a:gd name="T67" fmla="*/ 43 h 93"/>
              <a:gd name="T68" fmla="*/ 26 w 91"/>
              <a:gd name="T69" fmla="*/ 43 h 93"/>
              <a:gd name="T70" fmla="*/ 10 w 91"/>
              <a:gd name="T71" fmla="*/ 87 h 93"/>
              <a:gd name="T72" fmla="*/ 28 w 91"/>
              <a:gd name="T73" fmla="*/ 70 h 93"/>
              <a:gd name="T74" fmla="*/ 28 w 91"/>
              <a:gd name="T75" fmla="*/ 67 h 93"/>
              <a:gd name="T76" fmla="*/ 26 w 91"/>
              <a:gd name="T77" fmla="*/ 67 h 93"/>
              <a:gd name="T78" fmla="*/ 8 w 91"/>
              <a:gd name="T79" fmla="*/ 84 h 93"/>
              <a:gd name="T80" fmla="*/ 8 w 91"/>
              <a:gd name="T81" fmla="*/ 87 h 93"/>
              <a:gd name="T82" fmla="*/ 10 w 91"/>
              <a:gd name="T83" fmla="*/ 87 h 93"/>
              <a:gd name="T84" fmla="*/ 85 w 91"/>
              <a:gd name="T85" fmla="*/ 84 h 93"/>
              <a:gd name="T86" fmla="*/ 67 w 91"/>
              <a:gd name="T87" fmla="*/ 67 h 93"/>
              <a:gd name="T88" fmla="*/ 64 w 91"/>
              <a:gd name="T89" fmla="*/ 67 h 93"/>
              <a:gd name="T90" fmla="*/ 64 w 91"/>
              <a:gd name="T91" fmla="*/ 70 h 93"/>
              <a:gd name="T92" fmla="*/ 82 w 91"/>
              <a:gd name="T93" fmla="*/ 87 h 93"/>
              <a:gd name="T94" fmla="*/ 85 w 91"/>
              <a:gd name="T95" fmla="*/ 87 h 93"/>
              <a:gd name="T96" fmla="*/ 85 w 91"/>
              <a:gd name="T97" fmla="*/ 8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 h="93">
                <a:moveTo>
                  <a:pt x="87" y="39"/>
                </a:moveTo>
                <a:cubicBezTo>
                  <a:pt x="89" y="40"/>
                  <a:pt x="91" y="43"/>
                  <a:pt x="91" y="46"/>
                </a:cubicBezTo>
                <a:cubicBezTo>
                  <a:pt x="91" y="83"/>
                  <a:pt x="91" y="83"/>
                  <a:pt x="91" y="83"/>
                </a:cubicBezTo>
                <a:cubicBezTo>
                  <a:pt x="91" y="89"/>
                  <a:pt x="86" y="93"/>
                  <a:pt x="81" y="93"/>
                </a:cubicBezTo>
                <a:cubicBezTo>
                  <a:pt x="10" y="93"/>
                  <a:pt x="10" y="93"/>
                  <a:pt x="10" y="93"/>
                </a:cubicBezTo>
                <a:cubicBezTo>
                  <a:pt x="5" y="93"/>
                  <a:pt x="0" y="89"/>
                  <a:pt x="0" y="83"/>
                </a:cubicBezTo>
                <a:cubicBezTo>
                  <a:pt x="0" y="46"/>
                  <a:pt x="0" y="46"/>
                  <a:pt x="0" y="46"/>
                </a:cubicBezTo>
                <a:cubicBezTo>
                  <a:pt x="0" y="44"/>
                  <a:pt x="1" y="41"/>
                  <a:pt x="3" y="40"/>
                </a:cubicBezTo>
                <a:cubicBezTo>
                  <a:pt x="3" y="40"/>
                  <a:pt x="3" y="40"/>
                  <a:pt x="3" y="40"/>
                </a:cubicBezTo>
                <a:cubicBezTo>
                  <a:pt x="3" y="40"/>
                  <a:pt x="3" y="40"/>
                  <a:pt x="3" y="40"/>
                </a:cubicBezTo>
                <a:cubicBezTo>
                  <a:pt x="3" y="40"/>
                  <a:pt x="3" y="40"/>
                  <a:pt x="3" y="39"/>
                </a:cubicBezTo>
                <a:cubicBezTo>
                  <a:pt x="40" y="3"/>
                  <a:pt x="40" y="3"/>
                  <a:pt x="40" y="3"/>
                </a:cubicBezTo>
                <a:cubicBezTo>
                  <a:pt x="43" y="0"/>
                  <a:pt x="47" y="0"/>
                  <a:pt x="51" y="3"/>
                </a:cubicBezTo>
                <a:cubicBezTo>
                  <a:pt x="87" y="39"/>
                  <a:pt x="87" y="39"/>
                  <a:pt x="87" y="39"/>
                </a:cubicBezTo>
                <a:close/>
                <a:moveTo>
                  <a:pt x="16" y="30"/>
                </a:moveTo>
                <a:cubicBezTo>
                  <a:pt x="16" y="52"/>
                  <a:pt x="16" y="52"/>
                  <a:pt x="16" y="52"/>
                </a:cubicBezTo>
                <a:cubicBezTo>
                  <a:pt x="46" y="75"/>
                  <a:pt x="46" y="75"/>
                  <a:pt x="46" y="75"/>
                </a:cubicBezTo>
                <a:cubicBezTo>
                  <a:pt x="73" y="54"/>
                  <a:pt x="73" y="54"/>
                  <a:pt x="73" y="54"/>
                </a:cubicBezTo>
                <a:cubicBezTo>
                  <a:pt x="73" y="30"/>
                  <a:pt x="73" y="30"/>
                  <a:pt x="73" y="30"/>
                </a:cubicBezTo>
                <a:cubicBezTo>
                  <a:pt x="16" y="30"/>
                  <a:pt x="16" y="30"/>
                  <a:pt x="16" y="30"/>
                </a:cubicBezTo>
                <a:close/>
                <a:moveTo>
                  <a:pt x="26" y="35"/>
                </a:moveTo>
                <a:cubicBezTo>
                  <a:pt x="26" y="39"/>
                  <a:pt x="26" y="39"/>
                  <a:pt x="26" y="39"/>
                </a:cubicBezTo>
                <a:cubicBezTo>
                  <a:pt x="64" y="39"/>
                  <a:pt x="64" y="39"/>
                  <a:pt x="64" y="39"/>
                </a:cubicBezTo>
                <a:cubicBezTo>
                  <a:pt x="64" y="35"/>
                  <a:pt x="64" y="35"/>
                  <a:pt x="64" y="35"/>
                </a:cubicBezTo>
                <a:cubicBezTo>
                  <a:pt x="26" y="35"/>
                  <a:pt x="26" y="35"/>
                  <a:pt x="26" y="35"/>
                </a:cubicBezTo>
                <a:close/>
                <a:moveTo>
                  <a:pt x="26" y="51"/>
                </a:moveTo>
                <a:cubicBezTo>
                  <a:pt x="26" y="55"/>
                  <a:pt x="26" y="55"/>
                  <a:pt x="26" y="55"/>
                </a:cubicBezTo>
                <a:cubicBezTo>
                  <a:pt x="64" y="55"/>
                  <a:pt x="64" y="55"/>
                  <a:pt x="64" y="55"/>
                </a:cubicBezTo>
                <a:cubicBezTo>
                  <a:pt x="64" y="51"/>
                  <a:pt x="64" y="51"/>
                  <a:pt x="64" y="51"/>
                </a:cubicBezTo>
                <a:cubicBezTo>
                  <a:pt x="26" y="51"/>
                  <a:pt x="26" y="51"/>
                  <a:pt x="26" y="51"/>
                </a:cubicBezTo>
                <a:close/>
                <a:moveTo>
                  <a:pt x="26" y="43"/>
                </a:moveTo>
                <a:cubicBezTo>
                  <a:pt x="26" y="47"/>
                  <a:pt x="26" y="47"/>
                  <a:pt x="26" y="47"/>
                </a:cubicBezTo>
                <a:cubicBezTo>
                  <a:pt x="64" y="47"/>
                  <a:pt x="64" y="47"/>
                  <a:pt x="64" y="47"/>
                </a:cubicBezTo>
                <a:cubicBezTo>
                  <a:pt x="64" y="43"/>
                  <a:pt x="64" y="43"/>
                  <a:pt x="64" y="43"/>
                </a:cubicBezTo>
                <a:cubicBezTo>
                  <a:pt x="26" y="43"/>
                  <a:pt x="26" y="43"/>
                  <a:pt x="26" y="43"/>
                </a:cubicBezTo>
                <a:close/>
                <a:moveTo>
                  <a:pt x="10" y="87"/>
                </a:moveTo>
                <a:cubicBezTo>
                  <a:pt x="28" y="70"/>
                  <a:pt x="28" y="70"/>
                  <a:pt x="28" y="70"/>
                </a:cubicBezTo>
                <a:cubicBezTo>
                  <a:pt x="29" y="69"/>
                  <a:pt x="29" y="68"/>
                  <a:pt x="28" y="67"/>
                </a:cubicBezTo>
                <a:cubicBezTo>
                  <a:pt x="28" y="66"/>
                  <a:pt x="27" y="66"/>
                  <a:pt x="26" y="67"/>
                </a:cubicBezTo>
                <a:cubicBezTo>
                  <a:pt x="8" y="84"/>
                  <a:pt x="8" y="84"/>
                  <a:pt x="8" y="84"/>
                </a:cubicBezTo>
                <a:cubicBezTo>
                  <a:pt x="7" y="85"/>
                  <a:pt x="7" y="86"/>
                  <a:pt x="8" y="87"/>
                </a:cubicBezTo>
                <a:cubicBezTo>
                  <a:pt x="8" y="88"/>
                  <a:pt x="10" y="88"/>
                  <a:pt x="10" y="87"/>
                </a:cubicBezTo>
                <a:close/>
                <a:moveTo>
                  <a:pt x="85" y="84"/>
                </a:moveTo>
                <a:cubicBezTo>
                  <a:pt x="67" y="67"/>
                  <a:pt x="67" y="67"/>
                  <a:pt x="67" y="67"/>
                </a:cubicBezTo>
                <a:cubicBezTo>
                  <a:pt x="66" y="66"/>
                  <a:pt x="65" y="66"/>
                  <a:pt x="64" y="67"/>
                </a:cubicBezTo>
                <a:cubicBezTo>
                  <a:pt x="63" y="68"/>
                  <a:pt x="63" y="69"/>
                  <a:pt x="64" y="70"/>
                </a:cubicBezTo>
                <a:cubicBezTo>
                  <a:pt x="82" y="87"/>
                  <a:pt x="82" y="87"/>
                  <a:pt x="82" y="87"/>
                </a:cubicBezTo>
                <a:cubicBezTo>
                  <a:pt x="83" y="88"/>
                  <a:pt x="84" y="88"/>
                  <a:pt x="85" y="87"/>
                </a:cubicBezTo>
                <a:cubicBezTo>
                  <a:pt x="85" y="86"/>
                  <a:pt x="85" y="85"/>
                  <a:pt x="85" y="84"/>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cs typeface="+mn-ea"/>
              <a:sym typeface="+mn-lt"/>
            </a:endParaRPr>
          </a:p>
        </p:txBody>
      </p:sp>
      <p:sp>
        <p:nvSpPr>
          <p:cNvPr id="28" name="Freeform 164"/>
          <p:cNvSpPr>
            <a:spLocks noEditPoints="1"/>
          </p:cNvSpPr>
          <p:nvPr>
            <p:custDataLst>
              <p:tags r:id="rId29"/>
            </p:custDataLst>
          </p:nvPr>
        </p:nvSpPr>
        <p:spPr bwMode="auto">
          <a:xfrm>
            <a:off x="3944959" y="4051164"/>
            <a:ext cx="435853" cy="463236"/>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cs typeface="+mn-ea"/>
              <a:sym typeface="+mn-lt"/>
            </a:endParaRPr>
          </a:p>
        </p:txBody>
      </p:sp>
      <p:sp>
        <p:nvSpPr>
          <p:cNvPr id="29" name="Freeform 165"/>
          <p:cNvSpPr>
            <a:spLocks noEditPoints="1"/>
          </p:cNvSpPr>
          <p:nvPr>
            <p:custDataLst>
              <p:tags r:id="rId30"/>
            </p:custDataLst>
          </p:nvPr>
        </p:nvSpPr>
        <p:spPr bwMode="auto">
          <a:xfrm>
            <a:off x="5732309" y="2214970"/>
            <a:ext cx="533465" cy="431446"/>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cs typeface="+mn-ea"/>
              <a:sym typeface="+mn-lt"/>
            </a:endParaRPr>
          </a:p>
        </p:txBody>
      </p:sp>
      <p:sp>
        <p:nvSpPr>
          <p:cNvPr id="30" name="Freeform 166"/>
          <p:cNvSpPr>
            <a:spLocks noEditPoints="1"/>
          </p:cNvSpPr>
          <p:nvPr>
            <p:custDataLst>
              <p:tags r:id="rId31"/>
            </p:custDataLst>
          </p:nvPr>
        </p:nvSpPr>
        <p:spPr bwMode="auto">
          <a:xfrm>
            <a:off x="7135251" y="2743434"/>
            <a:ext cx="329158" cy="520006"/>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cs typeface="+mn-ea"/>
              <a:sym typeface="+mn-lt"/>
            </a:endParaRPr>
          </a:p>
        </p:txBody>
      </p:sp>
      <p:sp>
        <p:nvSpPr>
          <p:cNvPr id="31" name="Freeform 167"/>
          <p:cNvSpPr>
            <a:spLocks noEditPoints="1"/>
          </p:cNvSpPr>
          <p:nvPr>
            <p:custDataLst>
              <p:tags r:id="rId32"/>
            </p:custDataLst>
          </p:nvPr>
        </p:nvSpPr>
        <p:spPr bwMode="auto">
          <a:xfrm>
            <a:off x="7614059" y="4116949"/>
            <a:ext cx="485794" cy="317907"/>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cs typeface="+mn-ea"/>
              <a:sym typeface="+mn-lt"/>
            </a:endParaRPr>
          </a:p>
        </p:txBody>
      </p:sp>
      <p:sp>
        <p:nvSpPr>
          <p:cNvPr id="107" name="文本框 106"/>
          <p:cNvSpPr txBox="1"/>
          <p:nvPr/>
        </p:nvSpPr>
        <p:spPr>
          <a:xfrm>
            <a:off x="1283335" y="213995"/>
            <a:ext cx="7010400" cy="460375"/>
          </a:xfrm>
          <a:prstGeom prst="rect">
            <a:avLst/>
          </a:prstGeom>
          <a:noFill/>
        </p:spPr>
        <p:txBody>
          <a:bodyPr wrap="square" rtlCol="0">
            <a:spAutoFit/>
          </a:bodyPr>
          <a:lstStyle>
            <a:defPPr>
              <a:defRPr lang="zh-CN"/>
            </a:defPPr>
            <a:lvl1pPr>
              <a:defRPr sz="2400" b="1">
                <a:solidFill>
                  <a:srgbClr val="267CA0"/>
                </a:solidFill>
                <a:latin typeface="包图粗黑体" panose="02000800000000000000" pitchFamily="2" charset="-122"/>
                <a:ea typeface="包图粗黑体" panose="02000800000000000000" pitchFamily="2" charset="-122"/>
              </a:defRPr>
            </a:lvl1pPr>
          </a:lstStyle>
          <a:p>
            <a:pPr algn="l"/>
            <a:r>
              <a:rPr lang="en-US" altLang="zh-CN" dirty="0">
                <a:latin typeface="Times New Roman" panose="02020603050405020304" charset="0"/>
                <a:cs typeface="Times New Roman" panose="02020603050405020304" charset="0"/>
                <a:sym typeface="+mn-lt"/>
              </a:rPr>
              <a:t>Challenges in Frontend-Backend Data Binding</a:t>
            </a:r>
            <a:endParaRPr lang="zh-CN" altLang="en-US" b="0" dirty="0">
              <a:latin typeface="+mn-lt"/>
              <a:ea typeface="+mn-ea"/>
              <a:cs typeface="+mn-ea"/>
              <a:sym typeface="+mn-lt"/>
            </a:endParaRPr>
          </a:p>
        </p:txBody>
      </p:sp>
      <p:grpSp>
        <p:nvGrpSpPr>
          <p:cNvPr id="113" name="组合 112"/>
          <p:cNvGrpSpPr/>
          <p:nvPr>
            <p:custDataLst>
              <p:tags r:id="rId33"/>
            </p:custDataLst>
          </p:nvPr>
        </p:nvGrpSpPr>
        <p:grpSpPr>
          <a:xfrm>
            <a:off x="8454512" y="4407565"/>
            <a:ext cx="3737610" cy="1697990"/>
            <a:chOff x="1020175" y="1931902"/>
            <a:chExt cx="3737610" cy="1697990"/>
          </a:xfrm>
        </p:grpSpPr>
        <p:sp>
          <p:nvSpPr>
            <p:cNvPr id="114" name="文本框 113"/>
            <p:cNvSpPr txBox="1"/>
            <p:nvPr>
              <p:custDataLst>
                <p:tags r:id="rId34"/>
              </p:custDataLst>
            </p:nvPr>
          </p:nvSpPr>
          <p:spPr>
            <a:xfrm>
              <a:off x="1020175" y="2246862"/>
              <a:ext cx="3737610" cy="1383030"/>
            </a:xfrm>
            <a:prstGeom prst="rect">
              <a:avLst/>
            </a:prstGeom>
            <a:noFill/>
          </p:spPr>
          <p:txBody>
            <a:bodyPr wrap="square" rtlCol="0">
              <a:spAutoFit/>
            </a:bodyPr>
            <a:lstStyle/>
            <a:p>
              <a:pPr algn="l">
                <a:lnSpc>
                  <a:spcPct val="120000"/>
                </a:lnSpc>
                <a:buClrTx/>
                <a:buSzTx/>
                <a:buFontTx/>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Forms validate inputs (e.g., amount, account ID) before submission and auto-fill sensible defaults (e.g., current date), reducing invalid requests and backend errors.</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p:txBody>
        </p:sp>
        <p:sp>
          <p:nvSpPr>
            <p:cNvPr id="115" name="文本框 114"/>
            <p:cNvSpPr txBox="1"/>
            <p:nvPr>
              <p:custDataLst>
                <p:tags r:id="rId35"/>
              </p:custDataLst>
            </p:nvPr>
          </p:nvSpPr>
          <p:spPr>
            <a:xfrm>
              <a:off x="1396730" y="1931902"/>
              <a:ext cx="3361055" cy="337185"/>
            </a:xfrm>
            <a:prstGeom prst="rect">
              <a:avLst/>
            </a:prstGeom>
            <a:noFill/>
          </p:spPr>
          <p:txBody>
            <a:bodyPr wrap="square" rtlCol="0">
              <a:spAutoFit/>
            </a:bodyPr>
            <a:lstStyle/>
            <a:p>
              <a:pPr algn="l">
                <a:buClrTx/>
                <a:buSzTx/>
                <a:buFontTx/>
              </a:pPr>
              <a:r>
                <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rPr>
                <a:t>Smart Form Handling</a:t>
              </a:r>
              <a:endPar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endParaRPr>
            </a:p>
          </p:txBody>
        </p:sp>
      </p:grpSp>
      <p:grpSp>
        <p:nvGrpSpPr>
          <p:cNvPr id="119" name="组合 118"/>
          <p:cNvGrpSpPr/>
          <p:nvPr>
            <p:custDataLst>
              <p:tags r:id="rId36"/>
            </p:custDataLst>
          </p:nvPr>
        </p:nvGrpSpPr>
        <p:grpSpPr>
          <a:xfrm>
            <a:off x="8292922" y="2247001"/>
            <a:ext cx="3759200" cy="1956435"/>
            <a:chOff x="1063990" y="1931902"/>
            <a:chExt cx="3759200" cy="1956435"/>
          </a:xfrm>
        </p:grpSpPr>
        <p:sp>
          <p:nvSpPr>
            <p:cNvPr id="120" name="文本框 119"/>
            <p:cNvSpPr txBox="1"/>
            <p:nvPr>
              <p:custDataLst>
                <p:tags r:id="rId37"/>
              </p:custDataLst>
            </p:nvPr>
          </p:nvSpPr>
          <p:spPr>
            <a:xfrm>
              <a:off x="1063990" y="2246862"/>
              <a:ext cx="3759200" cy="1641475"/>
            </a:xfrm>
            <a:prstGeom prst="rect">
              <a:avLst/>
            </a:prstGeom>
            <a:noFill/>
          </p:spPr>
          <p:txBody>
            <a:bodyPr wrap="square" rtlCol="0">
              <a:spAutoFit/>
            </a:bodyPr>
            <a:lstStyle/>
            <a:p>
              <a:pPr algn="l">
                <a:lnSpc>
                  <a:spcPct val="120000"/>
                </a:lnSpc>
                <a:buClrTx/>
                <a:buSzTx/>
                <a:buFontTx/>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After any create/update/delete action, the system refreshes data in a fixed sequence:</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a:p>
              <a:pPr algn="l">
                <a:lnSpc>
                  <a:spcPct val="120000"/>
                </a:lnSpc>
                <a:buClrTx/>
                <a:buSzTx/>
                <a:buFontTx/>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loadData → updateDashboard → renderLists → updateAnalytics,</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a:p>
              <a:pPr algn="l">
                <a:lnSpc>
                  <a:spcPct val="120000"/>
                </a:lnSpc>
                <a:buClrTx/>
                <a:buSzTx/>
                <a:buFontTx/>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ensuring all UI elements reflect the same up-to-date state.</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p:txBody>
        </p:sp>
        <p:sp>
          <p:nvSpPr>
            <p:cNvPr id="121" name="文本框 120"/>
            <p:cNvSpPr txBox="1"/>
            <p:nvPr>
              <p:custDataLst>
                <p:tags r:id="rId38"/>
              </p:custDataLst>
            </p:nvPr>
          </p:nvSpPr>
          <p:spPr>
            <a:xfrm>
              <a:off x="1065260" y="1931902"/>
              <a:ext cx="3401060" cy="337185"/>
            </a:xfrm>
            <a:prstGeom prst="rect">
              <a:avLst/>
            </a:prstGeom>
            <a:noFill/>
          </p:spPr>
          <p:txBody>
            <a:bodyPr wrap="square" rtlCol="0">
              <a:spAutoFit/>
            </a:bodyPr>
            <a:lstStyle/>
            <a:p>
              <a:pPr algn="l">
                <a:buClrTx/>
                <a:buSzTx/>
                <a:buFontTx/>
              </a:pPr>
              <a:r>
                <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rPr>
                <a:t>Consistent Data Refresh Flow</a:t>
              </a:r>
              <a:endPar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endParaRPr>
            </a:p>
          </p:txBody>
        </p:sp>
      </p:grpSp>
      <p:grpSp>
        <p:nvGrpSpPr>
          <p:cNvPr id="142" name="组合 141"/>
          <p:cNvGrpSpPr/>
          <p:nvPr>
            <p:custDataLst>
              <p:tags r:id="rId39"/>
            </p:custDataLst>
          </p:nvPr>
        </p:nvGrpSpPr>
        <p:grpSpPr>
          <a:xfrm>
            <a:off x="3376533" y="1037497"/>
            <a:ext cx="5232400" cy="894080"/>
            <a:chOff x="52181" y="1931902"/>
            <a:chExt cx="5232400" cy="894080"/>
          </a:xfrm>
        </p:grpSpPr>
        <p:sp>
          <p:nvSpPr>
            <p:cNvPr id="143" name="文本框 142"/>
            <p:cNvSpPr txBox="1"/>
            <p:nvPr>
              <p:custDataLst>
                <p:tags r:id="rId40"/>
              </p:custDataLst>
            </p:nvPr>
          </p:nvSpPr>
          <p:spPr>
            <a:xfrm>
              <a:off x="52181" y="2218287"/>
              <a:ext cx="5232400" cy="607695"/>
            </a:xfrm>
            <a:prstGeom prst="rect">
              <a:avLst/>
            </a:prstGeom>
            <a:noFill/>
          </p:spPr>
          <p:txBody>
            <a:bodyPr wrap="square" rtlCol="0">
              <a:spAutoFit/>
            </a:bodyPr>
            <a:lstStyle/>
            <a:p>
              <a:pPr algn="l">
                <a:lnSpc>
                  <a:spcPct val="120000"/>
                </a:lnSpc>
                <a:buClrTx/>
                <a:buSzTx/>
                <a:buFontTx/>
              </a:pPr>
              <a:r>
                <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rPr>
                <a:t>Charts are explicitly destroyed before reinitialization, preventing canvas overlap and memory leaks.</a:t>
              </a:r>
              <a:endParaRPr lang="en-US" altLang="zh-CN" sz="1400" spc="100" dirty="0">
                <a:solidFill>
                  <a:schemeClr val="tx1">
                    <a:lumMod val="65000"/>
                    <a:lumOff val="35000"/>
                  </a:schemeClr>
                </a:solidFill>
                <a:latin typeface="Times New Roman" panose="02020603050405020304" charset="0"/>
                <a:cs typeface="Times New Roman" panose="02020603050405020304" charset="0"/>
                <a:sym typeface="+mn-lt"/>
              </a:endParaRPr>
            </a:p>
          </p:txBody>
        </p:sp>
        <p:sp>
          <p:nvSpPr>
            <p:cNvPr id="144" name="文本框 143"/>
            <p:cNvSpPr txBox="1"/>
            <p:nvPr>
              <p:custDataLst>
                <p:tags r:id="rId41"/>
              </p:custDataLst>
            </p:nvPr>
          </p:nvSpPr>
          <p:spPr>
            <a:xfrm>
              <a:off x="986901" y="1931902"/>
              <a:ext cx="3296285" cy="614045"/>
            </a:xfrm>
            <a:prstGeom prst="rect">
              <a:avLst/>
            </a:prstGeom>
            <a:noFill/>
          </p:spPr>
          <p:txBody>
            <a:bodyPr wrap="square" rtlCol="0">
              <a:spAutoFit/>
            </a:bodyPr>
            <a:lstStyle/>
            <a:p>
              <a:pPr algn="l">
                <a:buClrTx/>
                <a:buSzTx/>
                <a:buFontTx/>
              </a:pPr>
              <a:r>
                <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rPr>
                <a:t>Robust Chart Management</a:t>
              </a:r>
              <a:endParaRPr lang="en-US" altLang="zh-CN" sz="1600" b="1" spc="150" dirty="0">
                <a:solidFill>
                  <a:schemeClr val="tx1">
                    <a:lumMod val="65000"/>
                    <a:lumOff val="35000"/>
                  </a:schemeClr>
                </a:solidFill>
                <a:latin typeface="Times New Roman" panose="02020603050405020304" charset="0"/>
                <a:cs typeface="Times New Roman" panose="02020603050405020304" charset="0"/>
                <a:sym typeface="+mn-lt"/>
              </a:endParaRPr>
            </a:p>
            <a:p>
              <a:endParaRPr lang="en-US" altLang="zh-CN" b="1" spc="150" dirty="0">
                <a:solidFill>
                  <a:schemeClr val="tx1">
                    <a:lumMod val="65000"/>
                    <a:lumOff val="35000"/>
                  </a:schemeClr>
                </a:solidFill>
                <a:cs typeface="+mn-ea"/>
                <a:sym typeface="+mn-lt"/>
              </a:endParaRPr>
            </a:p>
          </p:txBody>
        </p:sp>
      </p:grpSp>
      <p:pic>
        <p:nvPicPr>
          <p:cNvPr id="2" name="图片 1" descr="10757629902"/>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90525" y="93980"/>
            <a:ext cx="699770" cy="6997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093434"/>
            <a:ext cx="7196034" cy="1142566"/>
          </a:xfrm>
          <a:prstGeom prst="rect">
            <a:avLst/>
          </a:prstGeom>
        </p:spPr>
      </p:pic>
      <p:sp>
        <p:nvSpPr>
          <p:cNvPr id="3" name="矩形 2"/>
          <p:cNvSpPr/>
          <p:nvPr/>
        </p:nvSpPr>
        <p:spPr>
          <a:xfrm>
            <a:off x="3164205" y="2464435"/>
            <a:ext cx="586359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Team Responsibilities &amp; Work Overview</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5676900" y="1018112"/>
            <a:ext cx="838200" cy="1445260"/>
          </a:xfrm>
          <a:prstGeom prst="rect">
            <a:avLst/>
          </a:prstGeom>
          <a:noFill/>
        </p:spPr>
        <p:txBody>
          <a:bodyPr wrap="none" rtlCol="0">
            <a:spAutoFit/>
          </a:bodyPr>
          <a:lstStyle/>
          <a:p>
            <a:r>
              <a:rPr lang="en-US" altLang="zh-CN" sz="8800" dirty="0">
                <a:solidFill>
                  <a:srgbClr val="388BA5"/>
                </a:solidFill>
                <a:effectLst>
                  <a:outerShdw blurRad="38100" dist="38100" dir="2700000" algn="tl">
                    <a:srgbClr val="000000">
                      <a:alpha val="43137"/>
                    </a:srgbClr>
                  </a:outerShdw>
                </a:effectLst>
                <a:cs typeface="+mn-ea"/>
                <a:sym typeface="+mn-lt"/>
              </a:rPr>
              <a:t>3</a:t>
            </a:r>
            <a:endParaRPr lang="en-US" altLang="zh-CN" sz="8800" dirty="0">
              <a:solidFill>
                <a:srgbClr val="388BA5"/>
              </a:solidFill>
              <a:effectLst>
                <a:outerShdw blurRad="38100" dist="38100" dir="2700000" algn="tl">
                  <a:srgbClr val="000000">
                    <a:alpha val="43137"/>
                  </a:srgbClr>
                </a:outerShdw>
              </a:effectLst>
              <a:cs typeface="+mn-ea"/>
              <a:sym typeface="+mn-lt"/>
            </a:endParaRPr>
          </a:p>
        </p:txBody>
      </p:sp>
      <p:sp>
        <p:nvSpPr>
          <p:cNvPr id="5" name="矩形 4"/>
          <p:cNvSpPr/>
          <p:nvPr/>
        </p:nvSpPr>
        <p:spPr>
          <a:xfrm>
            <a:off x="3847148" y="3200400"/>
            <a:ext cx="4497705" cy="1060450"/>
          </a:xfrm>
          <a:prstGeom prst="rect">
            <a:avLst/>
          </a:prstGeom>
        </p:spPr>
        <p:txBody>
          <a:bodyPr wrap="square">
            <a:spAutoFit/>
          </a:bodyPr>
          <a:lstStyle/>
          <a:p>
            <a:pPr algn="ctr">
              <a:lnSpc>
                <a:spcPct val="150000"/>
              </a:lnSpc>
            </a:pPr>
            <a:r>
              <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rPr>
              <a:t>Presents the roles of each team member, their assigned modules, and contributions, highlighting collaboration and workflow structure.</a:t>
            </a:r>
            <a:endPar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351244"/>
            <a:ext cx="7196034" cy="1142566"/>
          </a:xfrm>
          <a:prstGeom prst="rect">
            <a:avLst/>
          </a:prstGeom>
        </p:spPr>
      </p:pic>
      <p:sp>
        <p:nvSpPr>
          <p:cNvPr id="3" name="矩形 2"/>
          <p:cNvSpPr/>
          <p:nvPr/>
        </p:nvSpPr>
        <p:spPr>
          <a:xfrm>
            <a:off x="3164205" y="2722245"/>
            <a:ext cx="586359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Database design and initialization module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4389755" y="1085422"/>
            <a:ext cx="3412490" cy="1445260"/>
          </a:xfrm>
          <a:prstGeom prst="rect">
            <a:avLst/>
          </a:prstGeom>
          <a:noFill/>
        </p:spPr>
        <p:txBody>
          <a:bodyPr wrap="none" rtlCol="0">
            <a:spAutoFit/>
          </a:bodyPr>
          <a:lstStyle/>
          <a:p>
            <a:pPr algn="l"/>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Task 1</a:t>
            </a:r>
            <a:endParaRPr lang="en-US" altLang="zh-CN" sz="8800" dirty="0">
              <a:ln>
                <a:noFill/>
              </a:ln>
              <a:solidFill>
                <a:schemeClr val="bg1"/>
              </a:solidFill>
              <a:effectLst>
                <a:glow rad="63500">
                  <a:schemeClr val="accent5">
                    <a:satMod val="175000"/>
                    <a:alpha val="40000"/>
                  </a:scheme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nvSpPr>
        <p:spPr>
          <a:xfrm>
            <a:off x="3847148" y="3449320"/>
            <a:ext cx="4497705" cy="414020"/>
          </a:xfrm>
          <a:prstGeom prst="rect">
            <a:avLst/>
          </a:prstGeom>
        </p:spPr>
        <p:txBody>
          <a:bodyPr wrap="square">
            <a:spAutoFit/>
          </a:bodyPr>
          <a:lstStyle/>
          <a:p>
            <a:pPr algn="ctr">
              <a:lnSpc>
                <a:spcPct val="150000"/>
              </a:lnSpc>
            </a:pPr>
            <a:r>
              <a:rPr lang="en-US" altLang="zh-CN" sz="1400" dirty="0">
                <a:solidFill>
                  <a:srgbClr val="388BA5"/>
                </a:solidFill>
                <a:effectLst>
                  <a:outerShdw blurRad="38100" dist="38100" dir="2700000" algn="tl">
                    <a:srgbClr val="000000">
                      <a:alpha val="43137"/>
                    </a:srgbClr>
                  </a:outerShdw>
                </a:effectLst>
                <a:cs typeface="+mn-ea"/>
                <a:sym typeface="+mn-lt"/>
              </a:rPr>
              <a:t>Owner: </a:t>
            </a:r>
            <a:r>
              <a:rPr lang="en-US" altLang="zh-CN" sz="1400" dirty="0">
                <a:solidFill>
                  <a:srgbClr val="388BA5"/>
                </a:solidFill>
                <a:effectLst>
                  <a:outerShdw blurRad="38100" dist="38100" dir="2700000" algn="tl">
                    <a:srgbClr val="000000">
                      <a:alpha val="43137"/>
                    </a:srgbClr>
                  </a:outerShdw>
                </a:effectLst>
                <a:cs typeface="+mn-ea"/>
                <a:sym typeface="+mn-lt"/>
              </a:rPr>
              <a:t>Chen Junzhi</a:t>
            </a:r>
            <a:endParaRPr lang="en-US" altLang="zh-CN" sz="1400" dirty="0">
              <a:solidFill>
                <a:srgbClr val="388BA5"/>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1</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4" name="文本框 3"/>
          <p:cNvSpPr txBox="1"/>
          <p:nvPr/>
        </p:nvSpPr>
        <p:spPr>
          <a:xfrm>
            <a:off x="1384935" y="204470"/>
            <a:ext cx="2727325" cy="460375"/>
          </a:xfrm>
          <a:prstGeom prst="rect">
            <a:avLst/>
          </a:prstGeom>
          <a:noFill/>
        </p:spPr>
        <p:txBody>
          <a:bodyPr wrap="square" rtlCol="0" anchor="t">
            <a:spAutoFit/>
          </a:bodyPr>
          <a:p>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Task Description</a:t>
            </a:r>
            <a:endParaRPr lang="en-US" altLang="zh-CN">
              <a:sym typeface="+mn-ea"/>
            </a:endParaRPr>
          </a:p>
        </p:txBody>
      </p:sp>
      <p:sp>
        <p:nvSpPr>
          <p:cNvPr id="6" name="矩形 5"/>
          <p:cNvSpPr/>
          <p:nvPr/>
        </p:nvSpPr>
        <p:spPr>
          <a:xfrm>
            <a:off x="0" y="1189355"/>
            <a:ext cx="8370570" cy="2533650"/>
          </a:xfrm>
          <a:prstGeom prst="rect">
            <a:avLst/>
          </a:prstGeom>
          <a:solidFill>
            <a:srgbClr val="388BA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6323965" y="3540760"/>
            <a:ext cx="5478145" cy="102679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6694805" y="3656965"/>
            <a:ext cx="4959350" cy="858520"/>
          </a:xfrm>
          <a:prstGeom prst="rect">
            <a:avLst/>
          </a:prstGeom>
          <a:noFill/>
        </p:spPr>
        <p:txBody>
          <a:bodyPr wrap="square" rtlCol="0" anchor="t">
            <a:noAutofit/>
          </a:bodyPr>
          <a:p>
            <a:pPr>
              <a:lnSpc>
                <a:spcPct val="100000"/>
              </a:lnSpc>
            </a:pPr>
            <a:r>
              <a:rPr lang="en-US" altLang="zh-CN" sz="1600">
                <a:solidFill>
                  <a:schemeClr val="bg1">
                    <a:lumMod val="65000"/>
                  </a:schemeClr>
                </a:solidFill>
                <a:latin typeface="Arial" panose="020B0604020202020204" pitchFamily="34" charset="0"/>
                <a:cs typeface="Arial" panose="020B0604020202020204" pitchFamily="34" charset="0"/>
                <a:sym typeface="+mn-ea"/>
              </a:rPr>
              <a:t>Responsible File: </a:t>
            </a:r>
            <a:endParaRPr lang="en-US" altLang="zh-CN" sz="1600">
              <a:solidFill>
                <a:schemeClr val="bg1">
                  <a:lumMod val="65000"/>
                </a:schemeClr>
              </a:solidFill>
              <a:latin typeface="Arial" panose="020B0604020202020204" pitchFamily="34" charset="0"/>
              <a:cs typeface="Arial" panose="020B0604020202020204" pitchFamily="34" charset="0"/>
              <a:sym typeface="+mn-ea"/>
            </a:endParaRPr>
          </a:p>
          <a:p>
            <a:pPr>
              <a:lnSpc>
                <a:spcPct val="100000"/>
              </a:lnSpc>
            </a:pPr>
            <a:r>
              <a:rPr lang="en-US" altLang="zh-CN" sz="1600">
                <a:solidFill>
                  <a:schemeClr val="bg1">
                    <a:lumMod val="65000"/>
                  </a:schemeClr>
                </a:solidFill>
                <a:latin typeface="Arial" panose="020B0604020202020204" pitchFamily="34" charset="0"/>
                <a:cs typeface="Arial" panose="020B0604020202020204" pitchFamily="34" charset="0"/>
                <a:sym typeface="+mn-ea"/>
              </a:rPr>
              <a:t>src-tauri/src/database.rs (part: init_database() and related helper functions)</a:t>
            </a:r>
            <a:endParaRPr lang="en-US" altLang="zh-CN" sz="1600">
              <a:solidFill>
                <a:schemeClr val="bg1">
                  <a:lumMod val="65000"/>
                </a:schemeClr>
              </a:solidFill>
              <a:latin typeface="Arial" panose="020B0604020202020204" pitchFamily="34" charset="0"/>
              <a:cs typeface="Arial" panose="020B0604020202020204" pitchFamily="34" charset="0"/>
              <a:sym typeface="+mn-ea"/>
            </a:endParaRPr>
          </a:p>
        </p:txBody>
      </p:sp>
      <p:sp>
        <p:nvSpPr>
          <p:cNvPr id="5" name="文本框 4"/>
          <p:cNvSpPr txBox="1"/>
          <p:nvPr/>
        </p:nvSpPr>
        <p:spPr>
          <a:xfrm>
            <a:off x="1044575" y="1439545"/>
            <a:ext cx="6268720" cy="1863725"/>
          </a:xfrm>
          <a:prstGeom prst="rect">
            <a:avLst/>
          </a:prstGeom>
          <a:noFill/>
        </p:spPr>
        <p:txBody>
          <a:bodyPr wrap="square" rtlCol="0" anchor="t">
            <a:spAutoFit/>
          </a:bodyPr>
          <a:p>
            <a:pPr>
              <a:lnSpc>
                <a:spcPct val="120000"/>
              </a:lnSpc>
            </a:pPr>
            <a:r>
              <a:rPr lang="en-US" altLang="zh-CN" sz="2400">
                <a:solidFill>
                  <a:schemeClr val="bg1"/>
                </a:solidFill>
                <a:effectLst>
                  <a:outerShdw blurRad="38100" dist="38100" dir="2700000" algn="tl">
                    <a:srgbClr val="000000">
                      <a:alpha val="43137"/>
                    </a:srgbClr>
                  </a:outerShdw>
                </a:effectLst>
                <a:sym typeface="+mn-ea"/>
              </a:rPr>
              <a:t>Responsible for database initialization</a:t>
            </a:r>
            <a:endParaRPr lang="en-US" altLang="zh-CN" sz="2400">
              <a:solidFill>
                <a:schemeClr val="bg1"/>
              </a:solidFill>
              <a:effectLst>
                <a:outerShdw blurRad="38100" dist="38100" dir="2700000" algn="tl">
                  <a:srgbClr val="000000">
                    <a:alpha val="43137"/>
                  </a:srgbClr>
                </a:outerShdw>
              </a:effectLst>
            </a:endParaRPr>
          </a:p>
          <a:p>
            <a:pPr>
              <a:lnSpc>
                <a:spcPct val="120000"/>
              </a:lnSpc>
            </a:pPr>
            <a:r>
              <a:rPr lang="en-US" altLang="zh-CN" sz="2400">
                <a:solidFill>
                  <a:schemeClr val="bg1"/>
                </a:solidFill>
                <a:effectLst>
                  <a:outerShdw blurRad="38100" dist="38100" dir="2700000" algn="tl">
                    <a:srgbClr val="000000">
                      <a:alpha val="43137"/>
                    </a:srgbClr>
                  </a:outerShdw>
                </a:effectLst>
                <a:sym typeface="+mn-ea"/>
              </a:rPr>
              <a:t> table schema design</a:t>
            </a:r>
            <a:endParaRPr lang="en-US" altLang="zh-CN" sz="2400">
              <a:solidFill>
                <a:schemeClr val="bg1"/>
              </a:solidFill>
              <a:effectLst>
                <a:outerShdw blurRad="38100" dist="38100" dir="2700000" algn="tl">
                  <a:srgbClr val="000000">
                    <a:alpha val="43137"/>
                  </a:srgbClr>
                </a:outerShdw>
              </a:effectLst>
            </a:endParaRPr>
          </a:p>
          <a:p>
            <a:pPr>
              <a:lnSpc>
                <a:spcPct val="120000"/>
              </a:lnSpc>
            </a:pPr>
            <a:r>
              <a:rPr lang="en-US" altLang="zh-CN" sz="2400">
                <a:solidFill>
                  <a:schemeClr val="bg1"/>
                </a:solidFill>
                <a:effectLst>
                  <a:outerShdw blurRad="38100" dist="38100" dir="2700000" algn="tl">
                    <a:srgbClr val="000000">
                      <a:alpha val="43137"/>
                    </a:srgbClr>
                  </a:outerShdw>
                </a:effectLst>
                <a:sym typeface="+mn-ea"/>
              </a:rPr>
              <a:t>database connection management</a:t>
            </a:r>
            <a:endParaRPr lang="en-US" altLang="zh-CN" sz="2400">
              <a:solidFill>
                <a:schemeClr val="bg1"/>
              </a:solidFill>
              <a:effectLst>
                <a:outerShdw blurRad="38100" dist="38100" dir="2700000" algn="tl">
                  <a:srgbClr val="000000">
                    <a:alpha val="43137"/>
                  </a:srgbClr>
                </a:outerShdw>
              </a:effectLst>
            </a:endParaRPr>
          </a:p>
          <a:p>
            <a:pPr>
              <a:lnSpc>
                <a:spcPct val="120000"/>
              </a:lnSpc>
            </a:pPr>
            <a:r>
              <a:rPr lang="en-US" altLang="zh-CN" sz="2400">
                <a:solidFill>
                  <a:schemeClr val="bg1"/>
                </a:solidFill>
                <a:effectLst>
                  <a:outerShdw blurRad="38100" dist="38100" dir="2700000" algn="tl">
                    <a:srgbClr val="000000">
                      <a:alpha val="43137"/>
                    </a:srgbClr>
                  </a:outerShdw>
                </a:effectLst>
                <a:sym typeface="+mn-ea"/>
              </a:rPr>
              <a:t>default data creation</a:t>
            </a:r>
            <a:endParaRPr lang="en-US" altLang="zh-CN" sz="2400">
              <a:solidFill>
                <a:schemeClr val="bg1"/>
              </a:solidFill>
              <a:effectLst>
                <a:outerShdw blurRad="38100" dist="38100" dir="2700000" algn="tl">
                  <a:srgbClr val="000000">
                    <a:alpha val="43137"/>
                  </a:srgbClr>
                </a:outerShdw>
              </a:effectLst>
              <a:sym typeface="+mn-ea"/>
            </a:endParaRPr>
          </a:p>
        </p:txBody>
      </p:sp>
      <p:sp>
        <p:nvSpPr>
          <p:cNvPr id="16" name="文本框 15"/>
          <p:cNvSpPr txBox="1"/>
          <p:nvPr/>
        </p:nvSpPr>
        <p:spPr>
          <a:xfrm>
            <a:off x="451485" y="4057650"/>
            <a:ext cx="5971540" cy="2418715"/>
          </a:xfrm>
          <a:prstGeom prst="rect">
            <a:avLst/>
          </a:prstGeom>
        </p:spPr>
        <p:txBody>
          <a:bodyPr>
            <a:noAutofit/>
          </a:bodyPr>
          <a:p>
            <a:pPr>
              <a:spcAft>
                <a:spcPct val="60000"/>
              </a:spcAft>
            </a:pPr>
            <a:r>
              <a:rPr lang="en-US" altLang="zh-CN" sz="1600"/>
              <a:t>Ensure database creation runs during first app startup</a:t>
            </a:r>
            <a:endParaRPr lang="en-US" altLang="zh-CN" sz="1600"/>
          </a:p>
          <a:p>
            <a:pPr>
              <a:spcAft>
                <a:spcPct val="60000"/>
              </a:spcAft>
            </a:pPr>
            <a:r>
              <a:rPr lang="en-US" altLang="zh-CN" sz="1600"/>
              <a:t>Design foreign key relationships (users → accounts → transactions)</a:t>
            </a:r>
            <a:endParaRPr lang="en-US" altLang="zh-CN" sz="1600"/>
          </a:p>
          <a:p>
            <a:pPr>
              <a:spcAft>
                <a:spcPct val="60000"/>
              </a:spcAft>
            </a:pPr>
            <a:r>
              <a:rPr lang="en-US" altLang="zh-CN" sz="1600"/>
              <a:t>Implement thread-safe connection handling with Arc&lt;Mutex&lt;Connection&gt;&gt;</a:t>
            </a:r>
            <a:endParaRPr lang="en-US" altLang="zh-CN" sz="1600"/>
          </a:p>
          <a:p>
            <a:pPr indent="0">
              <a:buFont typeface="Arial" panose="020B0604020202020204"/>
              <a:buNone/>
            </a:pPr>
            <a:r>
              <a:rPr lang="en-US" altLang="zh-CN" sz="1600"/>
              <a:t>Handle SQLite errors and fallbacks during initialization</a:t>
            </a:r>
            <a:endParaRPr lang="en-US" altLang="zh-CN" sz="1600"/>
          </a:p>
        </p:txBody>
      </p:sp>
      <p:sp>
        <p:nvSpPr>
          <p:cNvPr id="17" name="文本框 16"/>
          <p:cNvSpPr txBox="1"/>
          <p:nvPr/>
        </p:nvSpPr>
        <p:spPr>
          <a:xfrm>
            <a:off x="7499350" y="5055235"/>
            <a:ext cx="3128010" cy="768350"/>
          </a:xfrm>
          <a:prstGeom prst="rect">
            <a:avLst/>
          </a:prstGeom>
          <a:noFill/>
        </p:spPr>
        <p:txBody>
          <a:bodyPr wrap="square" rtlCol="0" anchor="t">
            <a:spAutoFit/>
          </a:bodyPr>
          <a:p>
            <a:pPr>
              <a:spcAft>
                <a:spcPct val="60000"/>
              </a:spcAft>
            </a:pPr>
            <a:r>
              <a:rPr lang="en-US" altLang="zh-CN" sz="2200" b="1">
                <a:solidFill>
                  <a:srgbClr val="388BA5"/>
                </a:solidFill>
                <a:latin typeface="Times New Roman" panose="02020603050405020304" charset="0"/>
                <a:cs typeface="Times New Roman" panose="02020603050405020304" charset="0"/>
                <a:sym typeface="+mn-ea"/>
              </a:rPr>
              <a:t>Additional Technical Responsibilities</a:t>
            </a:r>
            <a:endParaRPr lang="en-US" altLang="zh-CN" sz="2200" b="1">
              <a:solidFill>
                <a:srgbClr val="388BA5"/>
              </a:solidFill>
              <a:latin typeface="Times New Roman" panose="02020603050405020304" charset="0"/>
              <a:cs typeface="Times New Roman" panose="02020603050405020304" charset="0"/>
              <a:sym typeface="+mn-ea"/>
            </a:endParaRPr>
          </a:p>
        </p:txBody>
      </p:sp>
      <p:sp>
        <p:nvSpPr>
          <p:cNvPr id="21" name="左箭头 20"/>
          <p:cNvSpPr/>
          <p:nvPr/>
        </p:nvSpPr>
        <p:spPr>
          <a:xfrm>
            <a:off x="6325235" y="5224145"/>
            <a:ext cx="791210" cy="414020"/>
          </a:xfrm>
          <a:prstGeom prst="leftArrow">
            <a:avLst/>
          </a:prstGeom>
          <a:solidFill>
            <a:srgbClr val="388BA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descr="两个人-头像"/>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81185" y="1355725"/>
            <a:ext cx="1584960" cy="15849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1</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2" name="文本框 1"/>
          <p:cNvSpPr txBox="1"/>
          <p:nvPr/>
        </p:nvSpPr>
        <p:spPr>
          <a:xfrm>
            <a:off x="1310005" y="195580"/>
            <a:ext cx="3448685" cy="460375"/>
          </a:xfrm>
          <a:prstGeom prst="rect">
            <a:avLst/>
          </a:prstGeom>
          <a:noFill/>
        </p:spPr>
        <p:txBody>
          <a:bodyPr wrap="square" rtlCol="0" anchor="t">
            <a:spAutoFit/>
          </a:bodyPr>
          <a:p>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Detailed Work Items</a:t>
            </a:r>
            <a:endParaRPr lang="en-US" altLang="zh-CN">
              <a:sym typeface="+mn-ea"/>
            </a:endParaRPr>
          </a:p>
        </p:txBody>
      </p:sp>
      <p:sp>
        <p:nvSpPr>
          <p:cNvPr id="4" name="文本框 3"/>
          <p:cNvSpPr txBox="1"/>
          <p:nvPr/>
        </p:nvSpPr>
        <p:spPr>
          <a:xfrm>
            <a:off x="1695450" y="7358380"/>
            <a:ext cx="9144000" cy="1198880"/>
          </a:xfrm>
          <a:prstGeom prst="rect">
            <a:avLst/>
          </a:prstGeom>
          <a:noFill/>
        </p:spPr>
        <p:txBody>
          <a:bodyPr wrap="square" rtlCol="0" anchor="t">
            <a:spAutoFit/>
          </a:bodyPr>
          <a:p>
            <a:endParaRPr lang="en-US" altLang="zh-CN"/>
          </a:p>
          <a:p>
            <a:endParaRPr lang="en-US" altLang="zh-CN">
              <a:sym typeface="+mn-ea"/>
            </a:endParaRPr>
          </a:p>
          <a:p>
            <a:endParaRPr lang="en-US" altLang="zh-CN"/>
          </a:p>
          <a:p>
            <a:endParaRPr lang="en-US" altLang="zh-CN">
              <a:sym typeface="+mn-ea"/>
            </a:endParaRPr>
          </a:p>
        </p:txBody>
      </p:sp>
      <p:sp>
        <p:nvSpPr>
          <p:cNvPr id="22" name="圆角矩形 1"/>
          <p:cNvSpPr/>
          <p:nvPr>
            <p:custDataLst>
              <p:tags r:id="rId1"/>
            </p:custDataLst>
          </p:nvPr>
        </p:nvSpPr>
        <p:spPr>
          <a:xfrm>
            <a:off x="471170" y="980123"/>
            <a:ext cx="2550160" cy="4860925"/>
          </a:xfrm>
          <a:prstGeom prst="roundRect">
            <a:avLst>
              <a:gd name="adj" fmla="val 50000"/>
            </a:avLst>
          </a:prstGeom>
          <a:solidFill>
            <a:schemeClr val="accent1">
              <a:lumMod val="40000"/>
              <a:lumOff val="60000"/>
              <a:alpha val="25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5" name="矩形 4"/>
          <p:cNvSpPr/>
          <p:nvPr>
            <p:custDataLst>
              <p:tags r:id="rId2"/>
            </p:custDataLst>
          </p:nvPr>
        </p:nvSpPr>
        <p:spPr>
          <a:xfrm>
            <a:off x="751840" y="2426970"/>
            <a:ext cx="2108200" cy="2734310"/>
          </a:xfrm>
          <a:prstGeom prst="rect">
            <a:avLst/>
          </a:prstGeom>
          <a:noFill/>
        </p:spPr>
        <p:txBody>
          <a:bodyPr wrap="square" lIns="0" tIns="0" rIns="0" bIns="0" rtlCol="0" anchor="t" anchorCtr="0">
            <a:noAutofit/>
          </a:bodyPr>
          <a:p>
            <a:pPr algn="l">
              <a:lnSpc>
                <a:spcPct val="150000"/>
              </a:lnSpc>
              <a:spcBef>
                <a:spcPct val="0"/>
              </a:spcBef>
              <a:spcAft>
                <a:spcPct val="0"/>
              </a:spcAft>
            </a:pPr>
            <a:r>
              <a:rPr lang="en-US" altLang="zh-CN" sz="1400">
                <a:sym typeface="+mn-ea"/>
              </a:rPr>
              <a:t>Implement get_db_path() to obtain the user data directory</a:t>
            </a:r>
            <a:endParaRPr lang="en-US" altLang="zh-CN" sz="1400"/>
          </a:p>
          <a:p>
            <a:pPr algn="l">
              <a:lnSpc>
                <a:spcPct val="150000"/>
              </a:lnSpc>
              <a:spcBef>
                <a:spcPct val="0"/>
              </a:spcBef>
              <a:spcAft>
                <a:spcPct val="0"/>
              </a:spcAft>
            </a:pPr>
            <a:r>
              <a:rPr lang="en-US" altLang="zh-CN" sz="1400">
                <a:sym typeface="+mn-ea"/>
              </a:rPr>
              <a:t>Create the application data directory FinanceTracker</a:t>
            </a:r>
            <a:endParaRPr lang="en-US" altLang="zh-CN" sz="1400"/>
          </a:p>
          <a:p>
            <a:pPr algn="l">
              <a:lnSpc>
                <a:spcPct val="150000"/>
              </a:lnSpc>
              <a:spcBef>
                <a:spcPct val="0"/>
              </a:spcBef>
              <a:spcAft>
                <a:spcPct val="0"/>
              </a:spcAft>
            </a:pPr>
            <a:r>
              <a:rPr lang="en-US" altLang="zh-CN" sz="1400">
                <a:sym typeface="+mn-ea"/>
              </a:rPr>
              <a:t>Return the full path of the SQLite database file</a:t>
            </a:r>
            <a:endParaRPr lang="zh-CN" altLang="en-US" sz="1400" dirty="0">
              <a:solidFill>
                <a:schemeClr val="tx1">
                  <a:lumMod val="85000"/>
                  <a:lumOff val="15000"/>
                </a:schemeClr>
              </a:solidFill>
              <a:latin typeface="+mn-ea"/>
              <a:cs typeface="+mn-ea"/>
            </a:endParaRPr>
          </a:p>
        </p:txBody>
      </p:sp>
      <p:sp>
        <p:nvSpPr>
          <p:cNvPr id="6" name="矩形 5"/>
          <p:cNvSpPr/>
          <p:nvPr>
            <p:custDataLst>
              <p:tags r:id="rId3"/>
            </p:custDataLst>
          </p:nvPr>
        </p:nvSpPr>
        <p:spPr>
          <a:xfrm>
            <a:off x="751840" y="1508760"/>
            <a:ext cx="2108200" cy="573405"/>
          </a:xfrm>
          <a:prstGeom prst="rect">
            <a:avLst/>
          </a:prstGeom>
          <a:noFill/>
        </p:spPr>
        <p:txBody>
          <a:bodyPr wrap="square" lIns="90000" tIns="46800" rIns="90000" bIns="0" rtlCol="0" anchor="ctr">
            <a:noAutofit/>
          </a:bodyPr>
          <a:p>
            <a:pPr algn="ctr">
              <a:spcBef>
                <a:spcPct val="0"/>
              </a:spcBef>
              <a:spcAft>
                <a:spcPct val="0"/>
              </a:spcAft>
            </a:pPr>
            <a:r>
              <a:rPr lang="en-US" altLang="zh-CN" b="1">
                <a:solidFill>
                  <a:srgbClr val="5B9BD5"/>
                </a:solidFill>
                <a:effectLst/>
                <a:sym typeface="+mn-ea"/>
              </a:rPr>
              <a:t>1.Database Path Management</a:t>
            </a:r>
            <a:endParaRPr lang="en-US" altLang="zh-CN" b="1" dirty="0">
              <a:solidFill>
                <a:srgbClr val="5B9BD5"/>
              </a:solidFill>
              <a:effectLst/>
              <a:latin typeface="+mn-ea"/>
              <a:cs typeface="+mn-ea"/>
              <a:sym typeface="+mn-ea"/>
            </a:endParaRPr>
          </a:p>
        </p:txBody>
      </p:sp>
      <p:sp>
        <p:nvSpPr>
          <p:cNvPr id="25" name="圆角矩形 1"/>
          <p:cNvSpPr/>
          <p:nvPr>
            <p:custDataLst>
              <p:tags r:id="rId4"/>
            </p:custDataLst>
          </p:nvPr>
        </p:nvSpPr>
        <p:spPr>
          <a:xfrm>
            <a:off x="3279141" y="980123"/>
            <a:ext cx="2550160" cy="4860925"/>
          </a:xfrm>
          <a:prstGeom prst="roundRect">
            <a:avLst>
              <a:gd name="adj" fmla="val 50000"/>
            </a:avLst>
          </a:prstGeom>
          <a:solidFill>
            <a:srgbClr val="388BA5"/>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388BA5"/>
              </a:solidFill>
            </a:endParaRPr>
          </a:p>
        </p:txBody>
      </p:sp>
      <p:sp>
        <p:nvSpPr>
          <p:cNvPr id="7" name="矩形 6"/>
          <p:cNvSpPr/>
          <p:nvPr>
            <p:custDataLst>
              <p:tags r:id="rId5"/>
            </p:custDataLst>
          </p:nvPr>
        </p:nvSpPr>
        <p:spPr>
          <a:xfrm>
            <a:off x="3559810" y="2426970"/>
            <a:ext cx="2098675" cy="2734310"/>
          </a:xfrm>
          <a:prstGeom prst="rect">
            <a:avLst/>
          </a:prstGeom>
          <a:noFill/>
        </p:spPr>
        <p:txBody>
          <a:bodyPr wrap="square" lIns="0" tIns="0" rIns="0" bIns="0" rtlCol="0" anchor="t" anchorCtr="0">
            <a:noAutofit/>
          </a:bodyPr>
          <a:p>
            <a:pPr algn="l">
              <a:lnSpc>
                <a:spcPct val="150000"/>
              </a:lnSpc>
              <a:spcBef>
                <a:spcPct val="0"/>
              </a:spcBef>
              <a:spcAft>
                <a:spcPct val="0"/>
              </a:spcAft>
            </a:pPr>
            <a:r>
              <a:rPr lang="en-US" altLang="zh-CN" sz="1400">
                <a:solidFill>
                  <a:schemeClr val="bg1"/>
                </a:solidFill>
                <a:sym typeface="+mn-ea"/>
              </a:rPr>
              <a:t>Implement init_database()</a:t>
            </a:r>
            <a:endParaRPr lang="en-US" altLang="zh-CN" sz="1400">
              <a:solidFill>
                <a:schemeClr val="bg1"/>
              </a:solidFill>
            </a:endParaRPr>
          </a:p>
          <a:p>
            <a:pPr algn="l">
              <a:lnSpc>
                <a:spcPct val="150000"/>
              </a:lnSpc>
              <a:spcBef>
                <a:spcPct val="0"/>
              </a:spcBef>
              <a:spcAft>
                <a:spcPct val="0"/>
              </a:spcAft>
            </a:pPr>
            <a:r>
              <a:rPr lang="en-US" altLang="zh-CN" sz="1400">
                <a:solidFill>
                  <a:schemeClr val="bg1"/>
                </a:solidFill>
                <a:sym typeface="+mn-ea"/>
              </a:rPr>
              <a:t>Create SQLite database connection</a:t>
            </a:r>
            <a:endParaRPr lang="en-US" altLang="zh-CN" sz="1400">
              <a:solidFill>
                <a:schemeClr val="bg1"/>
              </a:solidFill>
            </a:endParaRPr>
          </a:p>
          <a:p>
            <a:pPr algn="l">
              <a:lnSpc>
                <a:spcPct val="150000"/>
              </a:lnSpc>
              <a:spcBef>
                <a:spcPct val="0"/>
              </a:spcBef>
              <a:spcAft>
                <a:spcPct val="0"/>
              </a:spcAft>
            </a:pPr>
            <a:r>
              <a:rPr lang="en-US" altLang="zh-CN" sz="1400">
                <a:solidFill>
                  <a:schemeClr val="bg1"/>
                </a:solidFill>
                <a:sym typeface="+mn-ea"/>
              </a:rPr>
              <a:t>Wrap the connection inside Arc&lt;Mutex&gt; for thread-safe access</a:t>
            </a:r>
            <a:endParaRPr lang="en-US" altLang="zh-CN" sz="1400" dirty="0">
              <a:solidFill>
                <a:schemeClr val="bg1"/>
              </a:solidFill>
              <a:latin typeface="+mn-ea"/>
              <a:cs typeface="+mn-ea"/>
              <a:sym typeface="+mn-ea"/>
            </a:endParaRPr>
          </a:p>
        </p:txBody>
      </p:sp>
      <p:sp>
        <p:nvSpPr>
          <p:cNvPr id="8" name="矩形 7"/>
          <p:cNvSpPr/>
          <p:nvPr>
            <p:custDataLst>
              <p:tags r:id="rId6"/>
            </p:custDataLst>
          </p:nvPr>
        </p:nvSpPr>
        <p:spPr>
          <a:xfrm>
            <a:off x="3559176" y="1508443"/>
            <a:ext cx="1988820" cy="573405"/>
          </a:xfrm>
          <a:prstGeom prst="rect">
            <a:avLst/>
          </a:prstGeom>
          <a:noFill/>
        </p:spPr>
        <p:txBody>
          <a:bodyPr wrap="square" lIns="90000" tIns="46800" rIns="90000" bIns="0" rtlCol="0" anchor="ctr">
            <a:noAutofit/>
          </a:bodyPr>
          <a:p>
            <a:pPr algn="ctr">
              <a:buClrTx/>
              <a:buSzTx/>
              <a:buFontTx/>
            </a:pPr>
            <a:r>
              <a:rPr lang="en-US" altLang="zh-CN" sz="1800" b="1">
                <a:solidFill>
                  <a:schemeClr val="bg1"/>
                </a:solidFill>
                <a:effectLst/>
                <a:sym typeface="+mn-ea"/>
              </a:rPr>
              <a:t>2.Database Initialization</a:t>
            </a:r>
            <a:endParaRPr lang="en-US" altLang="zh-CN" sz="1800" b="1">
              <a:solidFill>
                <a:schemeClr val="bg1"/>
              </a:solidFill>
              <a:effectLst/>
              <a:sym typeface="+mn-ea"/>
            </a:endParaRPr>
          </a:p>
        </p:txBody>
      </p:sp>
      <p:sp>
        <p:nvSpPr>
          <p:cNvPr id="28" name="圆角矩形 1"/>
          <p:cNvSpPr/>
          <p:nvPr>
            <p:custDataLst>
              <p:tags r:id="rId7"/>
            </p:custDataLst>
          </p:nvPr>
        </p:nvSpPr>
        <p:spPr>
          <a:xfrm>
            <a:off x="6086476" y="980123"/>
            <a:ext cx="2550160" cy="4860925"/>
          </a:xfrm>
          <a:prstGeom prst="roundRect">
            <a:avLst>
              <a:gd name="adj" fmla="val 50000"/>
            </a:avLst>
          </a:prstGeom>
          <a:solidFill>
            <a:schemeClr val="accent1">
              <a:lumMod val="40000"/>
              <a:lumOff val="60000"/>
              <a:alpha val="25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9" name="矩形 8"/>
          <p:cNvSpPr/>
          <p:nvPr>
            <p:custDataLst>
              <p:tags r:id="rId8"/>
            </p:custDataLst>
          </p:nvPr>
        </p:nvSpPr>
        <p:spPr>
          <a:xfrm>
            <a:off x="6223635" y="2284730"/>
            <a:ext cx="2319655" cy="2734310"/>
          </a:xfrm>
          <a:prstGeom prst="rect">
            <a:avLst/>
          </a:prstGeom>
          <a:noFill/>
        </p:spPr>
        <p:txBody>
          <a:bodyPr wrap="square" lIns="0" tIns="0" rIns="0" bIns="0" rtlCol="0" anchor="t" anchorCtr="0">
            <a:noAutofit/>
          </a:bodyPr>
          <a:p>
            <a:pPr algn="l">
              <a:lnSpc>
                <a:spcPct val="130000"/>
              </a:lnSpc>
              <a:spcBef>
                <a:spcPct val="0"/>
              </a:spcBef>
              <a:spcAft>
                <a:spcPct val="0"/>
              </a:spcAft>
            </a:pPr>
            <a:r>
              <a:rPr lang="en-US" altLang="zh-CN" sz="1400">
                <a:sym typeface="+mn-ea"/>
              </a:rPr>
              <a:t>Create users table (user information)</a:t>
            </a:r>
            <a:endParaRPr lang="en-US" altLang="zh-CN" sz="1400"/>
          </a:p>
          <a:p>
            <a:pPr algn="l">
              <a:lnSpc>
                <a:spcPct val="130000"/>
              </a:lnSpc>
              <a:spcBef>
                <a:spcPct val="0"/>
              </a:spcBef>
              <a:spcAft>
                <a:spcPct val="0"/>
              </a:spcAft>
            </a:pPr>
            <a:r>
              <a:rPr lang="en-US" altLang="zh-CN" sz="1400">
                <a:sym typeface="+mn-ea"/>
              </a:rPr>
              <a:t>Create accounts table (linked to users via foreign key)</a:t>
            </a:r>
            <a:endParaRPr lang="en-US" altLang="zh-CN" sz="1400"/>
          </a:p>
          <a:p>
            <a:pPr algn="l">
              <a:lnSpc>
                <a:spcPct val="130000"/>
              </a:lnSpc>
              <a:spcBef>
                <a:spcPct val="0"/>
              </a:spcBef>
              <a:spcAft>
                <a:spcPct val="0"/>
              </a:spcAft>
            </a:pPr>
            <a:r>
              <a:rPr lang="en-US" altLang="zh-CN" sz="1400">
                <a:sym typeface="+mn-ea"/>
              </a:rPr>
              <a:t>Create transactions table (linked to accounts via foreign key)</a:t>
            </a:r>
            <a:endParaRPr lang="en-US" altLang="zh-CN" sz="1400"/>
          </a:p>
          <a:p>
            <a:pPr algn="l">
              <a:lnSpc>
                <a:spcPct val="130000"/>
              </a:lnSpc>
              <a:spcBef>
                <a:spcPct val="0"/>
              </a:spcBef>
              <a:spcAft>
                <a:spcPct val="0"/>
              </a:spcAft>
            </a:pPr>
            <a:r>
              <a:rPr lang="en-US" altLang="zh-CN" sz="1400">
                <a:sym typeface="+mn-ea"/>
              </a:rPr>
              <a:t>Ensure correct setup of all foreign key constraints</a:t>
            </a:r>
            <a:endParaRPr lang="zh-CN" altLang="en-US" sz="1400" dirty="0">
              <a:solidFill>
                <a:schemeClr val="tx1">
                  <a:lumMod val="85000"/>
                  <a:lumOff val="15000"/>
                </a:schemeClr>
              </a:solidFill>
              <a:latin typeface="+mn-ea"/>
              <a:cs typeface="+mn-ea"/>
            </a:endParaRPr>
          </a:p>
        </p:txBody>
      </p:sp>
      <p:sp>
        <p:nvSpPr>
          <p:cNvPr id="10" name="矩形 9"/>
          <p:cNvSpPr/>
          <p:nvPr>
            <p:custDataLst>
              <p:tags r:id="rId9"/>
            </p:custDataLst>
          </p:nvPr>
        </p:nvSpPr>
        <p:spPr>
          <a:xfrm>
            <a:off x="6367145" y="1508760"/>
            <a:ext cx="2126615" cy="573405"/>
          </a:xfrm>
          <a:prstGeom prst="rect">
            <a:avLst/>
          </a:prstGeom>
          <a:noFill/>
        </p:spPr>
        <p:txBody>
          <a:bodyPr wrap="square" lIns="90000" tIns="46800" rIns="90000" bIns="0" rtlCol="0" anchor="ctr">
            <a:noAutofit/>
          </a:bodyPr>
          <a:p>
            <a:pPr algn="ctr">
              <a:buClrTx/>
              <a:buSzTx/>
              <a:buFontTx/>
            </a:pPr>
            <a:r>
              <a:rPr lang="en-US" altLang="zh-CN" sz="1800" b="1">
                <a:solidFill>
                  <a:srgbClr val="5B9BD5"/>
                </a:solidFill>
                <a:effectLst/>
                <a:sym typeface="+mn-ea"/>
              </a:rPr>
              <a:t>3.Table Schema Design</a:t>
            </a:r>
            <a:endParaRPr lang="en-US" altLang="zh-CN" sz="1800" b="1">
              <a:solidFill>
                <a:srgbClr val="5B9BD5"/>
              </a:solidFill>
              <a:effectLst/>
            </a:endParaRPr>
          </a:p>
        </p:txBody>
      </p:sp>
      <p:sp>
        <p:nvSpPr>
          <p:cNvPr id="31" name="圆角矩形 1"/>
          <p:cNvSpPr/>
          <p:nvPr>
            <p:custDataLst>
              <p:tags r:id="rId10"/>
            </p:custDataLst>
          </p:nvPr>
        </p:nvSpPr>
        <p:spPr>
          <a:xfrm>
            <a:off x="8893811" y="980123"/>
            <a:ext cx="2550160" cy="4860925"/>
          </a:xfrm>
          <a:prstGeom prst="roundRect">
            <a:avLst>
              <a:gd name="adj" fmla="val 50000"/>
            </a:avLst>
          </a:prstGeom>
          <a:solidFill>
            <a:srgbClr val="388BA5"/>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6" name="矩形 15"/>
          <p:cNvSpPr/>
          <p:nvPr>
            <p:custDataLst>
              <p:tags r:id="rId11"/>
            </p:custDataLst>
          </p:nvPr>
        </p:nvSpPr>
        <p:spPr>
          <a:xfrm>
            <a:off x="9013190" y="2211705"/>
            <a:ext cx="2310765" cy="2734310"/>
          </a:xfrm>
          <a:prstGeom prst="rect">
            <a:avLst/>
          </a:prstGeom>
          <a:noFill/>
        </p:spPr>
        <p:txBody>
          <a:bodyPr wrap="square" lIns="0" tIns="0" rIns="0" bIns="0" rtlCol="0" anchor="t" anchorCtr="0">
            <a:noAutofit/>
          </a:bodyPr>
          <a:p>
            <a:pPr algn="l">
              <a:lnSpc>
                <a:spcPct val="170000"/>
              </a:lnSpc>
              <a:spcBef>
                <a:spcPct val="0"/>
              </a:spcBef>
              <a:spcAft>
                <a:spcPct val="0"/>
              </a:spcAft>
            </a:pPr>
            <a:r>
              <a:rPr lang="en-US" altLang="zh-CN" sz="1400">
                <a:solidFill>
                  <a:schemeClr val="bg1"/>
                </a:solidFill>
                <a:sym typeface="+mn-ea"/>
              </a:rPr>
              <a:t>Create default user (id=1, name="Default User")</a:t>
            </a:r>
            <a:endParaRPr lang="en-US" altLang="zh-CN" sz="1400">
              <a:solidFill>
                <a:schemeClr val="bg1"/>
              </a:solidFill>
            </a:endParaRPr>
          </a:p>
          <a:p>
            <a:pPr algn="l">
              <a:lnSpc>
                <a:spcPct val="170000"/>
              </a:lnSpc>
              <a:spcBef>
                <a:spcPct val="0"/>
              </a:spcBef>
              <a:spcAft>
                <a:spcPct val="0"/>
              </a:spcAft>
            </a:pPr>
            <a:r>
              <a:rPr lang="en-US" altLang="zh-CN" sz="1400">
                <a:solidFill>
                  <a:schemeClr val="bg1"/>
                </a:solidFill>
                <a:sym typeface="+mn-ea"/>
              </a:rPr>
              <a:t>Create default account (id=1, name="Main Account", type="checking")</a:t>
            </a:r>
            <a:endParaRPr lang="en-US" altLang="zh-CN" sz="1400" dirty="0">
              <a:solidFill>
                <a:schemeClr val="bg1"/>
              </a:solidFill>
              <a:latin typeface="+mn-ea"/>
              <a:cs typeface="+mn-ea"/>
              <a:sym typeface="+mn-ea"/>
            </a:endParaRPr>
          </a:p>
        </p:txBody>
      </p:sp>
      <p:sp>
        <p:nvSpPr>
          <p:cNvPr id="19" name="矩形 18"/>
          <p:cNvSpPr/>
          <p:nvPr>
            <p:custDataLst>
              <p:tags r:id="rId12"/>
            </p:custDataLst>
          </p:nvPr>
        </p:nvSpPr>
        <p:spPr>
          <a:xfrm>
            <a:off x="9175116" y="1508443"/>
            <a:ext cx="1988820" cy="573405"/>
          </a:xfrm>
          <a:prstGeom prst="rect">
            <a:avLst/>
          </a:prstGeom>
          <a:noFill/>
        </p:spPr>
        <p:txBody>
          <a:bodyPr wrap="square" lIns="90000" tIns="46800" rIns="90000" bIns="0" rtlCol="0" anchor="ctr">
            <a:noAutofit/>
          </a:bodyPr>
          <a:p>
            <a:pPr algn="ctr">
              <a:buClrTx/>
              <a:buSzTx/>
              <a:buFontTx/>
            </a:pPr>
            <a:r>
              <a:rPr lang="en-US" altLang="zh-CN" sz="1800" b="1">
                <a:solidFill>
                  <a:schemeClr val="bg1"/>
                </a:solidFill>
                <a:effectLst/>
                <a:sym typeface="+mn-ea"/>
              </a:rPr>
              <a:t>4.Default Data Initialization</a:t>
            </a:r>
            <a:endParaRPr lang="en-US" altLang="zh-CN" sz="1800" b="1">
              <a:solidFill>
                <a:schemeClr val="bg1"/>
              </a:solidFill>
              <a:effectLst/>
            </a:endParaRPr>
          </a:p>
        </p:txBody>
      </p:sp>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351244"/>
            <a:ext cx="7196034" cy="1142566"/>
          </a:xfrm>
          <a:prstGeom prst="rect">
            <a:avLst/>
          </a:prstGeom>
        </p:spPr>
      </p:pic>
      <p:sp>
        <p:nvSpPr>
          <p:cNvPr id="3" name="矩形 2"/>
          <p:cNvSpPr/>
          <p:nvPr/>
        </p:nvSpPr>
        <p:spPr>
          <a:xfrm>
            <a:off x="3209925" y="2722245"/>
            <a:ext cx="577215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Data Model and Serialization Module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4389755" y="1085422"/>
            <a:ext cx="3412490" cy="1445260"/>
          </a:xfrm>
          <a:prstGeom prst="rect">
            <a:avLst/>
          </a:prstGeom>
          <a:noFill/>
        </p:spPr>
        <p:txBody>
          <a:bodyPr wrap="none" rtlCol="0">
            <a:spAutoFit/>
          </a:bodyPr>
          <a:lstStyle/>
          <a:p>
            <a:pPr algn="l"/>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Task 2</a:t>
            </a:r>
            <a:endParaRPr lang="en-US" altLang="zh-CN" sz="8800" dirty="0">
              <a:ln>
                <a:noFill/>
              </a:ln>
              <a:solidFill>
                <a:schemeClr val="bg1"/>
              </a:solidFill>
              <a:effectLst>
                <a:glow rad="63500">
                  <a:schemeClr val="accent5">
                    <a:satMod val="175000"/>
                    <a:alpha val="40000"/>
                  </a:scheme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nvSpPr>
        <p:spPr>
          <a:xfrm>
            <a:off x="3847148" y="3449320"/>
            <a:ext cx="4497705" cy="414020"/>
          </a:xfrm>
          <a:prstGeom prst="rect">
            <a:avLst/>
          </a:prstGeom>
        </p:spPr>
        <p:txBody>
          <a:bodyPr wrap="square">
            <a:spAutoFit/>
          </a:bodyPr>
          <a:lstStyle/>
          <a:p>
            <a:pPr algn="ctr">
              <a:lnSpc>
                <a:spcPct val="150000"/>
              </a:lnSpc>
            </a:pPr>
            <a:r>
              <a:rPr lang="en-US" altLang="zh-CN" sz="1400" dirty="0">
                <a:solidFill>
                  <a:srgbClr val="388BA5"/>
                </a:solidFill>
                <a:effectLst>
                  <a:outerShdw blurRad="38100" dist="38100" dir="2700000" algn="tl">
                    <a:srgbClr val="000000">
                      <a:alpha val="43137"/>
                    </a:srgbClr>
                  </a:outerShdw>
                </a:effectLst>
                <a:cs typeface="+mn-ea"/>
                <a:sym typeface="+mn-lt"/>
              </a:rPr>
              <a:t>Owner: Lu Yifeng</a:t>
            </a:r>
            <a:endParaRPr lang="en-US" altLang="zh-CN" sz="1400" dirty="0">
              <a:solidFill>
                <a:srgbClr val="388BA5"/>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descr="47d5fa2f8c02b501aafbdaaf7e4645b"/>
          <p:cNvPicPr>
            <a:picLocks noChangeAspect="1"/>
          </p:cNvPicPr>
          <p:nvPr/>
        </p:nvPicPr>
        <p:blipFill>
          <a:blip r:embed="rId1"/>
          <a:stretch>
            <a:fillRect/>
          </a:stretch>
        </p:blipFill>
        <p:spPr>
          <a:xfrm>
            <a:off x="8415020" y="1659255"/>
            <a:ext cx="3413760" cy="4434840"/>
          </a:xfrm>
          <a:prstGeom prst="rect">
            <a:avLst/>
          </a:prstGeom>
        </p:spPr>
      </p:pic>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rPr>
              <a:t>Data Model and Serialization Module</a:t>
            </a:r>
            <a:endParaRPr lang="en-US" altLang="zh-CN" sz="2400" b="1" spc="400">
              <a:latin typeface="Arial" panose="020B0604020202020204" pitchFamily="34" charset="0"/>
              <a:ea typeface="微软雅黑" panose="020B0503020204020204" charset="-122"/>
            </a:endParaRPr>
          </a:p>
        </p:txBody>
      </p:sp>
      <p:sp>
        <p:nvSpPr>
          <p:cNvPr id="4" name="文本框 3"/>
          <p:cNvSpPr txBox="1"/>
          <p:nvPr/>
        </p:nvSpPr>
        <p:spPr>
          <a:xfrm>
            <a:off x="1130300" y="1097439"/>
            <a:ext cx="1933575" cy="368300"/>
          </a:xfrm>
          <a:prstGeom prst="rect">
            <a:avLst/>
          </a:prstGeom>
          <a:noFill/>
        </p:spPr>
        <p:txBody>
          <a:bodyPr wrap="square" rtlCol="0">
            <a:spAutoFit/>
          </a:bodyPr>
          <a:p>
            <a:r>
              <a:rPr lang="en-US" altLang="zh-CN" b="1">
                <a:effectLst>
                  <a:outerShdw blurRad="38100" dist="38100" dir="2700000" algn="tl">
                    <a:srgbClr val="000000">
                      <a:alpha val="43137"/>
                    </a:srgbClr>
                  </a:outerShdw>
                </a:effectLst>
              </a:rPr>
              <a:t>Core objective</a:t>
            </a:r>
            <a:endParaRPr lang="zh-CN" altLang="en-US" b="1">
              <a:effectLst>
                <a:outerShdw blurRad="38100" dist="38100" dir="2700000" algn="tl">
                  <a:srgbClr val="000000">
                    <a:alpha val="43137"/>
                  </a:srgbClr>
                </a:outerShdw>
              </a:effectLst>
            </a:endParaRPr>
          </a:p>
        </p:txBody>
      </p:sp>
      <p:pic>
        <p:nvPicPr>
          <p:cNvPr id="7" name="图片 6" descr="47d5fa2f8c02b501aafbdaaf7e4645b"/>
          <p:cNvPicPr>
            <a:picLocks noChangeAspect="1"/>
          </p:cNvPicPr>
          <p:nvPr/>
        </p:nvPicPr>
        <p:blipFill>
          <a:blip r:embed="rId1"/>
          <a:stretch>
            <a:fillRect/>
          </a:stretch>
        </p:blipFill>
        <p:spPr>
          <a:xfrm>
            <a:off x="363220" y="1659255"/>
            <a:ext cx="3413760" cy="4434840"/>
          </a:xfrm>
          <a:prstGeom prst="rect">
            <a:avLst/>
          </a:prstGeom>
        </p:spPr>
      </p:pic>
      <p:pic>
        <p:nvPicPr>
          <p:cNvPr id="8" name="图片 7" descr="47d5fa2f8c02b501aafbdaaf7e4645b"/>
          <p:cNvPicPr>
            <a:picLocks noChangeAspect="1"/>
          </p:cNvPicPr>
          <p:nvPr/>
        </p:nvPicPr>
        <p:blipFill>
          <a:blip r:embed="rId1"/>
          <a:stretch>
            <a:fillRect/>
          </a:stretch>
        </p:blipFill>
        <p:spPr>
          <a:xfrm>
            <a:off x="4460875" y="1659255"/>
            <a:ext cx="3413760" cy="4434840"/>
          </a:xfrm>
          <a:prstGeom prst="rect">
            <a:avLst/>
          </a:prstGeom>
        </p:spPr>
      </p:pic>
      <p:sp>
        <p:nvSpPr>
          <p:cNvPr id="10" name="文本框 9"/>
          <p:cNvSpPr txBox="1"/>
          <p:nvPr/>
        </p:nvSpPr>
        <p:spPr>
          <a:xfrm>
            <a:off x="548640" y="1659255"/>
            <a:ext cx="3180080" cy="4048125"/>
          </a:xfrm>
          <a:prstGeom prst="rect">
            <a:avLst/>
          </a:prstGeom>
          <a:noFill/>
        </p:spPr>
        <p:txBody>
          <a:bodyPr wrap="square" rtlCol="0">
            <a:noAutofit/>
          </a:bodyPr>
          <a:p>
            <a:pPr>
              <a:lnSpc>
                <a:spcPct val="130000"/>
              </a:lnSpc>
            </a:pPr>
            <a:r>
              <a:rPr lang="en-US" altLang="zh-CN">
                <a:solidFill>
                  <a:schemeClr val="tx2">
                    <a:lumMod val="75000"/>
                  </a:schemeClr>
                </a:solidFill>
              </a:rPr>
              <a:t>The core goal of this project is to define type-safe data contracts, enabling seamless front-end and back-end interaction through serialization technology, and providing solid support for CRUD operations, API calls, and the Tauri framework.</a:t>
            </a:r>
            <a:endParaRPr lang="en-US" altLang="zh-CN">
              <a:solidFill>
                <a:schemeClr val="tx2">
                  <a:lumMod val="75000"/>
                </a:schemeClr>
              </a:solidFill>
            </a:endParaRPr>
          </a:p>
        </p:txBody>
      </p:sp>
      <p:sp>
        <p:nvSpPr>
          <p:cNvPr id="12" name="文本框 11"/>
          <p:cNvSpPr txBox="1"/>
          <p:nvPr/>
        </p:nvSpPr>
        <p:spPr>
          <a:xfrm>
            <a:off x="8508365" y="1659255"/>
            <a:ext cx="3209925" cy="4277360"/>
          </a:xfrm>
          <a:prstGeom prst="rect">
            <a:avLst/>
          </a:prstGeom>
          <a:noFill/>
        </p:spPr>
        <p:txBody>
          <a:bodyPr wrap="square" rtlCol="0">
            <a:noAutofit/>
          </a:bodyPr>
          <a:p>
            <a:pPr>
              <a:lnSpc>
                <a:spcPct val="120000"/>
              </a:lnSpc>
            </a:pPr>
            <a:r>
              <a:rPr lang="en-US" altLang="zh-CN" sz="2000">
                <a:solidFill>
                  <a:schemeClr val="tx2">
                    <a:lumMod val="75000"/>
                  </a:schemeClr>
                </a:solidFill>
              </a:rPr>
              <a:t>This module is responsible by Lu Yifeng, and the relevant code files are located in src-tauri/src/models.rs. Ensure code quality and functional implementation.</a:t>
            </a:r>
            <a:endParaRPr lang="en-US" altLang="zh-CN" sz="2000">
              <a:solidFill>
                <a:schemeClr val="tx2">
                  <a:lumMod val="75000"/>
                </a:schemeClr>
              </a:solidFill>
            </a:endParaRPr>
          </a:p>
        </p:txBody>
      </p:sp>
      <p:sp>
        <p:nvSpPr>
          <p:cNvPr id="11" name="文本框 10"/>
          <p:cNvSpPr txBox="1"/>
          <p:nvPr/>
        </p:nvSpPr>
        <p:spPr>
          <a:xfrm>
            <a:off x="4496435" y="1659255"/>
            <a:ext cx="3292475" cy="4276725"/>
          </a:xfrm>
          <a:prstGeom prst="rect">
            <a:avLst/>
          </a:prstGeom>
          <a:noFill/>
        </p:spPr>
        <p:txBody>
          <a:bodyPr wrap="square" rtlCol="0">
            <a:spAutoFit/>
          </a:bodyPr>
          <a:p>
            <a:r>
              <a:rPr lang="en-US" altLang="zh-CN" sz="1600">
                <a:solidFill>
                  <a:schemeClr val="tx2">
                    <a:lumMod val="75000"/>
                  </a:schemeClr>
                </a:solidFill>
              </a:rPr>
              <a:t>A core entity model has been built, covering three-level associations of User, Account, and Transaction, including the audit field created_at to ensure data traceability; interaction DTO models, such as mandatory fields in CreateXXX to guarantee data integrity, and full Option fields in UpdateTransaction to support partial updates; analytical models, which pre-calculate core indicators such as category proportions and monthly trends to reduce front-end computation costs.</a:t>
            </a:r>
            <a:endParaRPr lang="en-US" altLang="zh-CN" sz="1600">
              <a:solidFill>
                <a:schemeClr val="tx2">
                  <a:lumMod val="75000"/>
                </a:schemeClr>
              </a:solidFill>
            </a:endParaRPr>
          </a:p>
        </p:txBody>
      </p:sp>
      <p:sp>
        <p:nvSpPr>
          <p:cNvPr id="13" name="文本框 12"/>
          <p:cNvSpPr txBox="1"/>
          <p:nvPr/>
        </p:nvSpPr>
        <p:spPr>
          <a:xfrm>
            <a:off x="4478655" y="1083786"/>
            <a:ext cx="3909060" cy="395605"/>
          </a:xfrm>
          <a:prstGeom prst="rect">
            <a:avLst/>
          </a:prstGeom>
          <a:noFill/>
        </p:spPr>
        <p:txBody>
          <a:bodyPr wrap="square" rtlCol="0">
            <a:noAutofit/>
          </a:bodyPr>
          <a:p>
            <a:r>
              <a:rPr lang="en-US" altLang="zh-CN" b="1">
                <a:effectLst>
                  <a:outerShdw blurRad="38100" dist="38100" dir="2700000" algn="tl">
                    <a:srgbClr val="000000">
                      <a:alpha val="43137"/>
                    </a:srgbClr>
                  </a:outerShdw>
                </a:effectLst>
              </a:rPr>
              <a:t>Three Major Model Systems</a:t>
            </a:r>
            <a:endParaRPr lang="zh-CN" altLang="en-US"/>
          </a:p>
        </p:txBody>
      </p:sp>
      <p:sp>
        <p:nvSpPr>
          <p:cNvPr id="15" name="文本框 14"/>
          <p:cNvSpPr txBox="1"/>
          <p:nvPr/>
        </p:nvSpPr>
        <p:spPr>
          <a:xfrm>
            <a:off x="8252460" y="1069181"/>
            <a:ext cx="3996055" cy="424815"/>
          </a:xfrm>
          <a:prstGeom prst="rect">
            <a:avLst/>
          </a:prstGeom>
          <a:noFill/>
        </p:spPr>
        <p:txBody>
          <a:bodyPr wrap="square" rtlCol="0">
            <a:noAutofit/>
          </a:bodyPr>
          <a:p>
            <a:pPr algn="l">
              <a:buClrTx/>
              <a:buSzTx/>
              <a:buFontTx/>
            </a:pPr>
            <a:r>
              <a:rPr lang="en-US" altLang="zh-CN" b="1">
                <a:effectLst>
                  <a:outerShdw blurRad="38100" dist="38100" dir="2700000" algn="tl">
                    <a:srgbClr val="000000">
                      <a:alpha val="43137"/>
                    </a:srgbClr>
                  </a:outerShdw>
                </a:effectLst>
              </a:rPr>
              <a:t>Person in charge and documents</a:t>
            </a:r>
            <a:endParaRPr lang="en-US" altLang="zh-CN" b="1">
              <a:effectLst>
                <a:outerShdw blurRad="38100" dist="38100" dir="2700000" algn="tl">
                  <a:srgbClr val="000000">
                    <a:alpha val="43137"/>
                  </a:srgbClr>
                </a:outerShdw>
              </a:effectLst>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2</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Technical Implementation and  Value Highlights</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2</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pic>
        <p:nvPicPr>
          <p:cNvPr id="5" name="Image 2" descr="https://kimi-img.moonshot.cn/pub/slides/slides_tmpl/image/25-10-11-20:29:52-d3l4rg0s8jdo4os5ep2g.png"/>
          <p:cNvPicPr>
            <a:picLocks noChangeAspect="1"/>
          </p:cNvPicPr>
          <p:nvPr/>
        </p:nvPicPr>
        <p:blipFill>
          <a:blip r:embed="rId1">
            <a:alphaModFix amt="50000"/>
          </a:blip>
          <a:srcRect l="157" r="157"/>
          <a:stretch>
            <a:fillRect/>
          </a:stretch>
        </p:blipFill>
        <p:spPr>
          <a:xfrm>
            <a:off x="537845" y="969645"/>
            <a:ext cx="328930" cy="5361940"/>
          </a:xfrm>
          <a:prstGeom prst="rect">
            <a:avLst/>
          </a:prstGeom>
        </p:spPr>
      </p:pic>
      <p:sp>
        <p:nvSpPr>
          <p:cNvPr id="4" name="文本框 3"/>
          <p:cNvSpPr txBox="1"/>
          <p:nvPr/>
        </p:nvSpPr>
        <p:spPr>
          <a:xfrm>
            <a:off x="1102995" y="982980"/>
            <a:ext cx="3651885" cy="398780"/>
          </a:xfrm>
          <a:prstGeom prst="rect">
            <a:avLst/>
          </a:prstGeom>
          <a:noFill/>
        </p:spPr>
        <p:txBody>
          <a:bodyPr wrap="square" rtlCol="0">
            <a:spAutoFit/>
          </a:bodyPr>
          <a:p>
            <a:r>
              <a:rPr lang="en-US" altLang="zh-CN" sz="2000">
                <a:effectLst>
                  <a:outerShdw blurRad="38100" dist="38100" dir="2700000" algn="tl">
                    <a:srgbClr val="000000">
                      <a:alpha val="43137"/>
                    </a:srgbClr>
                  </a:outerShdw>
                </a:effectLst>
              </a:rPr>
              <a:t>Technical Implementation</a:t>
            </a:r>
            <a:endParaRPr lang="en-US" altLang="zh-CN" sz="2000">
              <a:effectLst>
                <a:outerShdw blurRad="38100" dist="38100" dir="2700000" algn="tl">
                  <a:srgbClr val="000000">
                    <a:alpha val="43137"/>
                  </a:srgbClr>
                </a:outerShdw>
              </a:effectLst>
            </a:endParaRPr>
          </a:p>
        </p:txBody>
      </p:sp>
      <p:sp>
        <p:nvSpPr>
          <p:cNvPr id="6" name="文本框 5"/>
          <p:cNvSpPr txBox="1"/>
          <p:nvPr/>
        </p:nvSpPr>
        <p:spPr>
          <a:xfrm>
            <a:off x="1102995" y="1381760"/>
            <a:ext cx="10874375" cy="829945"/>
          </a:xfrm>
          <a:prstGeom prst="rect">
            <a:avLst/>
          </a:prstGeom>
          <a:noFill/>
        </p:spPr>
        <p:txBody>
          <a:bodyPr wrap="square" rtlCol="0">
            <a:spAutoFit/>
          </a:bodyPr>
          <a:p>
            <a:r>
              <a:rPr lang="en-US" altLang="zh-CN" sz="1600"/>
              <a:t>Use the serde framework in the Rust language as the core serialization tool, which supports compatibility with multiple data formats. Globally adopt the snake_case naming convention to adapt to JavaScript variable habits. Generate serialization code at compile time to achieve zero runtime overhead.</a:t>
            </a:r>
            <a:endParaRPr lang="en-US" altLang="zh-CN" sz="1600"/>
          </a:p>
        </p:txBody>
      </p:sp>
      <p:sp>
        <p:nvSpPr>
          <p:cNvPr id="7" name="文本框 6"/>
          <p:cNvSpPr txBox="1"/>
          <p:nvPr/>
        </p:nvSpPr>
        <p:spPr>
          <a:xfrm>
            <a:off x="1102995" y="2449195"/>
            <a:ext cx="3416300" cy="368300"/>
          </a:xfrm>
          <a:prstGeom prst="rect">
            <a:avLst/>
          </a:prstGeom>
          <a:noFill/>
        </p:spPr>
        <p:txBody>
          <a:bodyPr wrap="square" rtlCol="0">
            <a:spAutoFit/>
          </a:bodyPr>
          <a:p>
            <a:r>
              <a:rPr lang="en-US" altLang="zh-CN">
                <a:effectLst>
                  <a:outerShdw blurRad="38100" dist="38100" dir="2700000" algn="tl">
                    <a:srgbClr val="000000">
                      <a:alpha val="43137"/>
                    </a:srgbClr>
                  </a:outerShdw>
                </a:effectLst>
              </a:rPr>
              <a:t>Core Value 1</a:t>
            </a:r>
            <a:endParaRPr lang="zh-CN" altLang="en-US">
              <a:effectLst>
                <a:outerShdw blurRad="38100" dist="38100" dir="2700000" algn="tl">
                  <a:srgbClr val="000000">
                    <a:alpha val="43137"/>
                  </a:srgbClr>
                </a:outerShdw>
              </a:effectLst>
            </a:endParaRPr>
          </a:p>
        </p:txBody>
      </p:sp>
      <p:sp>
        <p:nvSpPr>
          <p:cNvPr id="8" name="文本框 7"/>
          <p:cNvSpPr txBox="1"/>
          <p:nvPr/>
        </p:nvSpPr>
        <p:spPr>
          <a:xfrm>
            <a:off x="1102995" y="2823210"/>
            <a:ext cx="10793095" cy="829945"/>
          </a:xfrm>
          <a:prstGeom prst="rect">
            <a:avLst/>
          </a:prstGeom>
          <a:noFill/>
        </p:spPr>
        <p:txBody>
          <a:bodyPr wrap="square" rtlCol="0">
            <a:spAutoFit/>
          </a:bodyPr>
          <a:p>
            <a:r>
              <a:rPr lang="en-US" altLang="zh-CN" sz="1600"/>
              <a:t>Type Safety: Validate data structures during the compilation phase to effectively prevent type errors at runtime and enhance system stability; Unified Contracts: Share data models between front-end and back-end to eliminate inconsistencies in interface documentation and reduce communication costs.</a:t>
            </a:r>
            <a:endParaRPr lang="en-US" altLang="zh-CN" sz="1600"/>
          </a:p>
        </p:txBody>
      </p:sp>
      <p:sp>
        <p:nvSpPr>
          <p:cNvPr id="9" name="文本框 8"/>
          <p:cNvSpPr txBox="1"/>
          <p:nvPr/>
        </p:nvSpPr>
        <p:spPr>
          <a:xfrm>
            <a:off x="1184910" y="3753485"/>
            <a:ext cx="5031105" cy="368300"/>
          </a:xfrm>
          <a:prstGeom prst="rect">
            <a:avLst/>
          </a:prstGeom>
          <a:noFill/>
        </p:spPr>
        <p:txBody>
          <a:bodyPr wrap="square" rtlCol="0">
            <a:spAutoFit/>
          </a:bodyPr>
          <a:p>
            <a:r>
              <a:rPr lang="en-US" altLang="zh-CN">
                <a:effectLst>
                  <a:outerShdw blurRad="38100" dist="38100" dir="2700000" algn="tl">
                    <a:srgbClr val="000000">
                      <a:alpha val="43137"/>
                    </a:srgbClr>
                  </a:outerShdw>
                </a:effectLst>
              </a:rPr>
              <a:t>Core Value 2</a:t>
            </a:r>
            <a:endParaRPr lang="zh-CN" altLang="en-US">
              <a:effectLst>
                <a:outerShdw blurRad="38100" dist="38100" dir="2700000" algn="tl">
                  <a:srgbClr val="000000">
                    <a:alpha val="43137"/>
                  </a:srgbClr>
                </a:outerShdw>
              </a:effectLst>
            </a:endParaRPr>
          </a:p>
        </p:txBody>
      </p:sp>
      <p:sp>
        <p:nvSpPr>
          <p:cNvPr id="10" name="文本框 9"/>
          <p:cNvSpPr txBox="1"/>
          <p:nvPr/>
        </p:nvSpPr>
        <p:spPr>
          <a:xfrm>
            <a:off x="1184910" y="4121785"/>
            <a:ext cx="10648950" cy="1198880"/>
          </a:xfrm>
          <a:prstGeom prst="rect">
            <a:avLst/>
          </a:prstGeom>
          <a:noFill/>
        </p:spPr>
        <p:txBody>
          <a:bodyPr wrap="square" rtlCol="0">
            <a:spAutoFit/>
          </a:bodyPr>
          <a:p>
            <a:r>
              <a:rPr lang="en-US" altLang="zh-CN"/>
              <a:t>Efficiency Optimization: The serialization logic is free of redundancy, adapted to Tauri cross-platform </a:t>
            </a:r>
            <a:r>
              <a:rPr lang="en-US" altLang="zh-CN" sz="1600"/>
              <a:t>communication </a:t>
            </a:r>
            <a:r>
              <a:rPr lang="en-US" altLang="zh-CN"/>
              <a:t>scenarios to improve communication efficiency; Strong Scalability: The model adopts a decoupled design, supporting flexible addition of new fields and entities in the future to adapt to business development</a:t>
            </a:r>
            <a:endParaRPr lang="en-US" altLang="zh-CN"/>
          </a:p>
        </p:txBody>
      </p:sp>
      <p:sp>
        <p:nvSpPr>
          <p:cNvPr id="11" name="文本框 10"/>
          <p:cNvSpPr txBox="1"/>
          <p:nvPr/>
        </p:nvSpPr>
        <p:spPr>
          <a:xfrm>
            <a:off x="1205865" y="5320665"/>
            <a:ext cx="2376170" cy="368300"/>
          </a:xfrm>
          <a:prstGeom prst="rect">
            <a:avLst/>
          </a:prstGeom>
          <a:noFill/>
        </p:spPr>
        <p:txBody>
          <a:bodyPr wrap="square" rtlCol="0">
            <a:spAutoFit/>
          </a:bodyPr>
          <a:p>
            <a:r>
              <a:rPr lang="en-US" altLang="zh-CN">
                <a:effectLst>
                  <a:outerShdw blurRad="38100" dist="38100" dir="2700000" algn="tl">
                    <a:srgbClr val="000000">
                      <a:alpha val="43137"/>
                    </a:srgbClr>
                  </a:outerShdw>
                </a:effectLst>
              </a:rPr>
              <a:t>Core Acceptance</a:t>
            </a:r>
            <a:endParaRPr lang="zh-CN" altLang="en-US">
              <a:effectLst>
                <a:outerShdw blurRad="38100" dist="38100" dir="2700000" algn="tl">
                  <a:srgbClr val="000000">
                    <a:alpha val="43137"/>
                  </a:srgbClr>
                </a:outerShdw>
              </a:effectLst>
            </a:endParaRPr>
          </a:p>
        </p:txBody>
      </p:sp>
      <p:sp>
        <p:nvSpPr>
          <p:cNvPr id="12" name="文本框 11"/>
          <p:cNvSpPr txBox="1"/>
          <p:nvPr/>
        </p:nvSpPr>
        <p:spPr>
          <a:xfrm>
            <a:off x="1205865" y="5663565"/>
            <a:ext cx="10422255" cy="400685"/>
          </a:xfrm>
          <a:prstGeom prst="rect">
            <a:avLst/>
          </a:prstGeom>
          <a:noFill/>
        </p:spPr>
        <p:txBody>
          <a:bodyPr wrap="square" rtlCol="0">
            <a:noAutofit/>
          </a:bodyPr>
          <a:p>
            <a:r>
              <a:rPr lang="en-US" altLang="zh-CN" sz="1600"/>
              <a:t>Ensure that the entire structure implements Serialize/Deserialize functionality, all fields of UpdateTransaction are of Option type, there are no exceptions during the JSON serialization process between front-end and back-end, and guarantee high-quality delivery of the module.</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351244"/>
            <a:ext cx="7196034" cy="1142566"/>
          </a:xfrm>
          <a:prstGeom prst="rect">
            <a:avLst/>
          </a:prstGeom>
        </p:spPr>
      </p:pic>
      <p:sp>
        <p:nvSpPr>
          <p:cNvPr id="3" name="矩形 2"/>
          <p:cNvSpPr/>
          <p:nvPr/>
        </p:nvSpPr>
        <p:spPr>
          <a:xfrm>
            <a:off x="3430905" y="2722245"/>
            <a:ext cx="533019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Database CRUD operation module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4389755" y="1085422"/>
            <a:ext cx="3412490" cy="1445260"/>
          </a:xfrm>
          <a:prstGeom prst="rect">
            <a:avLst/>
          </a:prstGeom>
          <a:noFill/>
        </p:spPr>
        <p:txBody>
          <a:bodyPr wrap="none" rtlCol="0">
            <a:spAutoFit/>
          </a:bodyPr>
          <a:lstStyle/>
          <a:p>
            <a:pPr algn="l"/>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Task 3</a:t>
            </a:r>
            <a:endParaRPr lang="en-US" altLang="zh-CN" sz="8800" dirty="0">
              <a:ln>
                <a:noFill/>
              </a:ln>
              <a:solidFill>
                <a:schemeClr val="bg1"/>
              </a:solidFill>
              <a:effectLst>
                <a:glow rad="63500">
                  <a:schemeClr val="accent5">
                    <a:satMod val="175000"/>
                    <a:alpha val="40000"/>
                  </a:scheme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nvSpPr>
        <p:spPr>
          <a:xfrm>
            <a:off x="3847148" y="3449320"/>
            <a:ext cx="4497705" cy="414020"/>
          </a:xfrm>
          <a:prstGeom prst="rect">
            <a:avLst/>
          </a:prstGeom>
        </p:spPr>
        <p:txBody>
          <a:bodyPr wrap="square">
            <a:spAutoFit/>
          </a:bodyPr>
          <a:lstStyle/>
          <a:p>
            <a:pPr algn="ctr">
              <a:lnSpc>
                <a:spcPct val="150000"/>
              </a:lnSpc>
            </a:pPr>
            <a:r>
              <a:rPr lang="en-US" altLang="zh-CN" sz="1400" dirty="0">
                <a:solidFill>
                  <a:srgbClr val="388BA5"/>
                </a:solidFill>
                <a:effectLst>
                  <a:outerShdw blurRad="38100" dist="38100" dir="2700000" algn="tl">
                    <a:srgbClr val="000000">
                      <a:alpha val="43137"/>
                    </a:srgbClr>
                  </a:outerShdw>
                </a:effectLst>
                <a:cs typeface="+mn-ea"/>
                <a:sym typeface="+mn-lt"/>
              </a:rPr>
              <a:t>Owner: Gong Zhe</a:t>
            </a:r>
            <a:endParaRPr lang="en-US" altLang="zh-CN" sz="1400" dirty="0">
              <a:solidFill>
                <a:srgbClr val="388BA5"/>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rPr>
              <a:t> Detailed Work Items</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3</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7" name="圆角矩形 3"/>
          <p:cNvSpPr/>
          <p:nvPr>
            <p:custDataLst>
              <p:tags r:id="rId1"/>
            </p:custDataLst>
          </p:nvPr>
        </p:nvSpPr>
        <p:spPr>
          <a:xfrm>
            <a:off x="630873" y="1416685"/>
            <a:ext cx="2902857" cy="3932292"/>
          </a:xfrm>
          <a:prstGeom prst="roundRect">
            <a:avLst>
              <a:gd name="adj" fmla="val 5500"/>
            </a:avLst>
          </a:prstGeom>
          <a:solidFill>
            <a:srgbClr val="388BA5"/>
          </a:soli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n-ea"/>
            </a:endParaRPr>
          </a:p>
        </p:txBody>
      </p:sp>
      <p:sp>
        <p:nvSpPr>
          <p:cNvPr id="4" name="矩形 3"/>
          <p:cNvSpPr/>
          <p:nvPr>
            <p:custDataLst>
              <p:tags r:id="rId2"/>
            </p:custDataLst>
          </p:nvPr>
        </p:nvSpPr>
        <p:spPr>
          <a:xfrm>
            <a:off x="947556" y="3212465"/>
            <a:ext cx="2269490" cy="1975485"/>
          </a:xfrm>
          <a:prstGeom prst="rect">
            <a:avLst/>
          </a:prstGeom>
        </p:spPr>
        <p:txBody>
          <a:bodyPr wrap="square" lIns="0" tIns="0" rIns="0" bIns="0">
            <a:noAutofit/>
          </a:bodyPr>
          <a:p>
            <a:pPr algn="l">
              <a:lnSpc>
                <a:spcPct val="140000"/>
              </a:lnSpc>
              <a:spcBef>
                <a:spcPct val="0"/>
              </a:spcBef>
              <a:spcAft>
                <a:spcPct val="0"/>
              </a:spcAft>
            </a:pPr>
            <a:r>
              <a:rPr lang="en-US" altLang="zh-CN" sz="1600" dirty="0">
                <a:solidFill>
                  <a:schemeClr val="lt1">
                    <a:lumMod val="100000"/>
                  </a:schemeClr>
                </a:solidFill>
                <a:latin typeface="+mn-ea"/>
                <a:cs typeface="+mn-ea"/>
              </a:rPr>
              <a:t>create_transaction()</a:t>
            </a:r>
            <a:endParaRPr lang="en-US" altLang="zh-CN" sz="1600" dirty="0">
              <a:solidFill>
                <a:schemeClr val="lt1">
                  <a:lumMod val="100000"/>
                </a:schemeClr>
              </a:solidFill>
              <a:latin typeface="+mn-ea"/>
              <a:cs typeface="+mn-ea"/>
            </a:endParaRPr>
          </a:p>
          <a:p>
            <a:pPr algn="l">
              <a:lnSpc>
                <a:spcPct val="140000"/>
              </a:lnSpc>
              <a:spcBef>
                <a:spcPct val="0"/>
              </a:spcBef>
              <a:spcAft>
                <a:spcPct val="0"/>
              </a:spcAft>
            </a:pPr>
            <a:r>
              <a:rPr lang="en-US" altLang="zh-CN" sz="1600" dirty="0">
                <a:solidFill>
                  <a:schemeClr val="lt1">
                    <a:lumMod val="100000"/>
                  </a:schemeClr>
                </a:solidFill>
                <a:latin typeface="+mn-ea"/>
                <a:cs typeface="+mn-ea"/>
              </a:rPr>
              <a:t>get_all_transactions()</a:t>
            </a:r>
            <a:endParaRPr lang="en-US" altLang="zh-CN" sz="1600" dirty="0">
              <a:solidFill>
                <a:schemeClr val="lt1">
                  <a:lumMod val="100000"/>
                </a:schemeClr>
              </a:solidFill>
              <a:latin typeface="+mn-ea"/>
              <a:cs typeface="+mn-ea"/>
            </a:endParaRPr>
          </a:p>
          <a:p>
            <a:pPr algn="l">
              <a:lnSpc>
                <a:spcPct val="140000"/>
              </a:lnSpc>
              <a:spcBef>
                <a:spcPct val="0"/>
              </a:spcBef>
              <a:spcAft>
                <a:spcPct val="0"/>
              </a:spcAft>
            </a:pPr>
            <a:r>
              <a:rPr lang="en-US" altLang="zh-CN" sz="1600" dirty="0">
                <a:solidFill>
                  <a:schemeClr val="lt1">
                    <a:lumMod val="100000"/>
                  </a:schemeClr>
                </a:solidFill>
                <a:latin typeface="+mn-ea"/>
                <a:cs typeface="+mn-ea"/>
              </a:rPr>
              <a:t>get_transaction_by_id() </a:t>
            </a:r>
            <a:endParaRPr lang="en-US" altLang="zh-CN" sz="1600" dirty="0">
              <a:solidFill>
                <a:schemeClr val="lt1">
                  <a:lumMod val="100000"/>
                </a:schemeClr>
              </a:solidFill>
              <a:latin typeface="+mn-ea"/>
              <a:cs typeface="+mn-ea"/>
            </a:endParaRPr>
          </a:p>
          <a:p>
            <a:pPr algn="l">
              <a:lnSpc>
                <a:spcPct val="140000"/>
              </a:lnSpc>
              <a:spcBef>
                <a:spcPct val="0"/>
              </a:spcBef>
              <a:spcAft>
                <a:spcPct val="0"/>
              </a:spcAft>
            </a:pPr>
            <a:r>
              <a:rPr lang="en-US" altLang="zh-CN" sz="1600" dirty="0">
                <a:solidFill>
                  <a:schemeClr val="lt1">
                    <a:lumMod val="100000"/>
                  </a:schemeClr>
                </a:solidFill>
                <a:latin typeface="+mn-ea"/>
                <a:cs typeface="+mn-ea"/>
              </a:rPr>
              <a:t>update_transaction() </a:t>
            </a:r>
            <a:endParaRPr lang="en-US" altLang="zh-CN" sz="1600" dirty="0">
              <a:solidFill>
                <a:schemeClr val="lt1">
                  <a:lumMod val="100000"/>
                </a:schemeClr>
              </a:solidFill>
              <a:latin typeface="+mn-ea"/>
              <a:cs typeface="+mn-ea"/>
            </a:endParaRPr>
          </a:p>
          <a:p>
            <a:pPr algn="l">
              <a:lnSpc>
                <a:spcPct val="140000"/>
              </a:lnSpc>
              <a:spcBef>
                <a:spcPct val="0"/>
              </a:spcBef>
              <a:spcAft>
                <a:spcPct val="0"/>
              </a:spcAft>
            </a:pPr>
            <a:r>
              <a:rPr lang="en-US" altLang="zh-CN" sz="1600" dirty="0">
                <a:solidFill>
                  <a:schemeClr val="lt1">
                    <a:lumMod val="100000"/>
                  </a:schemeClr>
                </a:solidFill>
                <a:latin typeface="+mn-ea"/>
                <a:cs typeface="+mn-ea"/>
              </a:rPr>
              <a:t>delete_transaction() </a:t>
            </a:r>
            <a:endParaRPr lang="en-US" altLang="zh-CN" sz="1600" dirty="0">
              <a:solidFill>
                <a:schemeClr val="lt1">
                  <a:lumMod val="100000"/>
                </a:schemeClr>
              </a:solidFill>
              <a:latin typeface="+mn-ea"/>
              <a:cs typeface="+mn-ea"/>
            </a:endParaRPr>
          </a:p>
        </p:txBody>
      </p:sp>
      <p:sp>
        <p:nvSpPr>
          <p:cNvPr id="5" name="矩形 4"/>
          <p:cNvSpPr/>
          <p:nvPr>
            <p:custDataLst>
              <p:tags r:id="rId3"/>
            </p:custDataLst>
          </p:nvPr>
        </p:nvSpPr>
        <p:spPr>
          <a:xfrm>
            <a:off x="947556" y="2407920"/>
            <a:ext cx="2057871" cy="722226"/>
          </a:xfrm>
          <a:prstGeom prst="rect">
            <a:avLst/>
          </a:prstGeom>
          <a:noFill/>
        </p:spPr>
        <p:txBody>
          <a:bodyPr wrap="square" lIns="0" tIns="0" rIns="0" bIns="0" rtlCol="0" anchor="b" anchorCtr="0">
            <a:noAutofit/>
          </a:bodyPr>
          <a:p>
            <a:pPr algn="l">
              <a:spcBef>
                <a:spcPct val="0"/>
              </a:spcBef>
              <a:spcAft>
                <a:spcPct val="0"/>
              </a:spcAft>
            </a:pPr>
            <a:r>
              <a:rPr lang="en-US" altLang="zh-CN" sz="2200" b="1" dirty="0">
                <a:solidFill>
                  <a:schemeClr val="lt1">
                    <a:lumMod val="100000"/>
                  </a:schemeClr>
                </a:solidFill>
                <a:latin typeface="+mn-ea"/>
                <a:cs typeface="+mn-ea"/>
              </a:rPr>
              <a:t>Transaction CRUD</a:t>
            </a:r>
            <a:endParaRPr lang="en-US" altLang="zh-CN" sz="2200" b="1" dirty="0">
              <a:solidFill>
                <a:schemeClr val="lt1">
                  <a:lumMod val="100000"/>
                </a:schemeClr>
              </a:solidFill>
              <a:latin typeface="+mn-ea"/>
              <a:cs typeface="+mn-ea"/>
            </a:endParaRPr>
          </a:p>
        </p:txBody>
      </p:sp>
      <p:cxnSp>
        <p:nvCxnSpPr>
          <p:cNvPr id="8" name="直接连接符 5"/>
          <p:cNvCxnSpPr/>
          <p:nvPr>
            <p:custDataLst>
              <p:tags r:id="rId4"/>
            </p:custDataLst>
          </p:nvPr>
        </p:nvCxnSpPr>
        <p:spPr>
          <a:xfrm>
            <a:off x="1017588" y="2300605"/>
            <a:ext cx="228156"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5"/>
            </p:custDataLst>
          </p:nvPr>
        </p:nvSpPr>
        <p:spPr>
          <a:xfrm>
            <a:off x="2399983" y="1668145"/>
            <a:ext cx="711201" cy="540854"/>
          </a:xfrm>
          <a:prstGeom prst="rect">
            <a:avLst/>
          </a:prstGeom>
          <a:noFill/>
        </p:spPr>
        <p:txBody>
          <a:bodyPr wrap="none" lIns="0" tIns="0" rIns="0" bIns="0">
            <a:noAutofit/>
          </a:bodyPr>
          <a:p>
            <a:pPr algn="r">
              <a:spcBef>
                <a:spcPct val="0"/>
              </a:spcBef>
              <a:spcAft>
                <a:spcPct val="0"/>
              </a:spcAft>
            </a:pPr>
            <a:r>
              <a:rPr lang="en-US" altLang="zh-CN" sz="3200" b="1">
                <a:solidFill>
                  <a:schemeClr val="lt1">
                    <a:lumMod val="100000"/>
                  </a:schemeClr>
                </a:solidFill>
                <a:latin typeface="+mn-ea"/>
                <a:cs typeface="+mn-ea"/>
              </a:rPr>
              <a:t>01</a:t>
            </a:r>
            <a:endParaRPr lang="en-US" altLang="zh-CN" sz="3200" b="1">
              <a:solidFill>
                <a:schemeClr val="lt1">
                  <a:lumMod val="100000"/>
                </a:schemeClr>
              </a:solidFill>
              <a:latin typeface="+mn-ea"/>
              <a:cs typeface="+mn-ea"/>
            </a:endParaRPr>
          </a:p>
        </p:txBody>
      </p:sp>
      <p:sp>
        <p:nvSpPr>
          <p:cNvPr id="11" name="圆角矩形 9"/>
          <p:cNvSpPr/>
          <p:nvPr>
            <p:custDataLst>
              <p:tags r:id="rId6"/>
            </p:custDataLst>
          </p:nvPr>
        </p:nvSpPr>
        <p:spPr>
          <a:xfrm>
            <a:off x="3781108" y="1757045"/>
            <a:ext cx="2385146" cy="3252394"/>
          </a:xfrm>
          <a:prstGeom prst="roundRect">
            <a:avLst>
              <a:gd name="adj" fmla="val 5500"/>
            </a:avLst>
          </a:prstGeom>
          <a:solidFill>
            <a:srgbClr val="FFFFFF"/>
          </a:soli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n-ea"/>
            </a:endParaRPr>
          </a:p>
        </p:txBody>
      </p:sp>
      <p:sp>
        <p:nvSpPr>
          <p:cNvPr id="20" name="矩形 19"/>
          <p:cNvSpPr/>
          <p:nvPr>
            <p:custDataLst>
              <p:tags r:id="rId7"/>
            </p:custDataLst>
          </p:nvPr>
        </p:nvSpPr>
        <p:spPr>
          <a:xfrm>
            <a:off x="5144453" y="1917700"/>
            <a:ext cx="711201" cy="473271"/>
          </a:xfrm>
          <a:prstGeom prst="rect">
            <a:avLst/>
          </a:prstGeom>
          <a:noFill/>
        </p:spPr>
        <p:txBody>
          <a:bodyPr wrap="none" lIns="0" tIns="0" rIns="0" bIns="0">
            <a:noAutofit/>
          </a:bodyPr>
          <a:p>
            <a:pPr algn="r">
              <a:spcBef>
                <a:spcPct val="0"/>
              </a:spcBef>
              <a:spcAft>
                <a:spcPct val="0"/>
              </a:spcAft>
            </a:pPr>
            <a:r>
              <a:rPr lang="en-US" altLang="zh-CN" sz="2800">
                <a:solidFill>
                  <a:srgbClr val="BFBFBF"/>
                </a:solidFill>
                <a:latin typeface="+mn-ea"/>
                <a:cs typeface="+mn-ea"/>
              </a:rPr>
              <a:t>02</a:t>
            </a:r>
            <a:endParaRPr lang="en-US" altLang="zh-CN" sz="2800">
              <a:solidFill>
                <a:srgbClr val="BFBFBF"/>
              </a:solidFill>
              <a:latin typeface="+mn-ea"/>
              <a:cs typeface="+mn-ea"/>
            </a:endParaRPr>
          </a:p>
        </p:txBody>
      </p:sp>
      <p:cxnSp>
        <p:nvCxnSpPr>
          <p:cNvPr id="13" name="直接连接符 12"/>
          <p:cNvCxnSpPr/>
          <p:nvPr>
            <p:custDataLst>
              <p:tags r:id="rId8"/>
            </p:custDataLst>
          </p:nvPr>
        </p:nvCxnSpPr>
        <p:spPr>
          <a:xfrm>
            <a:off x="4153853" y="2487930"/>
            <a:ext cx="228156" cy="0"/>
          </a:xfrm>
          <a:prstGeom prst="line">
            <a:avLst/>
          </a:prstGeom>
          <a:ln w="28575">
            <a:solidFill>
              <a:srgbClr val="BFBFBF"/>
            </a:solidFill>
          </a:ln>
        </p:spPr>
        <p:style>
          <a:lnRef idx="1">
            <a:schemeClr val="accent1"/>
          </a:lnRef>
          <a:fillRef idx="0">
            <a:schemeClr val="accent1"/>
          </a:fillRef>
          <a:effectRef idx="0">
            <a:schemeClr val="accent1"/>
          </a:effectRef>
          <a:fontRef idx="minor">
            <a:schemeClr val="tx1"/>
          </a:fontRef>
        </p:style>
      </p:cxnSp>
      <p:sp>
        <p:nvSpPr>
          <p:cNvPr id="14" name="圆角矩形 14"/>
          <p:cNvSpPr/>
          <p:nvPr>
            <p:custDataLst>
              <p:tags r:id="rId9"/>
            </p:custDataLst>
          </p:nvPr>
        </p:nvSpPr>
        <p:spPr>
          <a:xfrm>
            <a:off x="6413183" y="1757045"/>
            <a:ext cx="2385146" cy="3252394"/>
          </a:xfrm>
          <a:prstGeom prst="roundRect">
            <a:avLst>
              <a:gd name="adj" fmla="val 5500"/>
            </a:avLst>
          </a:prstGeom>
          <a:solidFill>
            <a:srgbClr val="FFFFFF"/>
          </a:soli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n-ea"/>
            </a:endParaRPr>
          </a:p>
        </p:txBody>
      </p:sp>
      <p:sp>
        <p:nvSpPr>
          <p:cNvPr id="28" name="矩形 27"/>
          <p:cNvSpPr/>
          <p:nvPr>
            <p:custDataLst>
              <p:tags r:id="rId10"/>
            </p:custDataLst>
          </p:nvPr>
        </p:nvSpPr>
        <p:spPr>
          <a:xfrm>
            <a:off x="7777163" y="1917700"/>
            <a:ext cx="711201" cy="473271"/>
          </a:xfrm>
          <a:prstGeom prst="rect">
            <a:avLst/>
          </a:prstGeom>
          <a:noFill/>
        </p:spPr>
        <p:txBody>
          <a:bodyPr wrap="none" lIns="0" tIns="0" rIns="0" bIns="0">
            <a:noAutofit/>
          </a:bodyPr>
          <a:p>
            <a:pPr algn="r">
              <a:spcBef>
                <a:spcPct val="0"/>
              </a:spcBef>
              <a:spcAft>
                <a:spcPct val="0"/>
              </a:spcAft>
            </a:pPr>
            <a:r>
              <a:rPr lang="en-US" altLang="zh-CN" sz="2800">
                <a:solidFill>
                  <a:srgbClr val="388BA5"/>
                </a:solidFill>
                <a:latin typeface="+mn-ea"/>
                <a:cs typeface="+mn-ea"/>
              </a:rPr>
              <a:t>03</a:t>
            </a:r>
            <a:endParaRPr lang="en-US" altLang="zh-CN" sz="2800">
              <a:solidFill>
                <a:srgbClr val="388BA5"/>
              </a:solidFill>
              <a:latin typeface="+mn-ea"/>
              <a:cs typeface="+mn-ea"/>
            </a:endParaRPr>
          </a:p>
        </p:txBody>
      </p:sp>
      <p:cxnSp>
        <p:nvCxnSpPr>
          <p:cNvPr id="16" name="直接连接符 19"/>
          <p:cNvCxnSpPr/>
          <p:nvPr>
            <p:custDataLst>
              <p:tags r:id="rId11"/>
            </p:custDataLst>
          </p:nvPr>
        </p:nvCxnSpPr>
        <p:spPr>
          <a:xfrm>
            <a:off x="6712903" y="2487930"/>
            <a:ext cx="228156" cy="0"/>
          </a:xfrm>
          <a:prstGeom prst="line">
            <a:avLst/>
          </a:prstGeom>
          <a:ln w="28575">
            <a:solidFill>
              <a:srgbClr val="BFBFBF"/>
            </a:solidFill>
          </a:ln>
        </p:spPr>
        <p:style>
          <a:lnRef idx="1">
            <a:schemeClr val="accent1"/>
          </a:lnRef>
          <a:fillRef idx="0">
            <a:schemeClr val="accent1"/>
          </a:fillRef>
          <a:effectRef idx="0">
            <a:schemeClr val="accent1"/>
          </a:effectRef>
          <a:fontRef idx="minor">
            <a:schemeClr val="tx1"/>
          </a:fontRef>
        </p:style>
      </p:cxnSp>
      <p:sp>
        <p:nvSpPr>
          <p:cNvPr id="17" name="圆角矩形 19"/>
          <p:cNvSpPr/>
          <p:nvPr>
            <p:custDataLst>
              <p:tags r:id="rId12"/>
            </p:custDataLst>
          </p:nvPr>
        </p:nvSpPr>
        <p:spPr>
          <a:xfrm>
            <a:off x="9045893" y="1757045"/>
            <a:ext cx="2385146" cy="3252394"/>
          </a:xfrm>
          <a:prstGeom prst="roundRect">
            <a:avLst>
              <a:gd name="adj" fmla="val 5500"/>
            </a:avLst>
          </a:prstGeom>
          <a:solidFill>
            <a:srgbClr val="FFFFFF"/>
          </a:soli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n-ea"/>
            </a:endParaRPr>
          </a:p>
        </p:txBody>
      </p:sp>
      <p:sp>
        <p:nvSpPr>
          <p:cNvPr id="29" name="矩形 28"/>
          <p:cNvSpPr/>
          <p:nvPr>
            <p:custDataLst>
              <p:tags r:id="rId13"/>
            </p:custDataLst>
          </p:nvPr>
        </p:nvSpPr>
        <p:spPr>
          <a:xfrm>
            <a:off x="10409238" y="1917700"/>
            <a:ext cx="711201" cy="473271"/>
          </a:xfrm>
          <a:prstGeom prst="rect">
            <a:avLst/>
          </a:prstGeom>
          <a:noFill/>
        </p:spPr>
        <p:txBody>
          <a:bodyPr wrap="none" lIns="0" tIns="0" rIns="0" bIns="0">
            <a:noAutofit/>
          </a:bodyPr>
          <a:p>
            <a:pPr algn="r">
              <a:spcBef>
                <a:spcPct val="0"/>
              </a:spcBef>
              <a:spcAft>
                <a:spcPct val="0"/>
              </a:spcAft>
            </a:pPr>
            <a:r>
              <a:rPr lang="en-US" altLang="zh-CN" sz="2800">
                <a:solidFill>
                  <a:srgbClr val="BFBFBF"/>
                </a:solidFill>
                <a:latin typeface="+mn-ea"/>
                <a:cs typeface="+mn-ea"/>
              </a:rPr>
              <a:t>04</a:t>
            </a:r>
            <a:endParaRPr lang="en-US" altLang="zh-CN" sz="2800">
              <a:solidFill>
                <a:srgbClr val="BFBFBF"/>
              </a:solidFill>
              <a:latin typeface="+mn-ea"/>
              <a:cs typeface="+mn-ea"/>
            </a:endParaRPr>
          </a:p>
        </p:txBody>
      </p:sp>
      <p:cxnSp>
        <p:nvCxnSpPr>
          <p:cNvPr id="19" name="直接连接符 25"/>
          <p:cNvCxnSpPr/>
          <p:nvPr>
            <p:custDataLst>
              <p:tags r:id="rId14"/>
            </p:custDataLst>
          </p:nvPr>
        </p:nvCxnSpPr>
        <p:spPr>
          <a:xfrm>
            <a:off x="9378633" y="2487930"/>
            <a:ext cx="228156" cy="0"/>
          </a:xfrm>
          <a:prstGeom prst="line">
            <a:avLst/>
          </a:prstGeom>
          <a:ln w="28575">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矩形 29"/>
          <p:cNvSpPr/>
          <p:nvPr>
            <p:custDataLst>
              <p:tags r:id="rId15"/>
            </p:custDataLst>
          </p:nvPr>
        </p:nvSpPr>
        <p:spPr>
          <a:xfrm>
            <a:off x="4091623" y="3298825"/>
            <a:ext cx="1764382" cy="1647876"/>
          </a:xfrm>
          <a:prstGeom prst="rect">
            <a:avLst/>
          </a:prstGeom>
        </p:spPr>
        <p:txBody>
          <a:bodyPr wrap="square" lIns="0" tIns="0" rIns="0" bIns="0">
            <a:noAutofit/>
          </a:bodyPr>
          <a:p>
            <a:pPr algn="just">
              <a:lnSpc>
                <a:spcPct val="130000"/>
              </a:lnSpc>
              <a:spcBef>
                <a:spcPct val="0"/>
              </a:spcBef>
              <a:spcAft>
                <a:spcPct val="0"/>
              </a:spcAft>
            </a:pPr>
            <a:r>
              <a:rPr lang="en-US" altLang="zh-CN" sz="1600" dirty="0">
                <a:solidFill>
                  <a:schemeClr val="dk1">
                    <a:lumMod val="80000"/>
                    <a:lumOff val="20000"/>
                  </a:schemeClr>
                </a:solidFill>
                <a:latin typeface="+mn-ea"/>
                <a:cs typeface="+mn-ea"/>
              </a:rPr>
              <a:t>get_all_accounts()</a:t>
            </a:r>
            <a:endParaRPr lang="en-US" altLang="zh-CN" sz="1600" dirty="0">
              <a:solidFill>
                <a:schemeClr val="dk1">
                  <a:lumMod val="80000"/>
                  <a:lumOff val="20000"/>
                </a:schemeClr>
              </a:solidFill>
              <a:latin typeface="+mn-ea"/>
              <a:cs typeface="+mn-ea"/>
            </a:endParaRPr>
          </a:p>
          <a:p>
            <a:pPr algn="just">
              <a:lnSpc>
                <a:spcPct val="130000"/>
              </a:lnSpc>
              <a:spcBef>
                <a:spcPct val="0"/>
              </a:spcBef>
              <a:spcAft>
                <a:spcPct val="0"/>
              </a:spcAft>
            </a:pPr>
            <a:r>
              <a:rPr lang="en-US" altLang="zh-CN" sz="1600" dirty="0">
                <a:solidFill>
                  <a:schemeClr val="dk1">
                    <a:lumMod val="80000"/>
                    <a:lumOff val="20000"/>
                  </a:schemeClr>
                </a:solidFill>
                <a:latin typeface="+mn-ea"/>
                <a:cs typeface="+mn-ea"/>
              </a:rPr>
              <a:t>create_account() </a:t>
            </a:r>
            <a:endParaRPr lang="en-US" altLang="zh-CN" sz="1600" dirty="0">
              <a:solidFill>
                <a:schemeClr val="dk1">
                  <a:lumMod val="80000"/>
                  <a:lumOff val="20000"/>
                </a:schemeClr>
              </a:solidFill>
              <a:latin typeface="+mn-ea"/>
              <a:cs typeface="+mn-ea"/>
            </a:endParaRPr>
          </a:p>
          <a:p>
            <a:pPr algn="just">
              <a:lnSpc>
                <a:spcPct val="130000"/>
              </a:lnSpc>
              <a:spcBef>
                <a:spcPct val="0"/>
              </a:spcBef>
              <a:spcAft>
                <a:spcPct val="0"/>
              </a:spcAft>
            </a:pPr>
            <a:r>
              <a:rPr lang="en-US" altLang="zh-CN" sz="1600" dirty="0">
                <a:solidFill>
                  <a:schemeClr val="dk1">
                    <a:lumMod val="80000"/>
                    <a:lumOff val="20000"/>
                  </a:schemeClr>
                </a:solidFill>
                <a:latin typeface="+mn-ea"/>
                <a:cs typeface="+mn-ea"/>
              </a:rPr>
              <a:t>delete_account()</a:t>
            </a:r>
            <a:endParaRPr lang="en-US" altLang="zh-CN" sz="1600" dirty="0">
              <a:solidFill>
                <a:schemeClr val="dk1">
                  <a:lumMod val="80000"/>
                  <a:lumOff val="20000"/>
                </a:schemeClr>
              </a:solidFill>
              <a:latin typeface="+mn-ea"/>
              <a:cs typeface="+mn-ea"/>
            </a:endParaRPr>
          </a:p>
        </p:txBody>
      </p:sp>
      <p:sp>
        <p:nvSpPr>
          <p:cNvPr id="31" name="矩形 30"/>
          <p:cNvSpPr/>
          <p:nvPr>
            <p:custDataLst>
              <p:tags r:id="rId16"/>
            </p:custDataLst>
          </p:nvPr>
        </p:nvSpPr>
        <p:spPr>
          <a:xfrm>
            <a:off x="4091623" y="2683510"/>
            <a:ext cx="1764382" cy="473269"/>
          </a:xfrm>
          <a:prstGeom prst="rect">
            <a:avLst/>
          </a:prstGeom>
          <a:noFill/>
        </p:spPr>
        <p:txBody>
          <a:bodyPr wrap="square" lIns="0" tIns="0" rIns="0" bIns="0" rtlCol="0" anchor="b" anchorCtr="0">
            <a:noAutofit/>
          </a:bodyPr>
          <a:p>
            <a:pPr algn="l">
              <a:spcBef>
                <a:spcPct val="0"/>
              </a:spcBef>
              <a:spcAft>
                <a:spcPct val="0"/>
              </a:spcAft>
            </a:pPr>
            <a:r>
              <a:rPr lang="en-US" altLang="zh-CN" sz="1900" b="1" dirty="0">
                <a:solidFill>
                  <a:schemeClr val="bg1">
                    <a:lumMod val="65000"/>
                  </a:schemeClr>
                </a:solidFill>
                <a:latin typeface="+mn-ea"/>
                <a:cs typeface="+mn-ea"/>
              </a:rPr>
              <a:t>Account Management</a:t>
            </a:r>
            <a:endParaRPr lang="en-US" altLang="zh-CN" sz="1900" b="1" dirty="0">
              <a:solidFill>
                <a:schemeClr val="bg1">
                  <a:lumMod val="65000"/>
                </a:schemeClr>
              </a:solidFill>
              <a:latin typeface="+mn-ea"/>
              <a:cs typeface="+mn-ea"/>
            </a:endParaRPr>
          </a:p>
        </p:txBody>
      </p:sp>
      <p:sp>
        <p:nvSpPr>
          <p:cNvPr id="32" name="矩形 31"/>
          <p:cNvSpPr/>
          <p:nvPr>
            <p:custDataLst>
              <p:tags r:id="rId17"/>
            </p:custDataLst>
          </p:nvPr>
        </p:nvSpPr>
        <p:spPr>
          <a:xfrm>
            <a:off x="6670675" y="3272155"/>
            <a:ext cx="1933575" cy="1647825"/>
          </a:xfrm>
          <a:prstGeom prst="rect">
            <a:avLst/>
          </a:prstGeom>
        </p:spPr>
        <p:txBody>
          <a:bodyPr wrap="square" lIns="0" tIns="0" rIns="0" bIns="0">
            <a:noAutofit/>
          </a:bodyPr>
          <a:p>
            <a:pPr algn="just">
              <a:lnSpc>
                <a:spcPct val="150000"/>
              </a:lnSpc>
              <a:spcBef>
                <a:spcPct val="0"/>
              </a:spcBef>
              <a:spcAft>
                <a:spcPct val="0"/>
              </a:spcAft>
            </a:pPr>
            <a:r>
              <a:rPr lang="en-US" altLang="zh-CN" sz="1400">
                <a:solidFill>
                  <a:schemeClr val="dk1">
                    <a:lumMod val="80000"/>
                    <a:lumOff val="20000"/>
                  </a:schemeClr>
                </a:solidFill>
                <a:latin typeface="+mn-ea"/>
                <a:cs typeface="+mn-ea"/>
              </a:rPr>
              <a:t>get_transaction_stats() </a:t>
            </a:r>
            <a:endParaRPr lang="en-US" altLang="zh-CN" sz="1400">
              <a:solidFill>
                <a:schemeClr val="dk1">
                  <a:lumMod val="80000"/>
                  <a:lumOff val="20000"/>
                </a:schemeClr>
              </a:solidFill>
              <a:latin typeface="+mn-ea"/>
              <a:cs typeface="+mn-ea"/>
            </a:endParaRPr>
          </a:p>
          <a:p>
            <a:pPr algn="just">
              <a:lnSpc>
                <a:spcPct val="150000"/>
              </a:lnSpc>
              <a:spcBef>
                <a:spcPct val="0"/>
              </a:spcBef>
              <a:spcAft>
                <a:spcPct val="0"/>
              </a:spcAft>
            </a:pPr>
            <a:r>
              <a:rPr lang="en-US" altLang="zh-CN" sz="1400">
                <a:solidFill>
                  <a:schemeClr val="dk1">
                    <a:lumMod val="80000"/>
                    <a:lumOff val="20000"/>
                  </a:schemeClr>
                </a:solidFill>
                <a:latin typeface="+mn-ea"/>
                <a:cs typeface="+mn-ea"/>
              </a:rPr>
              <a:t>get_monthly_trends()</a:t>
            </a:r>
            <a:endParaRPr lang="en-US" altLang="zh-CN" sz="1400">
              <a:solidFill>
                <a:schemeClr val="dk1">
                  <a:lumMod val="80000"/>
                  <a:lumOff val="20000"/>
                </a:schemeClr>
              </a:solidFill>
              <a:latin typeface="+mn-ea"/>
              <a:cs typeface="+mn-ea"/>
            </a:endParaRPr>
          </a:p>
        </p:txBody>
      </p:sp>
      <p:sp>
        <p:nvSpPr>
          <p:cNvPr id="33" name="矩形 32"/>
          <p:cNvSpPr/>
          <p:nvPr>
            <p:custDataLst>
              <p:tags r:id="rId18"/>
            </p:custDataLst>
          </p:nvPr>
        </p:nvSpPr>
        <p:spPr>
          <a:xfrm>
            <a:off x="6670675" y="2727960"/>
            <a:ext cx="1836420" cy="446405"/>
          </a:xfrm>
          <a:prstGeom prst="rect">
            <a:avLst/>
          </a:prstGeom>
          <a:noFill/>
        </p:spPr>
        <p:txBody>
          <a:bodyPr wrap="square" lIns="0" tIns="0" rIns="0" bIns="0" rtlCol="0" anchor="b" anchorCtr="0">
            <a:noAutofit/>
          </a:bodyPr>
          <a:p>
            <a:pPr algn="l">
              <a:spcBef>
                <a:spcPct val="0"/>
              </a:spcBef>
              <a:spcAft>
                <a:spcPct val="0"/>
              </a:spcAft>
            </a:pPr>
            <a:r>
              <a:rPr lang="en-US" altLang="zh-CN" sz="1900" b="1" dirty="0">
                <a:solidFill>
                  <a:srgbClr val="388BA5"/>
                </a:solidFill>
                <a:latin typeface="+mn-ea"/>
                <a:cs typeface="+mn-ea"/>
              </a:rPr>
              <a:t>Statistical Features</a:t>
            </a:r>
            <a:endParaRPr lang="en-US" altLang="zh-CN" sz="1900" b="1" dirty="0">
              <a:solidFill>
                <a:srgbClr val="388BA5"/>
              </a:solidFill>
              <a:latin typeface="+mn-ea"/>
              <a:cs typeface="+mn-ea"/>
            </a:endParaRPr>
          </a:p>
        </p:txBody>
      </p:sp>
      <p:sp>
        <p:nvSpPr>
          <p:cNvPr id="34" name="矩形 33"/>
          <p:cNvSpPr/>
          <p:nvPr>
            <p:custDataLst>
              <p:tags r:id="rId19"/>
            </p:custDataLst>
          </p:nvPr>
        </p:nvSpPr>
        <p:spPr>
          <a:xfrm>
            <a:off x="9356408" y="3254375"/>
            <a:ext cx="1764382" cy="1647876"/>
          </a:xfrm>
          <a:prstGeom prst="rect">
            <a:avLst/>
          </a:prstGeom>
        </p:spPr>
        <p:txBody>
          <a:bodyPr wrap="square" lIns="0" tIns="0" rIns="0" bIns="0">
            <a:noAutofit/>
          </a:bodyPr>
          <a:p>
            <a:pPr algn="just">
              <a:lnSpc>
                <a:spcPct val="130000"/>
              </a:lnSpc>
              <a:spcBef>
                <a:spcPct val="0"/>
              </a:spcBef>
              <a:spcAft>
                <a:spcPct val="0"/>
              </a:spcAft>
            </a:pPr>
            <a:r>
              <a:rPr lang="en-US" altLang="zh-CN" sz="1600">
                <a:solidFill>
                  <a:schemeClr val="dk1">
                    <a:lumMod val="80000"/>
                    <a:lumOff val="20000"/>
                  </a:schemeClr>
                </a:solidFill>
                <a:latin typeface="+mn-ea"/>
                <a:cs typeface="+mn-ea"/>
              </a:rPr>
              <a:t>On creation</a:t>
            </a:r>
            <a:endParaRPr lang="en-US" altLang="zh-CN" sz="1600">
              <a:solidFill>
                <a:schemeClr val="dk1">
                  <a:lumMod val="80000"/>
                  <a:lumOff val="20000"/>
                </a:schemeClr>
              </a:solidFill>
              <a:latin typeface="+mn-ea"/>
              <a:cs typeface="+mn-ea"/>
            </a:endParaRPr>
          </a:p>
          <a:p>
            <a:pPr algn="just">
              <a:lnSpc>
                <a:spcPct val="130000"/>
              </a:lnSpc>
              <a:spcBef>
                <a:spcPct val="0"/>
              </a:spcBef>
              <a:spcAft>
                <a:spcPct val="0"/>
              </a:spcAft>
            </a:pPr>
            <a:r>
              <a:rPr lang="en-US" altLang="zh-CN" sz="1600">
                <a:solidFill>
                  <a:schemeClr val="dk1">
                    <a:lumMod val="80000"/>
                    <a:lumOff val="20000"/>
                  </a:schemeClr>
                </a:solidFill>
                <a:latin typeface="+mn-ea"/>
                <a:cs typeface="+mn-ea"/>
              </a:rPr>
              <a:t>On update </a:t>
            </a:r>
            <a:endParaRPr lang="en-US" altLang="zh-CN" sz="1600">
              <a:solidFill>
                <a:schemeClr val="dk1">
                  <a:lumMod val="80000"/>
                  <a:lumOff val="20000"/>
                </a:schemeClr>
              </a:solidFill>
              <a:latin typeface="+mn-ea"/>
              <a:cs typeface="+mn-ea"/>
            </a:endParaRPr>
          </a:p>
          <a:p>
            <a:pPr algn="just">
              <a:lnSpc>
                <a:spcPct val="130000"/>
              </a:lnSpc>
              <a:spcBef>
                <a:spcPct val="0"/>
              </a:spcBef>
              <a:spcAft>
                <a:spcPct val="0"/>
              </a:spcAft>
            </a:pPr>
            <a:r>
              <a:rPr lang="en-US" altLang="zh-CN" sz="1600">
                <a:solidFill>
                  <a:schemeClr val="dk1">
                    <a:lumMod val="80000"/>
                    <a:lumOff val="20000"/>
                  </a:schemeClr>
                </a:solidFill>
                <a:latin typeface="+mn-ea"/>
                <a:cs typeface="+mn-ea"/>
              </a:rPr>
              <a:t>On deletion</a:t>
            </a:r>
            <a:endParaRPr lang="en-US" altLang="zh-CN" sz="1600">
              <a:solidFill>
                <a:schemeClr val="dk1">
                  <a:lumMod val="80000"/>
                  <a:lumOff val="20000"/>
                </a:schemeClr>
              </a:solidFill>
              <a:latin typeface="+mn-ea"/>
              <a:cs typeface="+mn-ea"/>
            </a:endParaRPr>
          </a:p>
        </p:txBody>
      </p:sp>
      <p:sp>
        <p:nvSpPr>
          <p:cNvPr id="35" name="矩形 34"/>
          <p:cNvSpPr/>
          <p:nvPr>
            <p:custDataLst>
              <p:tags r:id="rId20"/>
            </p:custDataLst>
          </p:nvPr>
        </p:nvSpPr>
        <p:spPr>
          <a:xfrm>
            <a:off x="9356408" y="2710180"/>
            <a:ext cx="1764382" cy="446405"/>
          </a:xfrm>
          <a:prstGeom prst="rect">
            <a:avLst/>
          </a:prstGeom>
          <a:noFill/>
        </p:spPr>
        <p:txBody>
          <a:bodyPr wrap="square" lIns="0" tIns="0" rIns="0" bIns="0" rtlCol="0" anchor="b" anchorCtr="0">
            <a:noAutofit/>
          </a:bodyPr>
          <a:p>
            <a:pPr algn="l">
              <a:spcBef>
                <a:spcPct val="0"/>
              </a:spcBef>
              <a:spcAft>
                <a:spcPct val="0"/>
              </a:spcAft>
            </a:pPr>
            <a:r>
              <a:rPr lang="en-US" altLang="zh-CN" sz="1900" b="1">
                <a:solidFill>
                  <a:schemeClr val="bg1">
                    <a:lumMod val="65000"/>
                  </a:schemeClr>
                </a:solidFill>
                <a:latin typeface="+mn-ea"/>
                <a:cs typeface="+mn-ea"/>
              </a:rPr>
              <a:t>Balance Auto-update Logic</a:t>
            </a:r>
            <a:endParaRPr lang="en-US" altLang="zh-CN" sz="1900" b="1">
              <a:solidFill>
                <a:schemeClr val="bg1">
                  <a:lumMod val="65000"/>
                </a:schemeClr>
              </a:solidFill>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rPr>
              <a:t>Acceptance Criteria</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3</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6" name="五边形 5"/>
          <p:cNvSpPr/>
          <p:nvPr>
            <p:custDataLst>
              <p:tags r:id="rId1"/>
            </p:custDataLst>
          </p:nvPr>
        </p:nvSpPr>
        <p:spPr>
          <a:xfrm>
            <a:off x="653416" y="3154680"/>
            <a:ext cx="10800080" cy="495931"/>
          </a:xfrm>
          <a:prstGeom prst="homePlate">
            <a:avLst/>
          </a:prstGeom>
          <a:solidFill>
            <a:srgbClr val="388BA5">
              <a:alpha val="70000"/>
            </a:srgbClr>
          </a:solidFill>
          <a:ln w="19050">
            <a:gradFill>
              <a:gsLst>
                <a:gs pos="20000">
                  <a:schemeClr val="accent1">
                    <a:alpha val="0"/>
                  </a:schemeClr>
                </a:gs>
                <a:gs pos="90000">
                  <a:schemeClr val="accent1">
                    <a:alpha val="100000"/>
                  </a:schemeClr>
                </a:gs>
              </a:gsLst>
              <a:lin ang="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a:solidFill>
                <a:schemeClr val="lt1"/>
              </a:solidFill>
              <a:sym typeface="+mn-ea"/>
            </a:endParaRPr>
          </a:p>
        </p:txBody>
      </p:sp>
      <p:cxnSp>
        <p:nvCxnSpPr>
          <p:cNvPr id="7" name="直接箭头连接符 6"/>
          <p:cNvCxnSpPr/>
          <p:nvPr>
            <p:custDataLst>
              <p:tags r:id="rId2"/>
            </p:custDataLst>
          </p:nvPr>
        </p:nvCxnSpPr>
        <p:spPr>
          <a:xfrm>
            <a:off x="653416" y="3402330"/>
            <a:ext cx="10569575"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9"/>
          <p:cNvSpPr/>
          <p:nvPr>
            <p:custDataLst>
              <p:tags r:id="rId3"/>
            </p:custDataLst>
          </p:nvPr>
        </p:nvSpPr>
        <p:spPr>
          <a:xfrm>
            <a:off x="774066" y="3355340"/>
            <a:ext cx="93345" cy="94615"/>
          </a:xfrm>
          <a:prstGeom prst="ellipse">
            <a:avLst/>
          </a:prstGeom>
          <a:solidFill>
            <a:schemeClr val="accent1">
              <a:lumMod val="40000"/>
              <a:lumOff val="60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cs typeface="微软雅黑" panose="020B0503020204020204" charset="-122"/>
            </a:endParaRPr>
          </a:p>
        </p:txBody>
      </p:sp>
      <p:cxnSp>
        <p:nvCxnSpPr>
          <p:cNvPr id="8" name="直接连接符 7"/>
          <p:cNvCxnSpPr/>
          <p:nvPr>
            <p:custDataLst>
              <p:tags r:id="rId4"/>
            </p:custDataLst>
          </p:nvPr>
        </p:nvCxnSpPr>
        <p:spPr>
          <a:xfrm flipH="1">
            <a:off x="827406" y="1223645"/>
            <a:ext cx="5080" cy="2382520"/>
          </a:xfrm>
          <a:prstGeom prst="line">
            <a:avLst/>
          </a:prstGeom>
          <a:ln w="25400">
            <a:gradFill>
              <a:gsLst>
                <a:gs pos="17000">
                  <a:schemeClr val="accent1">
                    <a:alpha val="0"/>
                  </a:schemeClr>
                </a:gs>
                <a:gs pos="61000">
                  <a:srgbClr val="509FA4"/>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5"/>
            </p:custDataLst>
          </p:nvPr>
        </p:nvSpPr>
        <p:spPr>
          <a:xfrm>
            <a:off x="965200" y="1871980"/>
            <a:ext cx="2600325" cy="1056640"/>
          </a:xfrm>
          <a:prstGeom prst="rect">
            <a:avLst/>
          </a:prstGeom>
          <a:noFill/>
        </p:spPr>
        <p:txBody>
          <a:bodyPr wrap="square" lIns="0" tIns="0" rIns="0" bIns="0" rtlCol="0" anchor="t" anchorCtr="0">
            <a:noAutofit/>
          </a:bodyPr>
          <a:p>
            <a:pPr defTabSz="457200">
              <a:lnSpc>
                <a:spcPct val="150000"/>
              </a:lnSpc>
              <a:spcBef>
                <a:spcPct val="0"/>
              </a:spcBef>
              <a:spcAft>
                <a:spcPct val="0"/>
              </a:spcAft>
            </a:pPr>
            <a:r>
              <a:rPr lang="en-US" altLang="zh-CN" sz="1600">
                <a:solidFill>
                  <a:schemeClr val="tx1">
                    <a:lumMod val="85000"/>
                    <a:lumOff val="15000"/>
                  </a:schemeClr>
                </a:solidFill>
                <a:latin typeface="Arial" panose="020B0604020202020204" pitchFamily="34" charset="0"/>
                <a:ea typeface="微软雅黑" panose="020B0503020204020204" charset="-122"/>
                <a:cs typeface="Arial" panose="020B0604020202020204" pitchFamily="34" charset="0"/>
              </a:rPr>
              <a:t>Full CRUD functionality is implemented.</a:t>
            </a:r>
            <a:endParaRPr lang="en-US" altLang="zh-CN" sz="1600">
              <a:solidFill>
                <a:schemeClr val="tx1">
                  <a:lumMod val="85000"/>
                  <a:lumOff val="15000"/>
                </a:schemeClr>
              </a:solidFill>
              <a:latin typeface="Arial" panose="020B0604020202020204" pitchFamily="34" charset="0"/>
              <a:ea typeface="微软雅黑" panose="020B0503020204020204" charset="-122"/>
              <a:cs typeface="Arial" panose="020B0604020202020204" pitchFamily="34" charset="0"/>
            </a:endParaRPr>
          </a:p>
        </p:txBody>
      </p:sp>
      <p:sp>
        <p:nvSpPr>
          <p:cNvPr id="13" name="流程图: 延期 12"/>
          <p:cNvSpPr/>
          <p:nvPr>
            <p:custDataLst>
              <p:tags r:id="rId6"/>
            </p:custDataLst>
          </p:nvPr>
        </p:nvSpPr>
        <p:spPr>
          <a:xfrm>
            <a:off x="832486" y="1224280"/>
            <a:ext cx="474345" cy="506730"/>
          </a:xfrm>
          <a:prstGeom prst="flowChartDelay">
            <a:avLst/>
          </a:prstGeom>
          <a:solidFill>
            <a:srgbClr val="388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altLang="zh-CN" sz="1600" b="1">
                <a:solidFill>
                  <a:srgbClr val="FFFFFF"/>
                </a:solidFill>
                <a:effectLst>
                  <a:outerShdw blurRad="50800" dist="38100" dir="5400000" algn="t" rotWithShape="0">
                    <a:schemeClr val="accent1">
                      <a:lumMod val="75000"/>
                      <a:alpha val="40000"/>
                    </a:schemeClr>
                  </a:outerShdw>
                </a:effectLst>
                <a:latin typeface="+mn-ea"/>
                <a:cs typeface="+mn-ea"/>
                <a:sym typeface="+mn-ea"/>
              </a:rPr>
              <a:t>01</a:t>
            </a:r>
            <a:endParaRPr lang="en-US" altLang="zh-CN" sz="1600" b="1">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21" name="矩形 20"/>
          <p:cNvSpPr/>
          <p:nvPr>
            <p:custDataLst>
              <p:tags r:id="rId7"/>
            </p:custDataLst>
          </p:nvPr>
        </p:nvSpPr>
        <p:spPr>
          <a:xfrm>
            <a:off x="1529080" y="1290955"/>
            <a:ext cx="2045335" cy="384810"/>
          </a:xfrm>
          <a:prstGeom prst="rect">
            <a:avLst/>
          </a:prstGeom>
          <a:noFill/>
        </p:spPr>
        <p:txBody>
          <a:bodyPr wrap="square" lIns="0" tIns="0" rIns="0" bIns="0" rtlCol="0" anchor="ctr" anchorCtr="0">
            <a:noAutofit/>
          </a:bodyPr>
          <a:p>
            <a:pPr>
              <a:spcBef>
                <a:spcPct val="0"/>
              </a:spcBef>
              <a:spcAft>
                <a:spcPct val="0"/>
              </a:spcAft>
            </a:pPr>
            <a:r>
              <a:rPr lang="en-US" altLang="zh-CN" b="1" dirty="0">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Arial" panose="020B0604020202020204" pitchFamily="34" charset="0"/>
              </a:rPr>
              <a:t>CRUD Operations</a:t>
            </a:r>
            <a:endParaRPr lang="en-US" altLang="zh-CN" b="1" dirty="0">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Arial" panose="020B0604020202020204" pitchFamily="34" charset="0"/>
            </a:endParaRPr>
          </a:p>
        </p:txBody>
      </p:sp>
      <p:cxnSp>
        <p:nvCxnSpPr>
          <p:cNvPr id="43" name="直接连接符 42"/>
          <p:cNvCxnSpPr/>
          <p:nvPr>
            <p:custDataLst>
              <p:tags r:id="rId8"/>
            </p:custDataLst>
          </p:nvPr>
        </p:nvCxnSpPr>
        <p:spPr>
          <a:xfrm flipH="1" flipV="1">
            <a:off x="2432051" y="3197225"/>
            <a:ext cx="1905" cy="2382520"/>
          </a:xfrm>
          <a:prstGeom prst="line">
            <a:avLst/>
          </a:prstGeom>
          <a:solidFill>
            <a:schemeClr val="bg1">
              <a:lumMod val="65000"/>
            </a:schemeClr>
          </a:solidFill>
          <a:ln w="25400">
            <a:gradFill>
              <a:gsLst>
                <a:gs pos="8000">
                  <a:schemeClr val="bg1"/>
                </a:gs>
                <a:gs pos="100000">
                  <a:schemeClr val="bg1">
                    <a:lumMod val="65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9" name="椭圆 28"/>
          <p:cNvSpPr/>
          <p:nvPr>
            <p:custDataLst>
              <p:tags r:id="rId9"/>
            </p:custDataLst>
          </p:nvPr>
        </p:nvSpPr>
        <p:spPr>
          <a:xfrm>
            <a:off x="2378711" y="3355340"/>
            <a:ext cx="93345" cy="94615"/>
          </a:xfrm>
          <a:prstGeom prst="ellipse">
            <a:avLst/>
          </a:prstGeom>
          <a:solidFill>
            <a:schemeClr val="bg1">
              <a:lumMod val="65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cs typeface="微软雅黑" panose="020B0503020204020204" charset="-122"/>
            </a:endParaRPr>
          </a:p>
        </p:txBody>
      </p:sp>
      <p:sp>
        <p:nvSpPr>
          <p:cNvPr id="30" name="矩形 29"/>
          <p:cNvSpPr/>
          <p:nvPr>
            <p:custDataLst>
              <p:tags r:id="rId10"/>
            </p:custDataLst>
          </p:nvPr>
        </p:nvSpPr>
        <p:spPr>
          <a:xfrm>
            <a:off x="2563496" y="3825240"/>
            <a:ext cx="2600325" cy="1056640"/>
          </a:xfrm>
          <a:prstGeom prst="rect">
            <a:avLst/>
          </a:prstGeom>
          <a:noFill/>
        </p:spPr>
        <p:txBody>
          <a:bodyPr wrap="square" lIns="0" tIns="0" rIns="0" bIns="0" rtlCol="0" anchor="b" anchorCtr="0">
            <a:noAutofit/>
          </a:bodyPr>
          <a:p>
            <a:pPr defTabSz="457200">
              <a:lnSpc>
                <a:spcPct val="150000"/>
              </a:lnSpc>
              <a:spcBef>
                <a:spcPct val="0"/>
              </a:spcBef>
              <a:spcAft>
                <a:spcPct val="0"/>
              </a:spcAft>
            </a:pPr>
            <a:r>
              <a:rPr lang="en-US" altLang="zh-CN" sz="1600" kern="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rPr>
              <a:t>Account balances are updated correctly.</a:t>
            </a:r>
            <a:endParaRPr lang="en-US" altLang="zh-CN" sz="1600" kern="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endParaRPr>
          </a:p>
        </p:txBody>
      </p:sp>
      <p:sp>
        <p:nvSpPr>
          <p:cNvPr id="42" name="流程图: 延期 41"/>
          <p:cNvSpPr/>
          <p:nvPr>
            <p:custDataLst>
              <p:tags r:id="rId11"/>
            </p:custDataLst>
          </p:nvPr>
        </p:nvSpPr>
        <p:spPr>
          <a:xfrm>
            <a:off x="2446021" y="5074285"/>
            <a:ext cx="474345" cy="506730"/>
          </a:xfrm>
          <a:prstGeom prst="flowChartDelay">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buClrTx/>
              <a:buSzTx/>
              <a:buFontTx/>
            </a:pPr>
            <a:r>
              <a:rPr lang="en-US" altLang="zh-CN" sz="1600" b="1">
                <a:solidFill>
                  <a:srgbClr val="FFFFFF"/>
                </a:solidFill>
                <a:effectLst>
                  <a:outerShdw blurRad="50800" dist="38100" dir="5400000" algn="t" rotWithShape="0">
                    <a:schemeClr val="accent2">
                      <a:lumMod val="75000"/>
                      <a:alpha val="40000"/>
                    </a:schemeClr>
                  </a:outerShdw>
                </a:effectLst>
                <a:latin typeface="+mn-ea"/>
                <a:cs typeface="+mn-ea"/>
                <a:sym typeface="+mn-ea"/>
              </a:rPr>
              <a:t>02</a:t>
            </a:r>
            <a:endParaRPr lang="en-US" altLang="zh-CN" sz="1600" b="1">
              <a:solidFill>
                <a:srgbClr val="FFFFFF"/>
              </a:solidFill>
              <a:effectLst>
                <a:outerShdw blurRad="50800" dist="38100" dir="5400000" algn="t" rotWithShape="0">
                  <a:schemeClr val="accent2">
                    <a:lumMod val="75000"/>
                    <a:alpha val="40000"/>
                  </a:schemeClr>
                </a:outerShdw>
              </a:effectLst>
              <a:latin typeface="+mn-ea"/>
              <a:cs typeface="+mn-ea"/>
              <a:sym typeface="+mn-ea"/>
            </a:endParaRPr>
          </a:p>
        </p:txBody>
      </p:sp>
      <p:sp>
        <p:nvSpPr>
          <p:cNvPr id="32" name="矩形 31"/>
          <p:cNvSpPr/>
          <p:nvPr>
            <p:custDataLst>
              <p:tags r:id="rId12"/>
            </p:custDataLst>
          </p:nvPr>
        </p:nvSpPr>
        <p:spPr>
          <a:xfrm>
            <a:off x="3143886" y="5136515"/>
            <a:ext cx="2035810" cy="401320"/>
          </a:xfrm>
          <a:prstGeom prst="rect">
            <a:avLst/>
          </a:prstGeom>
          <a:noFill/>
        </p:spPr>
        <p:txBody>
          <a:bodyPr wrap="square" lIns="0" tIns="0" rIns="0" bIns="0" rtlCol="0" anchor="ctr" anchorCtr="0">
            <a:noAutofit/>
          </a:bodyPr>
          <a:p>
            <a:pPr>
              <a:spcBef>
                <a:spcPct val="0"/>
              </a:spcBef>
              <a:spcAft>
                <a:spcPct val="0"/>
              </a:spcAft>
            </a:pPr>
            <a:r>
              <a:rPr lang="en-US" altLang="zh-CN" b="1" dirty="0">
                <a:solidFill>
                  <a:srgbClr val="388BA5"/>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ea"/>
              </a:rPr>
              <a:t>Balance Sync</a:t>
            </a:r>
            <a:endParaRPr lang="en-US" altLang="zh-CN" b="1" dirty="0">
              <a:solidFill>
                <a:srgbClr val="388BA5"/>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ea"/>
            </a:endParaRPr>
          </a:p>
        </p:txBody>
      </p:sp>
      <p:cxnSp>
        <p:nvCxnSpPr>
          <p:cNvPr id="5" name="直接连接符 4"/>
          <p:cNvCxnSpPr/>
          <p:nvPr>
            <p:custDataLst>
              <p:tags r:id="rId13"/>
            </p:custDataLst>
          </p:nvPr>
        </p:nvCxnSpPr>
        <p:spPr>
          <a:xfrm flipH="1">
            <a:off x="4029076" y="1223645"/>
            <a:ext cx="5080" cy="2382520"/>
          </a:xfrm>
          <a:prstGeom prst="line">
            <a:avLst/>
          </a:prstGeom>
          <a:ln w="25400">
            <a:gradFill>
              <a:gsLst>
                <a:gs pos="17000">
                  <a:schemeClr val="accent1">
                    <a:alpha val="0"/>
                  </a:schemeClr>
                </a:gs>
                <a:gs pos="61000">
                  <a:srgbClr val="509FA4"/>
                </a:gs>
              </a:gsLst>
              <a:lin ang="16200000" scaled="1"/>
            </a:gradFill>
          </a:ln>
        </p:spPr>
        <p:style>
          <a:lnRef idx="1">
            <a:schemeClr val="accent1"/>
          </a:lnRef>
          <a:fillRef idx="0">
            <a:schemeClr val="accent1"/>
          </a:fillRef>
          <a:effectRef idx="0">
            <a:schemeClr val="accent1"/>
          </a:effectRef>
          <a:fontRef idx="minor">
            <a:schemeClr val="tx1"/>
          </a:fontRef>
        </p:style>
      </p:cxnSp>
      <p:sp>
        <p:nvSpPr>
          <p:cNvPr id="33" name="流程图: 延期 32"/>
          <p:cNvSpPr/>
          <p:nvPr>
            <p:custDataLst>
              <p:tags r:id="rId14"/>
            </p:custDataLst>
          </p:nvPr>
        </p:nvSpPr>
        <p:spPr>
          <a:xfrm>
            <a:off x="4034156" y="1222375"/>
            <a:ext cx="474345" cy="506730"/>
          </a:xfrm>
          <a:prstGeom prst="flowChartDelay">
            <a:avLst/>
          </a:prstGeom>
          <a:solidFill>
            <a:srgbClr val="388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buClrTx/>
              <a:buSzTx/>
              <a:buFontTx/>
            </a:pPr>
            <a:r>
              <a:rPr lang="en-US" altLang="zh-CN" sz="1600" b="1">
                <a:solidFill>
                  <a:srgbClr val="FFFFFF"/>
                </a:solidFill>
                <a:effectLst>
                  <a:outerShdw blurRad="50800" dist="38100" dir="5400000" algn="t" rotWithShape="0">
                    <a:schemeClr val="accent1">
                      <a:lumMod val="75000"/>
                      <a:alpha val="40000"/>
                    </a:schemeClr>
                  </a:outerShdw>
                </a:effectLst>
                <a:latin typeface="+mn-ea"/>
                <a:cs typeface="+mn-ea"/>
                <a:sym typeface="+mn-ea"/>
              </a:rPr>
              <a:t>03</a:t>
            </a:r>
            <a:endParaRPr lang="en-US" altLang="zh-CN" sz="1600" b="1">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34" name="矩形 33"/>
          <p:cNvSpPr/>
          <p:nvPr>
            <p:custDataLst>
              <p:tags r:id="rId15"/>
            </p:custDataLst>
          </p:nvPr>
        </p:nvSpPr>
        <p:spPr>
          <a:xfrm>
            <a:off x="4166870" y="1748790"/>
            <a:ext cx="2906395" cy="1194435"/>
          </a:xfrm>
          <a:prstGeom prst="rect">
            <a:avLst/>
          </a:prstGeom>
          <a:noFill/>
        </p:spPr>
        <p:txBody>
          <a:bodyPr wrap="square" lIns="0" tIns="0" rIns="0" bIns="0" rtlCol="0" anchor="t" anchorCtr="0">
            <a:noAutofit/>
          </a:bodyPr>
          <a:p>
            <a:pPr defTabSz="457200">
              <a:lnSpc>
                <a:spcPct val="150000"/>
              </a:lnSpc>
              <a:spcBef>
                <a:spcPct val="0"/>
              </a:spcBef>
              <a:spcAft>
                <a:spcPct val="0"/>
              </a:spcAft>
            </a:pPr>
            <a:r>
              <a:rPr lang="en-US" altLang="zh-CN" sz="1600" kern="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rPr>
              <a:t>Checks for transaction dependencies before deleting accounts.</a:t>
            </a:r>
            <a:endParaRPr lang="en-US" altLang="zh-CN" sz="1600" kern="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endParaRPr>
          </a:p>
        </p:txBody>
      </p:sp>
      <p:sp>
        <p:nvSpPr>
          <p:cNvPr id="35" name="矩形 34"/>
          <p:cNvSpPr/>
          <p:nvPr>
            <p:custDataLst>
              <p:tags r:id="rId16"/>
            </p:custDataLst>
          </p:nvPr>
        </p:nvSpPr>
        <p:spPr>
          <a:xfrm>
            <a:off x="4730750" y="1283335"/>
            <a:ext cx="2263140" cy="384810"/>
          </a:xfrm>
          <a:prstGeom prst="rect">
            <a:avLst/>
          </a:prstGeom>
          <a:noFill/>
        </p:spPr>
        <p:txBody>
          <a:bodyPr wrap="square" lIns="0" tIns="0" rIns="0" bIns="0" rtlCol="0" anchor="ctr" anchorCtr="0">
            <a:noAutofit/>
          </a:bodyPr>
          <a:p>
            <a:pPr algn="l">
              <a:buClrTx/>
              <a:buSzTx/>
              <a:buFontTx/>
            </a:pPr>
            <a:r>
              <a:rPr lang="en-US" altLang="zh-CN" b="1" dirty="0">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Arial" panose="020B0604020202020204" pitchFamily="34" charset="0"/>
              </a:rPr>
              <a:t>Dependency Check</a:t>
            </a:r>
            <a:endParaRPr lang="en-US" altLang="zh-CN" b="1" dirty="0">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Arial" panose="020B0604020202020204" pitchFamily="34" charset="0"/>
            </a:endParaRPr>
          </a:p>
        </p:txBody>
      </p:sp>
      <p:sp>
        <p:nvSpPr>
          <p:cNvPr id="37" name="椭圆 36"/>
          <p:cNvSpPr/>
          <p:nvPr>
            <p:custDataLst>
              <p:tags r:id="rId17"/>
            </p:custDataLst>
          </p:nvPr>
        </p:nvSpPr>
        <p:spPr>
          <a:xfrm>
            <a:off x="3977006" y="3355340"/>
            <a:ext cx="93345" cy="94615"/>
          </a:xfrm>
          <a:prstGeom prst="ellipse">
            <a:avLst/>
          </a:prstGeom>
          <a:solidFill>
            <a:srgbClr val="388BA5"/>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cs typeface="微软雅黑" panose="020B0503020204020204" charset="-122"/>
            </a:endParaRPr>
          </a:p>
        </p:txBody>
      </p:sp>
      <p:cxnSp>
        <p:nvCxnSpPr>
          <p:cNvPr id="11" name="直接连接符 10"/>
          <p:cNvCxnSpPr/>
          <p:nvPr>
            <p:custDataLst>
              <p:tags r:id="rId18"/>
            </p:custDataLst>
          </p:nvPr>
        </p:nvCxnSpPr>
        <p:spPr>
          <a:xfrm flipH="1" flipV="1">
            <a:off x="8829041" y="3197225"/>
            <a:ext cx="1905" cy="2382520"/>
          </a:xfrm>
          <a:prstGeom prst="line">
            <a:avLst/>
          </a:prstGeom>
          <a:solidFill>
            <a:schemeClr val="bg1">
              <a:lumMod val="65000"/>
            </a:schemeClr>
          </a:solidFill>
          <a:ln w="25400">
            <a:gradFill>
              <a:gsLst>
                <a:gs pos="8000">
                  <a:schemeClr val="bg1"/>
                </a:gs>
                <a:gs pos="100000">
                  <a:schemeClr val="bg1">
                    <a:lumMod val="65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38" name="椭圆 37"/>
          <p:cNvSpPr/>
          <p:nvPr>
            <p:custDataLst>
              <p:tags r:id="rId19"/>
            </p:custDataLst>
          </p:nvPr>
        </p:nvSpPr>
        <p:spPr>
          <a:xfrm>
            <a:off x="8775701" y="3355340"/>
            <a:ext cx="93345" cy="94615"/>
          </a:xfrm>
          <a:prstGeom prst="ellipse">
            <a:avLst/>
          </a:prstGeom>
          <a:solidFill>
            <a:schemeClr val="bg1">
              <a:lumMod val="65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39" name="矩形 38"/>
          <p:cNvSpPr/>
          <p:nvPr>
            <p:custDataLst>
              <p:tags r:id="rId20"/>
            </p:custDataLst>
          </p:nvPr>
        </p:nvSpPr>
        <p:spPr>
          <a:xfrm>
            <a:off x="8976995" y="3843020"/>
            <a:ext cx="2915285" cy="1056640"/>
          </a:xfrm>
          <a:prstGeom prst="rect">
            <a:avLst/>
          </a:prstGeom>
          <a:noFill/>
        </p:spPr>
        <p:txBody>
          <a:bodyPr wrap="square" lIns="0" tIns="0" rIns="0" bIns="0" rtlCol="0" anchor="b" anchorCtr="0">
            <a:noAutofit/>
          </a:bodyPr>
          <a:p>
            <a:pPr defTabSz="457200">
              <a:lnSpc>
                <a:spcPct val="150000"/>
              </a:lnSpc>
              <a:spcBef>
                <a:spcPct val="0"/>
              </a:spcBef>
              <a:spcAft>
                <a:spcPct val="0"/>
              </a:spcAft>
            </a:pPr>
            <a:r>
              <a:rPr lang="en-US" altLang="zh-CN" sz="1600" dirty="0">
                <a:solidFill>
                  <a:schemeClr val="tx1">
                    <a:lumMod val="85000"/>
                    <a:lumOff val="15000"/>
                  </a:schemeClr>
                </a:solidFill>
                <a:latin typeface="+mn-ea"/>
                <a:cs typeface="+mn-ea"/>
              </a:rPr>
              <a:t>Use parameterized queries to prevent SQL injection attacks.</a:t>
            </a:r>
            <a:endParaRPr lang="en-US" altLang="zh-CN" sz="1600" dirty="0">
              <a:solidFill>
                <a:schemeClr val="tx1">
                  <a:lumMod val="85000"/>
                  <a:lumOff val="15000"/>
                </a:schemeClr>
              </a:solidFill>
              <a:latin typeface="+mn-ea"/>
              <a:cs typeface="+mn-ea"/>
            </a:endParaRPr>
          </a:p>
        </p:txBody>
      </p:sp>
      <p:sp>
        <p:nvSpPr>
          <p:cNvPr id="40" name="流程图: 延期 39"/>
          <p:cNvSpPr/>
          <p:nvPr>
            <p:custDataLst>
              <p:tags r:id="rId21"/>
            </p:custDataLst>
          </p:nvPr>
        </p:nvSpPr>
        <p:spPr>
          <a:xfrm>
            <a:off x="8842376" y="5073650"/>
            <a:ext cx="474345" cy="506730"/>
          </a:xfrm>
          <a:prstGeom prst="flowChartDelay">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buClrTx/>
              <a:buSzTx/>
              <a:buFontTx/>
            </a:pPr>
            <a:r>
              <a:rPr lang="en-US" altLang="zh-CN" sz="1600" b="1">
                <a:solidFill>
                  <a:srgbClr val="FFFFFF"/>
                </a:solidFill>
                <a:effectLst>
                  <a:outerShdw blurRad="50800" dist="38100" dir="5400000" algn="t" rotWithShape="0">
                    <a:schemeClr val="accent2">
                      <a:lumMod val="75000"/>
                      <a:alpha val="40000"/>
                    </a:schemeClr>
                  </a:outerShdw>
                </a:effectLst>
                <a:latin typeface="+mn-ea"/>
                <a:cs typeface="+mn-ea"/>
                <a:sym typeface="+mn-ea"/>
              </a:rPr>
              <a:t>06</a:t>
            </a:r>
            <a:endParaRPr lang="en-US" altLang="zh-CN" sz="1600" b="1">
              <a:solidFill>
                <a:srgbClr val="FFFFFF"/>
              </a:solidFill>
              <a:effectLst>
                <a:outerShdw blurRad="50800" dist="38100" dir="5400000" algn="t" rotWithShape="0">
                  <a:schemeClr val="accent2">
                    <a:lumMod val="75000"/>
                    <a:alpha val="40000"/>
                  </a:schemeClr>
                </a:outerShdw>
              </a:effectLst>
              <a:latin typeface="+mn-ea"/>
              <a:cs typeface="+mn-ea"/>
              <a:sym typeface="+mn-ea"/>
            </a:endParaRPr>
          </a:p>
        </p:txBody>
      </p:sp>
      <p:sp>
        <p:nvSpPr>
          <p:cNvPr id="44" name="矩形 43"/>
          <p:cNvSpPr/>
          <p:nvPr>
            <p:custDataLst>
              <p:tags r:id="rId22"/>
            </p:custDataLst>
          </p:nvPr>
        </p:nvSpPr>
        <p:spPr>
          <a:xfrm>
            <a:off x="9540240" y="5135245"/>
            <a:ext cx="2053590" cy="401320"/>
          </a:xfrm>
          <a:prstGeom prst="rect">
            <a:avLst/>
          </a:prstGeom>
          <a:noFill/>
        </p:spPr>
        <p:txBody>
          <a:bodyPr wrap="square" lIns="0" tIns="0" rIns="0" bIns="0" rtlCol="0" anchor="ctr" anchorCtr="0">
            <a:noAutofit/>
          </a:bodyPr>
          <a:p>
            <a:pPr>
              <a:spcBef>
                <a:spcPct val="0"/>
              </a:spcBef>
              <a:spcAft>
                <a:spcPct val="0"/>
              </a:spcAft>
            </a:pPr>
            <a:r>
              <a:rPr lang="en-US" altLang="zh-CN" b="1" dirty="0">
                <a:solidFill>
                  <a:srgbClr val="388BA5"/>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rPr>
              <a:t>Security</a:t>
            </a:r>
            <a:endParaRPr lang="en-US" altLang="zh-CN" b="1" dirty="0">
              <a:solidFill>
                <a:srgbClr val="388BA5"/>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endParaRPr>
          </a:p>
        </p:txBody>
      </p:sp>
      <p:cxnSp>
        <p:nvCxnSpPr>
          <p:cNvPr id="36" name="直接连接符 35"/>
          <p:cNvCxnSpPr/>
          <p:nvPr>
            <p:custDataLst>
              <p:tags r:id="rId23"/>
            </p:custDataLst>
          </p:nvPr>
        </p:nvCxnSpPr>
        <p:spPr>
          <a:xfrm flipH="1">
            <a:off x="7224396" y="1223645"/>
            <a:ext cx="5080" cy="2382520"/>
          </a:xfrm>
          <a:prstGeom prst="line">
            <a:avLst/>
          </a:prstGeom>
          <a:ln w="25400">
            <a:gradFill>
              <a:gsLst>
                <a:gs pos="17000">
                  <a:schemeClr val="accent1">
                    <a:alpha val="0"/>
                  </a:schemeClr>
                </a:gs>
                <a:gs pos="61000">
                  <a:srgbClr val="509FA4"/>
                </a:gs>
              </a:gsLst>
              <a:lin ang="16200000" scaled="1"/>
            </a:gradFill>
          </a:ln>
        </p:spPr>
        <p:style>
          <a:lnRef idx="1">
            <a:schemeClr val="accent1"/>
          </a:lnRef>
          <a:fillRef idx="0">
            <a:schemeClr val="accent1"/>
          </a:fillRef>
          <a:effectRef idx="0">
            <a:schemeClr val="accent1"/>
          </a:effectRef>
          <a:fontRef idx="minor">
            <a:schemeClr val="tx1"/>
          </a:fontRef>
        </p:style>
      </p:cxnSp>
      <p:sp>
        <p:nvSpPr>
          <p:cNvPr id="45" name="矩形 44"/>
          <p:cNvSpPr/>
          <p:nvPr>
            <p:custDataLst>
              <p:tags r:id="rId24"/>
            </p:custDataLst>
          </p:nvPr>
        </p:nvSpPr>
        <p:spPr>
          <a:xfrm>
            <a:off x="7362191" y="1851025"/>
            <a:ext cx="2600325" cy="1056640"/>
          </a:xfrm>
          <a:prstGeom prst="rect">
            <a:avLst/>
          </a:prstGeom>
          <a:noFill/>
        </p:spPr>
        <p:txBody>
          <a:bodyPr wrap="square" lIns="0" tIns="0" rIns="0" bIns="0" rtlCol="0" anchor="t" anchorCtr="0">
            <a:noAutofit/>
          </a:bodyPr>
          <a:p>
            <a:pPr defTabSz="457200">
              <a:lnSpc>
                <a:spcPct val="150000"/>
              </a:lnSpc>
              <a:spcBef>
                <a:spcPct val="0"/>
              </a:spcBef>
              <a:spcAft>
                <a:spcPct val="0"/>
              </a:spcAft>
            </a:pPr>
            <a:r>
              <a:rPr lang="en-US" altLang="zh-CN" sz="1600" dirty="0">
                <a:solidFill>
                  <a:schemeClr val="tx1">
                    <a:lumMod val="85000"/>
                    <a:lumOff val="15000"/>
                  </a:schemeClr>
                </a:solidFill>
                <a:latin typeface="+mn-ea"/>
                <a:cs typeface="+mn-ea"/>
              </a:rPr>
              <a:t>Proper error handling mechanisms are in place.</a:t>
            </a:r>
            <a:endParaRPr lang="en-US" altLang="zh-CN" sz="1600" dirty="0">
              <a:solidFill>
                <a:schemeClr val="tx1">
                  <a:lumMod val="85000"/>
                  <a:lumOff val="15000"/>
                </a:schemeClr>
              </a:solidFill>
              <a:latin typeface="+mn-ea"/>
              <a:cs typeface="+mn-ea"/>
            </a:endParaRPr>
          </a:p>
        </p:txBody>
      </p:sp>
      <p:sp>
        <p:nvSpPr>
          <p:cNvPr id="46" name="流程图: 延期 45"/>
          <p:cNvSpPr/>
          <p:nvPr>
            <p:custDataLst>
              <p:tags r:id="rId25"/>
            </p:custDataLst>
          </p:nvPr>
        </p:nvSpPr>
        <p:spPr>
          <a:xfrm>
            <a:off x="7229476" y="1223010"/>
            <a:ext cx="474345" cy="506730"/>
          </a:xfrm>
          <a:prstGeom prst="flowChartDelay">
            <a:avLst/>
          </a:prstGeom>
          <a:solidFill>
            <a:srgbClr val="388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buClrTx/>
              <a:buSzTx/>
              <a:buFontTx/>
            </a:pPr>
            <a:r>
              <a:rPr lang="en-US" altLang="zh-CN" sz="1600" b="1">
                <a:solidFill>
                  <a:srgbClr val="FFFFFF"/>
                </a:solidFill>
                <a:effectLst>
                  <a:outerShdw blurRad="50800" dist="38100" dir="5400000" algn="t" rotWithShape="0">
                    <a:schemeClr val="accent1">
                      <a:lumMod val="75000"/>
                      <a:alpha val="40000"/>
                    </a:schemeClr>
                  </a:outerShdw>
                </a:effectLst>
                <a:latin typeface="+mn-ea"/>
                <a:cs typeface="+mn-ea"/>
                <a:sym typeface="+mn-ea"/>
              </a:rPr>
              <a:t>05</a:t>
            </a:r>
            <a:endParaRPr lang="en-US" altLang="zh-CN" sz="1600" b="1">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47" name="矩形 46"/>
          <p:cNvSpPr/>
          <p:nvPr>
            <p:custDataLst>
              <p:tags r:id="rId26"/>
            </p:custDataLst>
          </p:nvPr>
        </p:nvSpPr>
        <p:spPr>
          <a:xfrm>
            <a:off x="7926071" y="1283970"/>
            <a:ext cx="2048510" cy="384810"/>
          </a:xfrm>
          <a:prstGeom prst="rect">
            <a:avLst/>
          </a:prstGeom>
          <a:noFill/>
        </p:spPr>
        <p:txBody>
          <a:bodyPr wrap="square" lIns="0" tIns="0" rIns="0" bIns="0" rtlCol="0" anchor="ctr" anchorCtr="0">
            <a:noAutofit/>
          </a:bodyPr>
          <a:p>
            <a:pPr>
              <a:spcBef>
                <a:spcPct val="0"/>
              </a:spcBef>
              <a:spcAft>
                <a:spcPct val="0"/>
              </a:spcAft>
            </a:pPr>
            <a:r>
              <a:rPr lang="en-US" altLang="zh-CN" b="1" dirty="0">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Arial" panose="020B0604020202020204" pitchFamily="34" charset="0"/>
              </a:rPr>
              <a:t>Error Handling</a:t>
            </a:r>
            <a:endParaRPr lang="en-US" altLang="zh-CN" b="1" dirty="0">
              <a:solidFill>
                <a:schemeClr val="bg1">
                  <a:lumMod val="50000"/>
                </a:schemeClr>
              </a:solidFill>
              <a:latin typeface="微软雅黑" panose="020B0503020204020204" charset="-122"/>
              <a:ea typeface="微软雅黑" panose="020B0503020204020204" charset="-122"/>
              <a:cs typeface="+mn-ea"/>
            </a:endParaRPr>
          </a:p>
        </p:txBody>
      </p:sp>
      <p:sp>
        <p:nvSpPr>
          <p:cNvPr id="48" name="椭圆 47"/>
          <p:cNvSpPr/>
          <p:nvPr>
            <p:custDataLst>
              <p:tags r:id="rId27"/>
            </p:custDataLst>
          </p:nvPr>
        </p:nvSpPr>
        <p:spPr>
          <a:xfrm>
            <a:off x="7172326" y="3355340"/>
            <a:ext cx="93345" cy="94615"/>
          </a:xfrm>
          <a:prstGeom prst="ellipse">
            <a:avLst/>
          </a:prstGeom>
          <a:solidFill>
            <a:srgbClr val="388BA5"/>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cxnSp>
        <p:nvCxnSpPr>
          <p:cNvPr id="41" name="直接连接符 40"/>
          <p:cNvCxnSpPr/>
          <p:nvPr>
            <p:custDataLst>
              <p:tags r:id="rId28"/>
            </p:custDataLst>
          </p:nvPr>
        </p:nvCxnSpPr>
        <p:spPr>
          <a:xfrm flipH="1" flipV="1">
            <a:off x="5625466" y="3197225"/>
            <a:ext cx="1905" cy="2382520"/>
          </a:xfrm>
          <a:prstGeom prst="line">
            <a:avLst/>
          </a:prstGeom>
          <a:solidFill>
            <a:schemeClr val="bg1">
              <a:lumMod val="65000"/>
            </a:schemeClr>
          </a:solidFill>
          <a:ln w="25400">
            <a:gradFill>
              <a:gsLst>
                <a:gs pos="8000">
                  <a:schemeClr val="bg1"/>
                </a:gs>
                <a:gs pos="100000">
                  <a:schemeClr val="bg1">
                    <a:lumMod val="65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49" name="椭圆 48"/>
          <p:cNvSpPr/>
          <p:nvPr>
            <p:custDataLst>
              <p:tags r:id="rId29"/>
            </p:custDataLst>
          </p:nvPr>
        </p:nvSpPr>
        <p:spPr>
          <a:xfrm>
            <a:off x="5580381" y="3355340"/>
            <a:ext cx="93345" cy="94615"/>
          </a:xfrm>
          <a:prstGeom prst="ellipse">
            <a:avLst/>
          </a:prstGeom>
          <a:solidFill>
            <a:schemeClr val="bg1">
              <a:lumMod val="65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cs typeface="微软雅黑" panose="020B0503020204020204" charset="-122"/>
            </a:endParaRPr>
          </a:p>
        </p:txBody>
      </p:sp>
      <p:sp>
        <p:nvSpPr>
          <p:cNvPr id="50" name="矩形 49"/>
          <p:cNvSpPr/>
          <p:nvPr>
            <p:custDataLst>
              <p:tags r:id="rId30"/>
            </p:custDataLst>
          </p:nvPr>
        </p:nvSpPr>
        <p:spPr>
          <a:xfrm>
            <a:off x="5756911" y="3825240"/>
            <a:ext cx="2600325" cy="1056640"/>
          </a:xfrm>
          <a:prstGeom prst="rect">
            <a:avLst/>
          </a:prstGeom>
          <a:noFill/>
        </p:spPr>
        <p:txBody>
          <a:bodyPr wrap="square" lIns="0" tIns="0" rIns="0" bIns="0" rtlCol="0" anchor="b" anchorCtr="0">
            <a:noAutofit/>
          </a:bodyPr>
          <a:p>
            <a:pPr defTabSz="457200">
              <a:lnSpc>
                <a:spcPct val="150000"/>
              </a:lnSpc>
              <a:spcBef>
                <a:spcPct val="0"/>
              </a:spcBef>
              <a:spcAft>
                <a:spcPct val="0"/>
              </a:spcAft>
            </a:pPr>
            <a:r>
              <a:rPr lang="en-US" altLang="zh-CN" sz="1600" kern="0" dirty="0">
                <a:ln>
                  <a:noFill/>
                  <a:prstDash val="sysDot"/>
                </a:ln>
                <a:solidFill>
                  <a:schemeClr val="tx1">
                    <a:lumMod val="85000"/>
                    <a:lumOff val="15000"/>
                  </a:schemeClr>
                </a:solidFill>
                <a:latin typeface="+mn-ea"/>
                <a:cs typeface="+mn-ea"/>
                <a:sym typeface="+mn-ea"/>
              </a:rPr>
              <a:t>Statistical queries support date-range filtering.</a:t>
            </a:r>
            <a:endParaRPr lang="en-US" altLang="zh-CN" sz="1600" kern="0" dirty="0">
              <a:ln>
                <a:noFill/>
                <a:prstDash val="sysDot"/>
              </a:ln>
              <a:solidFill>
                <a:schemeClr val="tx1">
                  <a:lumMod val="85000"/>
                  <a:lumOff val="15000"/>
                </a:schemeClr>
              </a:solidFill>
              <a:latin typeface="+mn-ea"/>
              <a:cs typeface="+mn-ea"/>
              <a:sym typeface="+mn-ea"/>
            </a:endParaRPr>
          </a:p>
        </p:txBody>
      </p:sp>
      <p:sp>
        <p:nvSpPr>
          <p:cNvPr id="51" name="流程图: 延期 50"/>
          <p:cNvSpPr/>
          <p:nvPr>
            <p:custDataLst>
              <p:tags r:id="rId31"/>
            </p:custDataLst>
          </p:nvPr>
        </p:nvSpPr>
        <p:spPr>
          <a:xfrm>
            <a:off x="5638801" y="5074285"/>
            <a:ext cx="474345" cy="506730"/>
          </a:xfrm>
          <a:prstGeom prst="flowChartDelay">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spcBef>
                <a:spcPct val="0"/>
              </a:spcBef>
              <a:spcAft>
                <a:spcPct val="0"/>
              </a:spcAft>
              <a:buClrTx/>
              <a:buSzTx/>
              <a:buFontTx/>
            </a:pPr>
            <a:r>
              <a:rPr lang="en-US" altLang="zh-CN" sz="1600" b="1">
                <a:solidFill>
                  <a:srgbClr val="FFFFFF"/>
                </a:solidFill>
                <a:effectLst>
                  <a:outerShdw blurRad="50800" dist="38100" dir="5400000" algn="t" rotWithShape="0">
                    <a:schemeClr val="accent2">
                      <a:lumMod val="75000"/>
                      <a:alpha val="40000"/>
                    </a:schemeClr>
                  </a:outerShdw>
                </a:effectLst>
                <a:latin typeface="+mn-ea"/>
                <a:cs typeface="+mn-ea"/>
                <a:sym typeface="+mn-ea"/>
              </a:rPr>
              <a:t>04</a:t>
            </a:r>
            <a:endParaRPr lang="en-US" altLang="zh-CN" sz="1600" b="1" dirty="0">
              <a:solidFill>
                <a:srgbClr val="FFFFFF"/>
              </a:solidFill>
              <a:effectLst>
                <a:outerShdw blurRad="50800" dist="38100" dir="5400000" algn="t" rotWithShape="0">
                  <a:schemeClr val="accent2">
                    <a:lumMod val="75000"/>
                    <a:alpha val="40000"/>
                  </a:schemeClr>
                </a:outerShdw>
              </a:effectLst>
              <a:latin typeface="+mn-ea"/>
              <a:cs typeface="+mn-ea"/>
              <a:sym typeface="+mn-ea"/>
            </a:endParaRPr>
          </a:p>
        </p:txBody>
      </p:sp>
      <p:sp>
        <p:nvSpPr>
          <p:cNvPr id="52" name="矩形 51"/>
          <p:cNvSpPr/>
          <p:nvPr>
            <p:custDataLst>
              <p:tags r:id="rId32"/>
            </p:custDataLst>
          </p:nvPr>
        </p:nvSpPr>
        <p:spPr>
          <a:xfrm>
            <a:off x="6336666" y="5135880"/>
            <a:ext cx="2039620" cy="401320"/>
          </a:xfrm>
          <a:prstGeom prst="rect">
            <a:avLst/>
          </a:prstGeom>
          <a:noFill/>
        </p:spPr>
        <p:txBody>
          <a:bodyPr wrap="square" lIns="0" tIns="0" rIns="0" bIns="0" rtlCol="0" anchor="ctr" anchorCtr="0">
            <a:noAutofit/>
          </a:bodyPr>
          <a:p>
            <a:pPr>
              <a:spcBef>
                <a:spcPct val="0"/>
              </a:spcBef>
              <a:spcAft>
                <a:spcPct val="0"/>
              </a:spcAft>
            </a:pPr>
            <a:r>
              <a:rPr lang="en-US" altLang="zh-CN" b="1" dirty="0">
                <a:solidFill>
                  <a:srgbClr val="388BA5"/>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rPr>
              <a:t>Date Filtering</a:t>
            </a:r>
            <a:endParaRPr lang="en-US" altLang="zh-CN" b="1" dirty="0">
              <a:solidFill>
                <a:srgbClr val="388BA5"/>
              </a:solidFill>
              <a:latin typeface="微软雅黑" panose="020B0503020204020204" charset="-122"/>
              <a:ea typeface="微软雅黑" panose="020B050302020402020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351244"/>
            <a:ext cx="7196034" cy="1142566"/>
          </a:xfrm>
          <a:prstGeom prst="rect">
            <a:avLst/>
          </a:prstGeom>
        </p:spPr>
      </p:pic>
      <p:sp>
        <p:nvSpPr>
          <p:cNvPr id="3" name="矩形 2"/>
          <p:cNvSpPr/>
          <p:nvPr/>
        </p:nvSpPr>
        <p:spPr>
          <a:xfrm>
            <a:off x="3807460" y="2722245"/>
            <a:ext cx="457708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RESTful API service module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4389755" y="1085422"/>
            <a:ext cx="3412490" cy="1445260"/>
          </a:xfrm>
          <a:prstGeom prst="rect">
            <a:avLst/>
          </a:prstGeom>
          <a:noFill/>
        </p:spPr>
        <p:txBody>
          <a:bodyPr wrap="none" rtlCol="0">
            <a:spAutoFit/>
          </a:bodyPr>
          <a:lstStyle/>
          <a:p>
            <a:pPr algn="l"/>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Task 4</a:t>
            </a:r>
            <a:endParaRPr lang="en-US" altLang="zh-CN" sz="8800" dirty="0">
              <a:ln>
                <a:noFill/>
              </a:ln>
              <a:solidFill>
                <a:schemeClr val="bg1"/>
              </a:solidFill>
              <a:effectLst>
                <a:glow rad="63500">
                  <a:schemeClr val="accent5">
                    <a:satMod val="175000"/>
                    <a:alpha val="40000"/>
                  </a:scheme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nvSpPr>
        <p:spPr>
          <a:xfrm>
            <a:off x="3847148" y="3449320"/>
            <a:ext cx="4497705" cy="414020"/>
          </a:xfrm>
          <a:prstGeom prst="rect">
            <a:avLst/>
          </a:prstGeom>
        </p:spPr>
        <p:txBody>
          <a:bodyPr wrap="square">
            <a:spAutoFit/>
          </a:bodyPr>
          <a:lstStyle/>
          <a:p>
            <a:pPr algn="ctr">
              <a:lnSpc>
                <a:spcPct val="150000"/>
              </a:lnSpc>
            </a:pPr>
            <a:r>
              <a:rPr lang="en-US" altLang="zh-CN" sz="1400" dirty="0">
                <a:solidFill>
                  <a:srgbClr val="388BA5"/>
                </a:solidFill>
                <a:effectLst>
                  <a:outerShdw blurRad="38100" dist="38100" dir="2700000" algn="tl">
                    <a:srgbClr val="000000">
                      <a:alpha val="43137"/>
                    </a:srgbClr>
                  </a:outerShdw>
                </a:effectLst>
                <a:cs typeface="+mn-ea"/>
                <a:sym typeface="+mn-lt"/>
              </a:rPr>
              <a:t>Owner: Tang Ranran</a:t>
            </a:r>
            <a:endParaRPr lang="en-US" altLang="zh-CN" sz="1400" dirty="0">
              <a:solidFill>
                <a:srgbClr val="388BA5"/>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lt"/>
              </a:rPr>
              <a:t>RESTful API Service Module</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4</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6" name="矩形 5"/>
          <p:cNvSpPr/>
          <p:nvPr/>
        </p:nvSpPr>
        <p:spPr>
          <a:xfrm>
            <a:off x="513715" y="1379220"/>
            <a:ext cx="7144385" cy="3015615"/>
          </a:xfrm>
          <a:prstGeom prst="rect">
            <a:avLst/>
          </a:prstGeom>
          <a:solidFill>
            <a:srgbClr val="388BA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lnSpc>
                <a:spcPct val="110000"/>
              </a:lnSpc>
              <a:spcBef>
                <a:spcPts val="600"/>
              </a:spcBef>
              <a:buClrTx/>
              <a:buSzTx/>
              <a:buFontTx/>
            </a:pPr>
            <a:r>
              <a:rPr lang="en-US" altLang="zh-CN" spc="150" dirty="0">
                <a:solidFill>
                  <a:schemeClr val="bg1"/>
                </a:solidFill>
                <a:latin typeface="Times New Roman" panose="02020603050405020304" charset="0"/>
                <a:cs typeface="Times New Roman" panose="02020603050405020304" charset="0"/>
                <a:sym typeface="+mn-ea"/>
              </a:rPr>
              <a:t>1. Build a Web Server: Enable the frontend to call backend functions over the network</a:t>
            </a:r>
            <a:endParaRPr lang="en-US" altLang="zh-CN" i="0" spc="150" dirty="0">
              <a:solidFill>
                <a:schemeClr val="bg1"/>
              </a:solidFill>
              <a:latin typeface="Times New Roman" panose="02020603050405020304" charset="0"/>
              <a:cs typeface="Times New Roman" panose="02020603050405020304" charset="0"/>
            </a:endParaRPr>
          </a:p>
          <a:p>
            <a:pPr indent="0" algn="l" fontAlgn="auto">
              <a:lnSpc>
                <a:spcPct val="110000"/>
              </a:lnSpc>
              <a:spcBef>
                <a:spcPts val="600"/>
              </a:spcBef>
              <a:buClrTx/>
              <a:buSzTx/>
              <a:buFontTx/>
            </a:pPr>
            <a:r>
              <a:rPr lang="en-US" altLang="zh-CN" spc="150" dirty="0">
                <a:solidFill>
                  <a:schemeClr val="bg1"/>
                </a:solidFill>
                <a:latin typeface="Times New Roman" panose="02020603050405020304" charset="0"/>
                <a:cs typeface="Times New Roman" panose="02020603050405020304" charset="0"/>
                <a:sym typeface="+mn-ea"/>
              </a:rPr>
              <a:t>2. Define Data Interfaces: Provide standardized data access methods for the frontend</a:t>
            </a:r>
            <a:endParaRPr lang="en-US" altLang="zh-CN" i="0" spc="150" dirty="0">
              <a:solidFill>
                <a:schemeClr val="bg1"/>
              </a:solidFill>
              <a:latin typeface="Times New Roman" panose="02020603050405020304" charset="0"/>
              <a:cs typeface="Times New Roman" panose="02020603050405020304" charset="0"/>
            </a:endParaRPr>
          </a:p>
          <a:p>
            <a:pPr indent="0" algn="l" fontAlgn="auto">
              <a:lnSpc>
                <a:spcPct val="110000"/>
              </a:lnSpc>
              <a:spcBef>
                <a:spcPts val="600"/>
              </a:spcBef>
              <a:buClrTx/>
              <a:buSzTx/>
              <a:buFontTx/>
            </a:pPr>
            <a:r>
              <a:rPr lang="en-US" altLang="zh-CN" spc="150" dirty="0">
                <a:solidFill>
                  <a:schemeClr val="bg1"/>
                </a:solidFill>
                <a:latin typeface="Times New Roman" panose="02020603050405020304" charset="0"/>
                <a:cs typeface="Times New Roman" panose="02020603050405020304" charset="0"/>
                <a:sym typeface="+mn-ea"/>
              </a:rPr>
              <a:t>3. Handle Frontend-Backend Communication: Ensure data can be correctly transmitted between frontend and backend</a:t>
            </a:r>
            <a:endParaRPr lang="en-US" altLang="zh-CN" i="0" spc="150" dirty="0">
              <a:solidFill>
                <a:schemeClr val="bg1"/>
              </a:solidFill>
              <a:latin typeface="Times New Roman" panose="02020603050405020304" charset="0"/>
              <a:cs typeface="Times New Roman" panose="02020603050405020304" charset="0"/>
            </a:endParaRPr>
          </a:p>
          <a:p>
            <a:pPr indent="0" algn="l" fontAlgn="auto">
              <a:lnSpc>
                <a:spcPct val="110000"/>
              </a:lnSpc>
              <a:spcBef>
                <a:spcPts val="600"/>
              </a:spcBef>
              <a:buClrTx/>
              <a:buSzTx/>
              <a:buFontTx/>
            </a:pPr>
            <a:r>
              <a:rPr lang="en-US" altLang="zh-CN" spc="150" dirty="0">
                <a:solidFill>
                  <a:schemeClr val="bg1"/>
                </a:solidFill>
                <a:latin typeface="Times New Roman" panose="02020603050405020304" charset="0"/>
                <a:cs typeface="Times New Roman" panose="02020603050405020304" charset="0"/>
                <a:sym typeface="+mn-ea"/>
              </a:rPr>
              <a:t>4. Error Handling: Provide a unified error response mechanism</a:t>
            </a:r>
            <a:endParaRPr lang="en-US" altLang="zh-CN" spc="150" dirty="0">
              <a:solidFill>
                <a:schemeClr val="bg1"/>
              </a:solidFill>
              <a:latin typeface="Times New Roman" panose="02020603050405020304" charset="0"/>
              <a:cs typeface="Times New Roman" panose="02020603050405020304" charset="0"/>
              <a:sym typeface="+mn-ea"/>
            </a:endParaRPr>
          </a:p>
        </p:txBody>
      </p:sp>
      <p:sp>
        <p:nvSpPr>
          <p:cNvPr id="5" name="矩形 4"/>
          <p:cNvSpPr/>
          <p:nvPr/>
        </p:nvSpPr>
        <p:spPr>
          <a:xfrm>
            <a:off x="703580" y="1025525"/>
            <a:ext cx="3854450" cy="5791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spcBef>
                <a:spcPts val="600"/>
              </a:spcBef>
              <a:buClrTx/>
              <a:buSzTx/>
              <a:buFontTx/>
            </a:pPr>
            <a:r>
              <a:rPr lang="en-US" altLang="zh-CN" sz="2000" b="1" spc="150"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Core Problems to Solve</a:t>
            </a:r>
            <a:endParaRPr lang="en-US" altLang="zh-CN" sz="2000" b="1" spc="150"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endParaRPr>
          </a:p>
        </p:txBody>
      </p:sp>
      <p:sp>
        <p:nvSpPr>
          <p:cNvPr id="11" name="圆角矩形 10"/>
          <p:cNvSpPr/>
          <p:nvPr/>
        </p:nvSpPr>
        <p:spPr>
          <a:xfrm>
            <a:off x="794385" y="4676140"/>
            <a:ext cx="8344535" cy="137858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spcBef>
                <a:spcPts val="600"/>
              </a:spcBef>
              <a:buClrTx/>
              <a:buSzTx/>
              <a:buFontTx/>
            </a:pPr>
            <a:r>
              <a:rPr lang="en-US" altLang="zh-CN" b="1" spc="150" dirty="0">
                <a:solidFill>
                  <a:schemeClr val="tx1">
                    <a:lumMod val="50000"/>
                    <a:lumOff val="50000"/>
                  </a:schemeClr>
                </a:solidFill>
                <a:latin typeface="Times New Roman" panose="02020603050405020304" charset="0"/>
                <a:cs typeface="Times New Roman" panose="02020603050405020304" charset="0"/>
                <a:sym typeface="+mn-ea"/>
              </a:rPr>
              <a:t>3. Data Serialization/Deserialization</a:t>
            </a:r>
            <a:endParaRPr lang="en-US" altLang="zh-CN"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b="1" spc="150" dirty="0">
                <a:solidFill>
                  <a:schemeClr val="tx1">
                    <a:lumMod val="50000"/>
                    <a:lumOff val="50000"/>
                  </a:schemeClr>
                </a:solidFill>
                <a:latin typeface="Times New Roman" panose="02020603050405020304" charset="0"/>
                <a:cs typeface="Times New Roman" panose="02020603050405020304" charset="0"/>
                <a:sym typeface="+mn-ea"/>
              </a:rPr>
              <a:t>4. Error Handling Mechanism</a:t>
            </a:r>
            <a:endParaRPr lang="en-US" altLang="zh-CN"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b="1" spc="150" dirty="0">
                <a:solidFill>
                  <a:schemeClr val="tx1">
                    <a:lumMod val="50000"/>
                    <a:lumOff val="50000"/>
                  </a:schemeClr>
                </a:solidFill>
                <a:latin typeface="Times New Roman" panose="02020603050405020304" charset="0"/>
                <a:cs typeface="Times New Roman" panose="02020603050405020304" charset="0"/>
                <a:sym typeface="+mn-ea"/>
              </a:rPr>
              <a:t>5. CORS Configuration (Cross-Origin Resource Sharing)</a:t>
            </a:r>
            <a:endParaRPr lang="en-US" altLang="zh-CN"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spcBef>
                <a:spcPts val="600"/>
              </a:spcBef>
              <a:buClrTx/>
              <a:buSzTx/>
              <a:buFontTx/>
            </a:pPr>
            <a:r>
              <a:rPr lang="en-US" altLang="zh-CN" b="1" spc="150" dirty="0">
                <a:solidFill>
                  <a:schemeClr val="tx1">
                    <a:lumMod val="50000"/>
                    <a:lumOff val="50000"/>
                  </a:schemeClr>
                </a:solidFill>
                <a:latin typeface="Times New Roman" panose="02020603050405020304" charset="0"/>
                <a:cs typeface="Times New Roman" panose="02020603050405020304" charset="0"/>
                <a:sym typeface="+mn-ea"/>
              </a:rPr>
              <a:t>6. Database Connection Sharing</a:t>
            </a:r>
            <a:endParaRPr lang="zh-CN" altLang="en-US"/>
          </a:p>
        </p:txBody>
      </p:sp>
      <p:sp>
        <p:nvSpPr>
          <p:cNvPr id="8" name="对角圆角矩形 7"/>
          <p:cNvSpPr/>
          <p:nvPr/>
        </p:nvSpPr>
        <p:spPr>
          <a:xfrm>
            <a:off x="7527925" y="2818765"/>
            <a:ext cx="4135755" cy="2124075"/>
          </a:xfrm>
          <a:prstGeom prst="round2DiagRect">
            <a:avLst/>
          </a:prstGeom>
          <a:solidFill>
            <a:srgbClr val="388BA5">
              <a:alpha val="7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fontAlgn="auto">
              <a:spcBef>
                <a:spcPts val="600"/>
              </a:spcBef>
              <a:buClrTx/>
              <a:buSzTx/>
              <a:buFontTx/>
            </a:pPr>
            <a:r>
              <a:rPr lang="en-US" altLang="zh-CN" b="1" spc="150" dirty="0">
                <a:solidFill>
                  <a:schemeClr val="bg1">
                    <a:lumMod val="95000"/>
                  </a:schemeClr>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1. Establish API Routing System</a:t>
            </a:r>
            <a:endParaRPr lang="en-US" altLang="zh-CN" b="1" i="0" spc="150" dirty="0">
              <a:solidFill>
                <a:schemeClr val="bg1">
                  <a:lumMod val="95000"/>
                </a:schemeClr>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indent="0" algn="l" fontAlgn="auto">
              <a:spcBef>
                <a:spcPts val="600"/>
              </a:spcBef>
              <a:buClrTx/>
              <a:buSzTx/>
              <a:buFontTx/>
            </a:pPr>
            <a:r>
              <a:rPr lang="en-US" altLang="zh-CN" b="1" spc="150" dirty="0">
                <a:solidFill>
                  <a:schemeClr val="bg1">
                    <a:lumMod val="95000"/>
                  </a:schemeClr>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2. Implement Handler Functions for Each Endpoint</a:t>
            </a:r>
            <a:endParaRPr lang="en-US" altLang="zh-CN" b="1" spc="150" dirty="0">
              <a:solidFill>
                <a:schemeClr val="bg1">
                  <a:lumMod val="95000"/>
                </a:schemeClr>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endParaRPr>
          </a:p>
        </p:txBody>
      </p:sp>
      <p:sp>
        <p:nvSpPr>
          <p:cNvPr id="7" name="文本框 6"/>
          <p:cNvSpPr txBox="1"/>
          <p:nvPr/>
        </p:nvSpPr>
        <p:spPr>
          <a:xfrm>
            <a:off x="860425" y="-2192655"/>
            <a:ext cx="6096000" cy="368300"/>
          </a:xfrm>
          <a:prstGeom prst="rect">
            <a:avLst/>
          </a:prstGeom>
          <a:noFill/>
        </p:spPr>
        <p:txBody>
          <a:bodyPr wrap="square" rtlCol="0" anchor="t">
            <a:spAutoFit/>
          </a:bodyPr>
          <a:p>
            <a:pPr indent="0" algn="l" fontAlgn="auto">
              <a:spcBef>
                <a:spcPts val="600"/>
              </a:spcBef>
              <a:buClrTx/>
              <a:buSzTx/>
              <a:buFontTx/>
            </a:pPr>
            <a:r>
              <a:rPr lang="en-US" altLang="zh-CN" b="1" spc="150" dirty="0">
                <a:solidFill>
                  <a:schemeClr val="tx1">
                    <a:lumMod val="50000"/>
                    <a:lumOff val="50000"/>
                  </a:schemeClr>
                </a:solidFill>
                <a:latin typeface="Times New Roman" panose="02020603050405020304" charset="0"/>
                <a:cs typeface="Times New Roman" panose="02020603050405020304" charset="0"/>
                <a:sym typeface="+mn-ea"/>
              </a:rPr>
              <a:t>   </a:t>
            </a:r>
            <a:endParaRPr lang="en-US" altLang="zh-CN" b="1" spc="150" dirty="0">
              <a:solidFill>
                <a:schemeClr val="tx1">
                  <a:lumMod val="50000"/>
                  <a:lumOff val="50000"/>
                </a:schemeClr>
              </a:solidFill>
              <a:latin typeface="Times New Roman" panose="02020603050405020304" charset="0"/>
              <a:cs typeface="Times New Roman" panose="02020603050405020304" charset="0"/>
              <a:sym typeface="+mn-ea"/>
            </a:endParaRPr>
          </a:p>
        </p:txBody>
      </p:sp>
      <p:sp>
        <p:nvSpPr>
          <p:cNvPr id="9" name="文本框 8"/>
          <p:cNvSpPr txBox="1"/>
          <p:nvPr/>
        </p:nvSpPr>
        <p:spPr>
          <a:xfrm>
            <a:off x="8846185" y="1921510"/>
            <a:ext cx="2235200" cy="706755"/>
          </a:xfrm>
          <a:prstGeom prst="rect">
            <a:avLst/>
          </a:prstGeom>
          <a:noFill/>
        </p:spPr>
        <p:txBody>
          <a:bodyPr wrap="square" rtlCol="0" anchor="t">
            <a:spAutoFit/>
          </a:bodyPr>
          <a:p>
            <a:pPr indent="0" algn="l" fontAlgn="auto">
              <a:spcBef>
                <a:spcPts val="600"/>
              </a:spcBef>
              <a:buClrTx/>
              <a:buSzTx/>
              <a:buFontTx/>
            </a:pPr>
            <a:r>
              <a:rPr lang="en-US" altLang="zh-CN" sz="2000" b="1" spc="150" dirty="0">
                <a:solidFill>
                  <a:srgbClr val="388BA5"/>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Specific Tasks to Complete</a:t>
            </a:r>
            <a:endParaRPr lang="en-US" altLang="zh-CN" sz="2000" b="1" spc="150" dirty="0">
              <a:solidFill>
                <a:srgbClr val="388BA5"/>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endParaRPr>
          </a:p>
        </p:txBody>
      </p:sp>
      <p:pic>
        <p:nvPicPr>
          <p:cNvPr id="10" name="图片 9" descr="老师-书写笔"/>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38920" y="780415"/>
            <a:ext cx="914400" cy="914400"/>
          </a:xfrm>
          <a:prstGeom prst="rect">
            <a:avLst/>
          </a:prstGeom>
        </p:spPr>
      </p:pic>
      <p:sp>
        <p:nvSpPr>
          <p:cNvPr id="13" name="圆角右箭头 12"/>
          <p:cNvSpPr/>
          <p:nvPr/>
        </p:nvSpPr>
        <p:spPr>
          <a:xfrm rot="10800000">
            <a:off x="9512935" y="5106670"/>
            <a:ext cx="662305" cy="662305"/>
          </a:xfrm>
          <a:prstGeom prst="bentArrow">
            <a:avLst/>
          </a:prstGeom>
          <a:solidFill>
            <a:srgbClr val="6FA9B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indent="0" algn="l" fontAlgn="auto">
              <a:spcBef>
                <a:spcPts val="600"/>
              </a:spcBef>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Team Coliaboration</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4</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custDataLst>
              <p:tags r:id="rId1"/>
            </p:custDataLst>
          </p:nvPr>
        </p:nvSpPr>
        <p:spPr>
          <a:xfrm>
            <a:off x="783908" y="1113790"/>
            <a:ext cx="2800706" cy="1195446"/>
          </a:xfrm>
          <a:prstGeom prst="rect">
            <a:avLst/>
          </a:prstGeom>
          <a:noFill/>
        </p:spPr>
        <p:txBody>
          <a:bodyPr wrap="none" lIns="0" tIns="0" rIns="0" bIns="0" rtlCol="0" anchor="b" anchorCtr="0">
            <a:normAutofit/>
          </a:bodyPr>
          <a:p>
            <a:pPr>
              <a:spcBef>
                <a:spcPct val="0"/>
              </a:spcBef>
              <a:spcAft>
                <a:spcPct val="0"/>
              </a:spcAft>
            </a:pPr>
            <a:r>
              <a:rPr lang="en-US" altLang="zh-CN" sz="6600" b="1" dirty="0">
                <a:solidFill>
                  <a:schemeClr val="accent1">
                    <a:lumMod val="40000"/>
                    <a:lumOff val="60000"/>
                  </a:schemeClr>
                </a:solidFill>
                <a:latin typeface="+mn-ea"/>
                <a:cs typeface="+mn-ea"/>
              </a:rPr>
              <a:t>01</a:t>
            </a:r>
            <a:endParaRPr lang="en-US" altLang="zh-CN" sz="6600" b="1" dirty="0">
              <a:solidFill>
                <a:schemeClr val="accent1">
                  <a:lumMod val="40000"/>
                  <a:lumOff val="60000"/>
                </a:schemeClr>
              </a:solidFill>
              <a:latin typeface="+mn-ea"/>
              <a:cs typeface="+mn-ea"/>
            </a:endParaRPr>
          </a:p>
        </p:txBody>
      </p:sp>
      <p:sp>
        <p:nvSpPr>
          <p:cNvPr id="6" name="矩形 5"/>
          <p:cNvSpPr/>
          <p:nvPr>
            <p:custDataLst>
              <p:tags r:id="rId2"/>
            </p:custDataLst>
          </p:nvPr>
        </p:nvSpPr>
        <p:spPr>
          <a:xfrm>
            <a:off x="783908" y="2536190"/>
            <a:ext cx="2800985" cy="669290"/>
          </a:xfrm>
          <a:prstGeom prst="rect">
            <a:avLst/>
          </a:prstGeom>
          <a:noFill/>
        </p:spPr>
        <p:txBody>
          <a:bodyPr wrap="square" lIns="0" tIns="0" rIns="0" bIns="0" rtlCol="0" anchor="ctr" anchorCtr="0">
            <a:noAutofit/>
          </a:bodyPr>
          <a:p>
            <a:pPr algn="l">
              <a:buClrTx/>
              <a:buSzTx/>
              <a:buFontTx/>
            </a:pPr>
            <a:r>
              <a:rPr lang="en-US" altLang="zh-CN" b="1" dirty="0">
                <a:solidFill>
                  <a:schemeClr val="accent1">
                    <a:lumMod val="60000"/>
                    <a:lumOff val="40000"/>
                  </a:schemeClr>
                </a:solidFill>
                <a:latin typeface="+mn-ea"/>
                <a:cs typeface="+mn-ea"/>
                <a:sym typeface="+mn-ea"/>
              </a:rPr>
              <a:t>With Database Developer (Task 3):</a:t>
            </a:r>
            <a:endParaRPr lang="en-US" altLang="zh-CN" b="1" dirty="0">
              <a:solidFill>
                <a:schemeClr val="accent1">
                  <a:lumMod val="60000"/>
                  <a:lumOff val="40000"/>
                </a:schemeClr>
              </a:solidFill>
              <a:latin typeface="+mn-ea"/>
              <a:cs typeface="+mn-ea"/>
              <a:sym typeface="+mn-ea"/>
            </a:endParaRPr>
          </a:p>
        </p:txBody>
      </p:sp>
      <p:sp>
        <p:nvSpPr>
          <p:cNvPr id="7" name="矩形 6"/>
          <p:cNvSpPr/>
          <p:nvPr>
            <p:custDataLst>
              <p:tags r:id="rId3"/>
            </p:custDataLst>
          </p:nvPr>
        </p:nvSpPr>
        <p:spPr>
          <a:xfrm>
            <a:off x="4567873" y="1113790"/>
            <a:ext cx="2800706" cy="1195446"/>
          </a:xfrm>
          <a:prstGeom prst="rect">
            <a:avLst/>
          </a:prstGeom>
          <a:noFill/>
        </p:spPr>
        <p:txBody>
          <a:bodyPr wrap="none" lIns="0" tIns="0" rIns="0" bIns="0" rtlCol="0" anchor="b" anchorCtr="0">
            <a:normAutofit/>
          </a:bodyPr>
          <a:p>
            <a:pPr lvl="0" algn="l">
              <a:buClrTx/>
              <a:buSzTx/>
              <a:buFontTx/>
            </a:pPr>
            <a:r>
              <a:rPr lang="en-US" altLang="zh-CN" sz="6600" b="1" dirty="0">
                <a:solidFill>
                  <a:srgbClr val="388BA5">
                    <a:alpha val="60000"/>
                  </a:srgbClr>
                </a:solidFill>
                <a:latin typeface="+mn-ea"/>
                <a:cs typeface="+mn-ea"/>
                <a:sym typeface="+mn-ea"/>
              </a:rPr>
              <a:t>02</a:t>
            </a:r>
            <a:endParaRPr lang="en-US" altLang="zh-CN" sz="6600" b="1" dirty="0">
              <a:solidFill>
                <a:srgbClr val="388BA5">
                  <a:alpha val="60000"/>
                </a:srgbClr>
              </a:solidFill>
              <a:latin typeface="+mn-ea"/>
              <a:cs typeface="+mn-ea"/>
              <a:sym typeface="+mn-ea"/>
            </a:endParaRPr>
          </a:p>
        </p:txBody>
      </p:sp>
      <p:sp>
        <p:nvSpPr>
          <p:cNvPr id="9" name="矩形 8"/>
          <p:cNvSpPr/>
          <p:nvPr>
            <p:custDataLst>
              <p:tags r:id="rId4"/>
            </p:custDataLst>
          </p:nvPr>
        </p:nvSpPr>
        <p:spPr>
          <a:xfrm>
            <a:off x="4567873" y="2536190"/>
            <a:ext cx="2800985" cy="669290"/>
          </a:xfrm>
          <a:prstGeom prst="rect">
            <a:avLst/>
          </a:prstGeom>
          <a:noFill/>
        </p:spPr>
        <p:txBody>
          <a:bodyPr wrap="square" lIns="0" tIns="0" rIns="0" bIns="0" rtlCol="0" anchor="ctr" anchorCtr="0">
            <a:noAutofit/>
          </a:bodyPr>
          <a:p>
            <a:pPr algn="l" fontAlgn="auto">
              <a:spcBef>
                <a:spcPts val="600"/>
              </a:spcBef>
              <a:buClrTx/>
              <a:buSzTx/>
              <a:buFontTx/>
            </a:pPr>
            <a:r>
              <a:rPr lang="en-US" altLang="zh-CN" sz="1800" b="1" dirty="0">
                <a:solidFill>
                  <a:srgbClr val="7EAFBF"/>
                </a:solidFill>
                <a:latin typeface="+mn-ea"/>
                <a:cs typeface="+mn-ea"/>
                <a:sym typeface="+mn-ea"/>
              </a:rPr>
              <a:t>With Frontend Developer:</a:t>
            </a:r>
            <a:endParaRPr lang="en-US" altLang="zh-CN" sz="1800" b="1" dirty="0">
              <a:solidFill>
                <a:srgbClr val="7EAFBF"/>
              </a:solidFill>
              <a:latin typeface="+mn-ea"/>
              <a:cs typeface="+mn-ea"/>
              <a:sym typeface="+mn-ea"/>
            </a:endParaRPr>
          </a:p>
        </p:txBody>
      </p:sp>
      <p:sp>
        <p:nvSpPr>
          <p:cNvPr id="14" name="矩形 13"/>
          <p:cNvSpPr/>
          <p:nvPr>
            <p:custDataLst>
              <p:tags r:id="rId5"/>
            </p:custDataLst>
          </p:nvPr>
        </p:nvSpPr>
        <p:spPr>
          <a:xfrm>
            <a:off x="4568190" y="3289300"/>
            <a:ext cx="3039745" cy="2639060"/>
          </a:xfrm>
          <a:prstGeom prst="rect">
            <a:avLst/>
          </a:prstGeom>
          <a:ln>
            <a:noFill/>
            <a:prstDash val="sysDash"/>
          </a:ln>
        </p:spPr>
        <p:txBody>
          <a:bodyPr vert="horz" wrap="square" lIns="0" tIns="0" rIns="0" bIns="0" rtlCol="0">
            <a:noAutofit/>
          </a:bodyPr>
          <a:p>
            <a:pPr algn="l" fontAlgn="auto">
              <a:lnSpc>
                <a:spcPct val="120000"/>
              </a:lnSpc>
              <a:spcBef>
                <a:spcPts val="600"/>
              </a:spcBef>
              <a:buClrTx/>
              <a:buSzTx/>
              <a:buFontTx/>
              <a:buNone/>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Determine API response formats</a:t>
            </a:r>
            <a:endParaRPr lang="en-US" altLang="zh-CN" sz="1600" b="1" i="0" spc="150" dirty="0">
              <a:solidFill>
                <a:schemeClr val="tx1">
                  <a:lumMod val="50000"/>
                  <a:lumOff val="50000"/>
                </a:schemeClr>
              </a:solidFill>
              <a:latin typeface="Times New Roman" panose="02020603050405020304" charset="0"/>
              <a:cs typeface="Times New Roman" panose="02020603050405020304" charset="0"/>
            </a:endParaRPr>
          </a:p>
          <a:p>
            <a:pPr algn="l" fontAlgn="auto">
              <a:lnSpc>
                <a:spcPct val="120000"/>
              </a:lnSpc>
              <a:spcBef>
                <a:spcPts val="600"/>
              </a:spcBef>
              <a:buClrTx/>
              <a:buSzTx/>
              <a:buFontTx/>
              <a:buNone/>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Negotiate error handling methods</a:t>
            </a:r>
            <a:endParaRPr lang="en-US" altLang="zh-CN" sz="1600" b="1" i="0" spc="150" dirty="0">
              <a:solidFill>
                <a:schemeClr val="tx1">
                  <a:lumMod val="50000"/>
                  <a:lumOff val="50000"/>
                </a:schemeClr>
              </a:solidFill>
              <a:latin typeface="Times New Roman" panose="02020603050405020304" charset="0"/>
              <a:cs typeface="Times New Roman" panose="02020603050405020304" charset="0"/>
            </a:endParaRPr>
          </a:p>
          <a:p>
            <a:pPr algn="l" fontAlgn="auto">
              <a:lnSpc>
                <a:spcPct val="120000"/>
              </a:lnSpc>
              <a:spcBef>
                <a:spcPts val="600"/>
              </a:spcBef>
              <a:buClrTx/>
              <a:buSzTx/>
              <a:buFontTx/>
              <a:buNone/>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Define parameter formats for pagination, sorting, etc.</a:t>
            </a:r>
            <a:endPar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endParaRPr>
          </a:p>
        </p:txBody>
      </p:sp>
      <p:sp>
        <p:nvSpPr>
          <p:cNvPr id="18" name="矩形 17"/>
          <p:cNvSpPr/>
          <p:nvPr>
            <p:custDataLst>
              <p:tags r:id="rId6"/>
            </p:custDataLst>
          </p:nvPr>
        </p:nvSpPr>
        <p:spPr>
          <a:xfrm>
            <a:off x="8351203" y="1113790"/>
            <a:ext cx="2800706" cy="1195446"/>
          </a:xfrm>
          <a:prstGeom prst="rect">
            <a:avLst/>
          </a:prstGeom>
          <a:noFill/>
        </p:spPr>
        <p:txBody>
          <a:bodyPr wrap="none" lIns="0" tIns="0" rIns="0" bIns="0" rtlCol="0" anchor="b" anchorCtr="0">
            <a:normAutofit/>
          </a:bodyPr>
          <a:p>
            <a:pPr>
              <a:spcBef>
                <a:spcPct val="0"/>
              </a:spcBef>
              <a:spcAft>
                <a:spcPct val="0"/>
              </a:spcAft>
            </a:pPr>
            <a:r>
              <a:rPr lang="en-US" altLang="zh-CN" sz="6600" b="1" dirty="0">
                <a:solidFill>
                  <a:srgbClr val="388BA5"/>
                </a:solidFill>
                <a:latin typeface="+mn-ea"/>
                <a:cs typeface="+mn-ea"/>
              </a:rPr>
              <a:t>03</a:t>
            </a:r>
            <a:endParaRPr lang="en-US" altLang="zh-CN" sz="6600" b="1" dirty="0">
              <a:solidFill>
                <a:srgbClr val="388BA5"/>
              </a:solidFill>
              <a:latin typeface="+mn-ea"/>
              <a:cs typeface="+mn-ea"/>
            </a:endParaRPr>
          </a:p>
        </p:txBody>
      </p:sp>
      <p:cxnSp>
        <p:nvCxnSpPr>
          <p:cNvPr id="20" name="直接连接符 19"/>
          <p:cNvCxnSpPr/>
          <p:nvPr>
            <p:custDataLst>
              <p:tags r:id="rId7"/>
            </p:custDataLst>
          </p:nvPr>
        </p:nvCxnSpPr>
        <p:spPr>
          <a:xfrm>
            <a:off x="783908" y="2402840"/>
            <a:ext cx="2790000" cy="0"/>
          </a:xfrm>
          <a:prstGeom prst="line">
            <a:avLst/>
          </a:prstGeom>
          <a:ln w="12700">
            <a:solidFill>
              <a:schemeClr val="accent1">
                <a:alpha val="60000"/>
              </a:schemeClr>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custDataLst>
              <p:tags r:id="rId8"/>
            </p:custDataLst>
          </p:nvPr>
        </p:nvCxnSpPr>
        <p:spPr>
          <a:xfrm>
            <a:off x="4567873" y="2402840"/>
            <a:ext cx="2790000" cy="0"/>
          </a:xfrm>
          <a:prstGeom prst="line">
            <a:avLst/>
          </a:prstGeom>
          <a:ln w="12700">
            <a:solidFill>
              <a:srgbClr val="7EAFBF">
                <a:alpha val="60000"/>
              </a:srgbClr>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custDataLst>
              <p:tags r:id="rId9"/>
            </p:custDataLst>
          </p:nvPr>
        </p:nvCxnSpPr>
        <p:spPr>
          <a:xfrm>
            <a:off x="8351203" y="2402840"/>
            <a:ext cx="2790000" cy="0"/>
          </a:xfrm>
          <a:prstGeom prst="line">
            <a:avLst/>
          </a:prstGeom>
          <a:ln w="12700">
            <a:solidFill>
              <a:srgbClr val="388BA5">
                <a:alpha val="60000"/>
              </a:srgbClr>
            </a:solidFill>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10"/>
            </p:custDataLst>
          </p:nvPr>
        </p:nvSpPr>
        <p:spPr>
          <a:xfrm>
            <a:off x="8351520" y="2536190"/>
            <a:ext cx="3049270" cy="669290"/>
          </a:xfrm>
          <a:prstGeom prst="rect">
            <a:avLst/>
          </a:prstGeom>
          <a:noFill/>
        </p:spPr>
        <p:txBody>
          <a:bodyPr wrap="square" lIns="0" tIns="0" rIns="0" bIns="0" rtlCol="0" anchor="ctr" anchorCtr="0">
            <a:noAutofit/>
          </a:bodyPr>
          <a:p>
            <a:pPr algn="l">
              <a:spcBef>
                <a:spcPct val="0"/>
              </a:spcBef>
              <a:spcAft>
                <a:spcPct val="0"/>
              </a:spcAft>
            </a:pPr>
            <a:r>
              <a:rPr lang="en-US" altLang="zh-CN" sz="1800" b="1" dirty="0">
                <a:solidFill>
                  <a:srgbClr val="388BA5"/>
                </a:solidFill>
                <a:latin typeface="+mn-ea"/>
                <a:cs typeface="+mn-ea"/>
                <a:sym typeface="+mn-ea"/>
              </a:rPr>
              <a:t>With Chart/Visualization Developer:</a:t>
            </a:r>
            <a:endParaRPr lang="en-US" altLang="zh-CN" sz="1800" b="1" dirty="0">
              <a:solidFill>
                <a:srgbClr val="388BA5"/>
              </a:solidFill>
              <a:latin typeface="+mn-ea"/>
              <a:cs typeface="+mn-ea"/>
              <a:sym typeface="+mn-ea"/>
            </a:endParaRPr>
          </a:p>
        </p:txBody>
      </p:sp>
      <p:sp>
        <p:nvSpPr>
          <p:cNvPr id="22" name="矩形 21"/>
          <p:cNvSpPr/>
          <p:nvPr>
            <p:custDataLst>
              <p:tags r:id="rId11"/>
            </p:custDataLst>
          </p:nvPr>
        </p:nvSpPr>
        <p:spPr>
          <a:xfrm>
            <a:off x="8351203" y="3289300"/>
            <a:ext cx="2800350" cy="2638425"/>
          </a:xfrm>
          <a:prstGeom prst="rect">
            <a:avLst/>
          </a:prstGeom>
          <a:ln>
            <a:noFill/>
            <a:prstDash val="sysDash"/>
          </a:ln>
        </p:spPr>
        <p:txBody>
          <a:bodyPr vert="horz" wrap="square" lIns="0" tIns="0" rIns="0" bIns="0" rtlCol="0">
            <a:noAutofit/>
          </a:bodyPr>
          <a:p>
            <a:pPr algn="l" fontAlgn="auto">
              <a:lnSpc>
                <a:spcPct val="140000"/>
              </a:lnSpc>
              <a:spcBef>
                <a:spcPts val="600"/>
              </a:spcBef>
              <a:buClrTx/>
              <a:buSzTx/>
              <a:buFontTx/>
              <a:buNone/>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Provide statistical and trend data interfaces</a:t>
            </a:r>
            <a:endParaRPr lang="en-US" altLang="zh-CN" sz="1600" b="1" i="0" spc="150" dirty="0">
              <a:solidFill>
                <a:schemeClr val="tx1">
                  <a:lumMod val="50000"/>
                  <a:lumOff val="50000"/>
                </a:schemeClr>
              </a:solidFill>
              <a:latin typeface="Times New Roman" panose="02020603050405020304" charset="0"/>
              <a:cs typeface="Times New Roman" panose="02020603050405020304" charset="0"/>
            </a:endParaRPr>
          </a:p>
          <a:p>
            <a:pPr algn="l" fontAlgn="auto">
              <a:lnSpc>
                <a:spcPct val="140000"/>
              </a:lnSpc>
              <a:spcBef>
                <a:spcPts val="600"/>
              </a:spcBef>
              <a:buClrTx/>
              <a:buSzTx/>
              <a:buFontTx/>
              <a:buNone/>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Determine data aggregation methods</a:t>
            </a:r>
            <a:endPar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endParaRPr>
          </a:p>
        </p:txBody>
      </p:sp>
      <p:sp>
        <p:nvSpPr>
          <p:cNvPr id="15" name="矩形 14"/>
          <p:cNvSpPr/>
          <p:nvPr>
            <p:custDataLst>
              <p:tags r:id="rId12"/>
            </p:custDataLst>
          </p:nvPr>
        </p:nvSpPr>
        <p:spPr>
          <a:xfrm>
            <a:off x="784225" y="3289300"/>
            <a:ext cx="2974340" cy="2639060"/>
          </a:xfrm>
          <a:prstGeom prst="rect">
            <a:avLst/>
          </a:prstGeom>
          <a:ln>
            <a:noFill/>
            <a:prstDash val="sysDash"/>
          </a:ln>
        </p:spPr>
        <p:txBody>
          <a:bodyPr vert="horz" wrap="square" lIns="0" tIns="0" rIns="0" bIns="0" rtlCol="0">
            <a:noAutofit/>
          </a:bodyPr>
          <a:p>
            <a:pPr indent="0" algn="l" fontAlgn="auto">
              <a:lnSpc>
                <a:spcPct val="120000"/>
              </a:lnSpc>
              <a:spcBef>
                <a:spcPts val="600"/>
              </a:spcBef>
              <a:buClrTx/>
              <a:buSzTx/>
              <a:buFontTx/>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Understand the interfaces of database operation functions</a:t>
            </a:r>
            <a:endParaRPr lang="en-US" altLang="zh-CN" sz="16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lnSpc>
                <a:spcPct val="120000"/>
              </a:lnSpc>
              <a:spcBef>
                <a:spcPts val="600"/>
              </a:spcBef>
              <a:buClrTx/>
              <a:buSzTx/>
              <a:buFontTx/>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Determine function signatures and return types</a:t>
            </a:r>
            <a:endParaRPr lang="en-US" altLang="zh-CN" sz="1600" b="1" i="0" spc="150" dirty="0">
              <a:solidFill>
                <a:schemeClr val="tx1">
                  <a:lumMod val="50000"/>
                  <a:lumOff val="50000"/>
                </a:schemeClr>
              </a:solidFill>
              <a:latin typeface="Times New Roman" panose="02020603050405020304" charset="0"/>
              <a:cs typeface="Times New Roman" panose="02020603050405020304" charset="0"/>
            </a:endParaRPr>
          </a:p>
          <a:p>
            <a:pPr indent="0" algn="l" fontAlgn="auto">
              <a:lnSpc>
                <a:spcPct val="120000"/>
              </a:lnSpc>
              <a:spcBef>
                <a:spcPts val="600"/>
              </a:spcBef>
              <a:buClrTx/>
              <a:buSzTx/>
              <a:buFontTx/>
            </a:pPr>
            <a:r>
              <a:rPr lang="en-US" altLang="zh-CN" sz="1600" b="1" spc="150" dirty="0">
                <a:solidFill>
                  <a:schemeClr val="tx1">
                    <a:lumMod val="50000"/>
                    <a:lumOff val="50000"/>
                  </a:schemeClr>
                </a:solidFill>
                <a:latin typeface="Times New Roman" panose="02020603050405020304" charset="0"/>
                <a:cs typeface="Times New Roman" panose="02020603050405020304" charset="0"/>
                <a:sym typeface="+mn-ea"/>
              </a:rPr>
              <a:t>· Coordinate consistency of data models</a:t>
            </a:r>
            <a:endParaRPr lang="en-US" altLang="zh-CN" sz="1600" b="1" spc="150" dirty="0">
              <a:ln>
                <a:noFill/>
                <a:prstDash val="sysDot"/>
              </a:ln>
              <a:solidFill>
                <a:schemeClr val="tx1">
                  <a:lumMod val="50000"/>
                  <a:lumOff val="50000"/>
                </a:schemeClr>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351244"/>
            <a:ext cx="7196034" cy="1142566"/>
          </a:xfrm>
          <a:prstGeom prst="rect">
            <a:avLst/>
          </a:prstGeom>
        </p:spPr>
      </p:pic>
      <p:sp>
        <p:nvSpPr>
          <p:cNvPr id="3" name="矩形 2"/>
          <p:cNvSpPr/>
          <p:nvPr/>
        </p:nvSpPr>
        <p:spPr>
          <a:xfrm>
            <a:off x="2799398" y="2722245"/>
            <a:ext cx="6593205"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Tauri Cmd Interface &amp; Frontend Comm Module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4389755" y="1085422"/>
            <a:ext cx="3412490" cy="1445260"/>
          </a:xfrm>
          <a:prstGeom prst="rect">
            <a:avLst/>
          </a:prstGeom>
          <a:noFill/>
        </p:spPr>
        <p:txBody>
          <a:bodyPr wrap="none" rtlCol="0">
            <a:spAutoFit/>
          </a:bodyPr>
          <a:lstStyle/>
          <a:p>
            <a:pPr algn="l"/>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Task 5</a:t>
            </a:r>
            <a:endParaRPr lang="en-US" altLang="zh-CN" sz="8800" dirty="0">
              <a:ln>
                <a:noFill/>
              </a:ln>
              <a:solidFill>
                <a:schemeClr val="bg1"/>
              </a:solidFill>
              <a:effectLst>
                <a:glow rad="63500">
                  <a:schemeClr val="accent5">
                    <a:satMod val="175000"/>
                    <a:alpha val="40000"/>
                  </a:scheme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nvSpPr>
        <p:spPr>
          <a:xfrm>
            <a:off x="3847148" y="3449320"/>
            <a:ext cx="4497705" cy="414020"/>
          </a:xfrm>
          <a:prstGeom prst="rect">
            <a:avLst/>
          </a:prstGeom>
        </p:spPr>
        <p:txBody>
          <a:bodyPr wrap="square">
            <a:spAutoFit/>
          </a:bodyPr>
          <a:lstStyle/>
          <a:p>
            <a:pPr algn="ctr">
              <a:lnSpc>
                <a:spcPct val="150000"/>
              </a:lnSpc>
            </a:pPr>
            <a:r>
              <a:rPr lang="en-US" altLang="zh-CN" sz="1400" dirty="0">
                <a:solidFill>
                  <a:srgbClr val="388BA5"/>
                </a:solidFill>
                <a:effectLst>
                  <a:outerShdw blurRad="38100" dist="38100" dir="2700000" algn="tl">
                    <a:srgbClr val="000000">
                      <a:alpha val="43137"/>
                    </a:srgbClr>
                  </a:outerShdw>
                </a:effectLst>
                <a:cs typeface="+mn-ea"/>
                <a:sym typeface="+mn-lt"/>
              </a:rPr>
              <a:t>Owner: Ye Xinran</a:t>
            </a:r>
            <a:endParaRPr lang="en-US" altLang="zh-CN" sz="1400" dirty="0">
              <a:solidFill>
                <a:srgbClr val="388BA5"/>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Tauri Command Interface &amp; Frontend Communication Module</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5</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4" name="矩形 3"/>
          <p:cNvSpPr/>
          <p:nvPr/>
        </p:nvSpPr>
        <p:spPr>
          <a:xfrm>
            <a:off x="0" y="1148715"/>
            <a:ext cx="9810115" cy="1029970"/>
          </a:xfrm>
          <a:prstGeom prst="rect">
            <a:avLst/>
          </a:prstGeom>
          <a:solidFill>
            <a:srgbClr val="388BA5">
              <a:alpha val="6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dirty="0">
                <a:sym typeface="+mn-ea"/>
              </a:rPr>
              <a:t>Task Description</a:t>
            </a:r>
            <a:r>
              <a:rPr lang="zh-CN" altLang="en-US" dirty="0">
                <a:sym typeface="+mn-ea"/>
              </a:rPr>
              <a:t>：</a:t>
            </a:r>
            <a:endParaRPr lang="en-US" altLang="zh-CN" dirty="0"/>
          </a:p>
          <a:p>
            <a:pPr algn="l"/>
            <a:r>
              <a:rPr lang="en-US" altLang="zh-CN" dirty="0">
                <a:sym typeface="+mn-ea"/>
              </a:rPr>
              <a:t>Implement Tauri commands to connect Rust backend and JavaScript frontend, manage app lifecycle, and handle shared database state.</a:t>
            </a:r>
            <a:endParaRPr lang="zh-CN" altLang="en-US"/>
          </a:p>
        </p:txBody>
      </p:sp>
      <p:sp>
        <p:nvSpPr>
          <p:cNvPr id="5" name="文本框 4"/>
          <p:cNvSpPr txBox="1"/>
          <p:nvPr/>
        </p:nvSpPr>
        <p:spPr>
          <a:xfrm>
            <a:off x="7453630" y="2662555"/>
            <a:ext cx="4199890" cy="645160"/>
          </a:xfrm>
          <a:prstGeom prst="rect">
            <a:avLst/>
          </a:prstGeom>
          <a:noFill/>
        </p:spPr>
        <p:txBody>
          <a:bodyPr wrap="square">
            <a:spAutoFit/>
          </a:bodyPr>
          <a:lstStyle/>
          <a:p>
            <a:r>
              <a:rPr lang="en-US" altLang="zh-CN" dirty="0">
                <a:latin typeface="Arial" panose="020B0604020202020204" pitchFamily="34" charset="0"/>
                <a:cs typeface="Arial" panose="020B0604020202020204" pitchFamily="34" charset="0"/>
              </a:rPr>
              <a:t>src-tauri/src/lib.rs (entire file)</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src-tauri/src/main.rs (verification)</a:t>
            </a:r>
            <a:endParaRPr lang="en-US" altLang="zh-CN"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2595" y="2538730"/>
            <a:ext cx="6648450" cy="790575"/>
          </a:xfrm>
          <a:prstGeom prst="rect">
            <a:avLst/>
          </a:prstGeom>
        </p:spPr>
      </p:pic>
      <p:sp>
        <p:nvSpPr>
          <p:cNvPr id="7" name="椭圆 6"/>
          <p:cNvSpPr/>
          <p:nvPr/>
        </p:nvSpPr>
        <p:spPr>
          <a:xfrm>
            <a:off x="11069320" y="1092200"/>
            <a:ext cx="2077085" cy="2077085"/>
          </a:xfrm>
          <a:prstGeom prst="ellipse">
            <a:avLst/>
          </a:prstGeom>
          <a:solidFill>
            <a:schemeClr val="accent1">
              <a:alpha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0" y="3596640"/>
            <a:ext cx="12192635" cy="1661795"/>
          </a:xfrm>
          <a:prstGeom prst="rect">
            <a:avLst/>
          </a:prstGeom>
          <a:solidFill>
            <a:srgbClr val="388BA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10000"/>
              </a:lnSpc>
            </a:pPr>
            <a:r>
              <a:rPr lang="en-US" altLang="zh-CN" sz="1600" dirty="0">
                <a:solidFill>
                  <a:schemeClr val="bg1">
                    <a:lumMod val="95000"/>
                  </a:schemeClr>
                </a:solidFill>
                <a:sym typeface="+mn-ea"/>
              </a:rPr>
              <a:t>1. Overall Architecture and Dependencies</a:t>
            </a:r>
            <a:endParaRPr lang="en-US" altLang="zh-CN" sz="1600" dirty="0">
              <a:solidFill>
                <a:schemeClr val="bg1">
                  <a:lumMod val="95000"/>
                </a:schemeClr>
              </a:solidFill>
            </a:endParaRPr>
          </a:p>
          <a:p>
            <a:pPr algn="l">
              <a:lnSpc>
                <a:spcPct val="110000"/>
              </a:lnSpc>
            </a:pPr>
            <a:r>
              <a:rPr lang="en-US" altLang="zh-CN" sz="1600" dirty="0">
                <a:solidFill>
                  <a:schemeClr val="bg1">
                    <a:lumMod val="95000"/>
                  </a:schemeClr>
                </a:solidFill>
                <a:sym typeface="+mn-ea"/>
              </a:rPr>
              <a:t>Core Framework: Tauri (a cross-platform desktop/mobile application framework that combines a Rust backend with a web frontend).</a:t>
            </a:r>
            <a:endParaRPr lang="en-US" altLang="zh-CN" sz="1600" dirty="0">
              <a:solidFill>
                <a:schemeClr val="bg1">
                  <a:lumMod val="95000"/>
                </a:schemeClr>
              </a:solidFill>
            </a:endParaRPr>
          </a:p>
          <a:p>
            <a:pPr algn="l">
              <a:lnSpc>
                <a:spcPct val="110000"/>
              </a:lnSpc>
            </a:pPr>
            <a:r>
              <a:rPr lang="en-US" altLang="zh-CN" sz="1600" dirty="0">
                <a:solidFill>
                  <a:schemeClr val="bg1">
                    <a:lumMod val="95000"/>
                  </a:schemeClr>
                </a:solidFill>
                <a:sym typeface="+mn-ea"/>
              </a:rPr>
              <a:t>Core Capabilities: Database operations (encapsulated in the database module), data models (models module), API services (</a:t>
            </a:r>
            <a:r>
              <a:rPr lang="en-US" altLang="zh-CN" sz="1600" dirty="0" err="1">
                <a:solidFill>
                  <a:schemeClr val="bg1">
                    <a:lumMod val="95000"/>
                  </a:schemeClr>
                </a:solidFill>
                <a:sym typeface="+mn-ea"/>
              </a:rPr>
              <a:t>api</a:t>
            </a:r>
            <a:r>
              <a:rPr lang="en-US" altLang="zh-CN" sz="1600" dirty="0">
                <a:solidFill>
                  <a:schemeClr val="bg1">
                    <a:lumMod val="95000"/>
                  </a:schemeClr>
                </a:solidFill>
                <a:sym typeface="+mn-ea"/>
              </a:rPr>
              <a:t> module), command interfaces for frontend calls (</a:t>
            </a:r>
            <a:r>
              <a:rPr lang="en-US" altLang="zh-CN" sz="1600" dirty="0" err="1">
                <a:solidFill>
                  <a:schemeClr val="bg1">
                    <a:lumMod val="95000"/>
                  </a:schemeClr>
                </a:solidFill>
                <a:sym typeface="+mn-ea"/>
              </a:rPr>
              <a:t>tauri</a:t>
            </a:r>
            <a:r>
              <a:rPr lang="en-US" altLang="zh-CN" sz="1600" dirty="0">
                <a:solidFill>
                  <a:schemeClr val="bg1">
                    <a:lumMod val="95000"/>
                  </a:schemeClr>
                </a:solidFill>
                <a:sym typeface="+mn-ea"/>
              </a:rPr>
              <a:t>::command).</a:t>
            </a:r>
            <a:endParaRPr lang="en-US" altLang="zh-CN" sz="1600" dirty="0">
              <a:solidFill>
                <a:schemeClr val="bg1">
                  <a:lumMod val="95000"/>
                </a:schemeClr>
              </a:solidFill>
              <a:sym typeface="+mn-ea"/>
            </a:endParaRPr>
          </a:p>
        </p:txBody>
      </p:sp>
      <p:sp>
        <p:nvSpPr>
          <p:cNvPr id="9" name="文本框 8"/>
          <p:cNvSpPr txBox="1"/>
          <p:nvPr/>
        </p:nvSpPr>
        <p:spPr>
          <a:xfrm>
            <a:off x="1839913" y="5431790"/>
            <a:ext cx="8512810" cy="583565"/>
          </a:xfrm>
          <a:prstGeom prst="rect">
            <a:avLst/>
          </a:prstGeom>
          <a:noFill/>
        </p:spPr>
        <p:txBody>
          <a:bodyPr wrap="square" rtlCol="0" anchor="t">
            <a:spAutoFit/>
          </a:bodyPr>
          <a:p>
            <a:pPr algn="ctr"/>
            <a:r>
              <a:rPr lang="en-US" altLang="zh-CN" sz="1600" dirty="0">
                <a:solidFill>
                  <a:schemeClr val="bg1">
                    <a:lumMod val="75000"/>
                  </a:schemeClr>
                </a:solidFill>
                <a:effectLst>
                  <a:outerShdw blurRad="38100" dist="38100" dir="2700000" algn="tl">
                    <a:srgbClr val="000000">
                      <a:alpha val="43137"/>
                    </a:srgbClr>
                  </a:outerShdw>
                </a:effectLst>
                <a:sym typeface="+mn-ea"/>
              </a:rPr>
              <a:t>Key Features: Asynchronous operations, global management of database connections (</a:t>
            </a:r>
            <a:r>
              <a:rPr lang="en-US" altLang="zh-CN" sz="1600" dirty="0" err="1">
                <a:solidFill>
                  <a:schemeClr val="bg1">
                    <a:lumMod val="75000"/>
                  </a:schemeClr>
                </a:solidFill>
                <a:effectLst>
                  <a:outerShdw blurRad="38100" dist="38100" dir="2700000" algn="tl">
                    <a:srgbClr val="000000">
                      <a:alpha val="43137"/>
                    </a:srgbClr>
                  </a:outerShdw>
                </a:effectLst>
                <a:sym typeface="+mn-ea"/>
              </a:rPr>
              <a:t>tauri</a:t>
            </a:r>
            <a:r>
              <a:rPr lang="en-US" altLang="zh-CN" sz="1600" dirty="0">
                <a:solidFill>
                  <a:schemeClr val="bg1">
                    <a:lumMod val="75000"/>
                  </a:schemeClr>
                </a:solidFill>
                <a:effectLst>
                  <a:outerShdw blurRad="38100" dist="38100" dir="2700000" algn="tl">
                    <a:srgbClr val="000000">
                      <a:alpha val="43137"/>
                    </a:srgbClr>
                  </a:outerShdw>
                </a:effectLst>
                <a:sym typeface="+mn-ea"/>
              </a:rPr>
              <a:t>::State), API services running on background threads.</a:t>
            </a:r>
            <a:endParaRPr lang="en-US" altLang="zh-CN" sz="1600" dirty="0">
              <a:solidFill>
                <a:schemeClr val="bg1">
                  <a:lumMod val="75000"/>
                </a:schemeClr>
              </a:solidFill>
              <a:effectLst>
                <a:outerShdw blurRad="38100" dist="38100" dir="2700000" algn="tl">
                  <a:srgbClr val="000000">
                    <a:alpha val="43137"/>
                  </a:srgbClr>
                </a:outerShdw>
              </a:effectLst>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Tauri Command Interface &amp; Frontend Communication Module</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5</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4" name="文本框 3"/>
          <p:cNvSpPr txBox="1"/>
          <p:nvPr/>
        </p:nvSpPr>
        <p:spPr>
          <a:xfrm>
            <a:off x="582930" y="1168400"/>
            <a:ext cx="3234690" cy="398780"/>
          </a:xfrm>
          <a:prstGeom prst="rect">
            <a:avLst/>
          </a:prstGeom>
          <a:noFill/>
        </p:spPr>
        <p:txBody>
          <a:bodyPr wrap="square">
            <a:spAutoFit/>
          </a:bodyPr>
          <a:lstStyle/>
          <a:p>
            <a:r>
              <a:rPr lang="en-US" altLang="zh-CN" sz="2000" b="1" dirty="0">
                <a:latin typeface="Arial" panose="020B0604020202020204" pitchFamily="34" charset="0"/>
                <a:cs typeface="Arial" panose="020B0604020202020204" pitchFamily="34" charset="0"/>
              </a:rPr>
              <a:t>2. Code Section Display</a:t>
            </a:r>
            <a:endParaRPr lang="en-US" altLang="zh-CN" sz="2000" b="1" dirty="0">
              <a:latin typeface="Arial" panose="020B0604020202020204" pitchFamily="34" charset="0"/>
              <a:cs typeface="Arial" panose="020B0604020202020204" pitchFamily="34" charset="0"/>
            </a:endParaRPr>
          </a:p>
        </p:txBody>
      </p:sp>
      <p:sp>
        <p:nvSpPr>
          <p:cNvPr id="7" name="文本框 6"/>
          <p:cNvSpPr txBox="1"/>
          <p:nvPr/>
        </p:nvSpPr>
        <p:spPr>
          <a:xfrm>
            <a:off x="392150" y="1721589"/>
            <a:ext cx="6095010" cy="369332"/>
          </a:xfrm>
          <a:prstGeom prst="rect">
            <a:avLst/>
          </a:prstGeom>
          <a:noFill/>
        </p:spPr>
        <p:txBody>
          <a:bodyPr wrap="square">
            <a:spAutoFit/>
          </a:bodyPr>
          <a:lstStyle/>
          <a:p>
            <a:r>
              <a:rPr lang="zh-CN" altLang="en-US" dirty="0"/>
              <a:t>（</a:t>
            </a:r>
            <a:r>
              <a:rPr lang="en-US" altLang="zh-CN" dirty="0"/>
              <a:t>1</a:t>
            </a:r>
            <a:r>
              <a:rPr lang="zh-CN" altLang="en-US" dirty="0"/>
              <a:t>）</a:t>
            </a:r>
            <a:r>
              <a:rPr lang="en-US" altLang="zh-CN" dirty="0"/>
              <a:t>. Module Import</a:t>
            </a:r>
            <a:endParaRPr lang="zh-CN" altLang="en-US" dirty="0"/>
          </a:p>
        </p:txBody>
      </p:sp>
      <p:pic>
        <p:nvPicPr>
          <p:cNvPr id="9" name="图片 8"/>
          <p:cNvPicPr>
            <a:picLocks noChangeAspect="1"/>
          </p:cNvPicPr>
          <p:nvPr/>
        </p:nvPicPr>
        <p:blipFill>
          <a:blip r:embed="rId1"/>
          <a:stretch>
            <a:fillRect/>
          </a:stretch>
        </p:blipFill>
        <p:spPr>
          <a:xfrm>
            <a:off x="582650" y="2177803"/>
            <a:ext cx="6095010" cy="1404156"/>
          </a:xfrm>
          <a:prstGeom prst="rect">
            <a:avLst/>
          </a:prstGeom>
        </p:spPr>
      </p:pic>
      <p:sp>
        <p:nvSpPr>
          <p:cNvPr id="12" name="文本框 11"/>
          <p:cNvSpPr txBox="1"/>
          <p:nvPr/>
        </p:nvSpPr>
        <p:spPr>
          <a:xfrm>
            <a:off x="321392" y="3773938"/>
            <a:ext cx="8720941" cy="369332"/>
          </a:xfrm>
          <a:prstGeom prst="rect">
            <a:avLst/>
          </a:prstGeom>
          <a:noFill/>
        </p:spPr>
        <p:txBody>
          <a:bodyPr wrap="square">
            <a:spAutoFit/>
          </a:bodyPr>
          <a:lstStyle/>
          <a:p>
            <a:r>
              <a:rPr lang="zh-CN" altLang="en-US" dirty="0"/>
              <a:t>（</a:t>
            </a:r>
            <a:r>
              <a:rPr lang="en-US" altLang="zh-CN" dirty="0"/>
              <a:t>2</a:t>
            </a:r>
            <a:r>
              <a:rPr lang="zh-CN" altLang="en-US" dirty="0"/>
              <a:t>）</a:t>
            </a:r>
            <a:r>
              <a:rPr lang="en-US" altLang="zh-CN" dirty="0"/>
              <a:t>.Tauri Commands: Interfaces Exposed to the Frontend</a:t>
            </a:r>
            <a:endParaRPr lang="zh-CN" altLang="en-US" dirty="0"/>
          </a:p>
        </p:txBody>
      </p:sp>
      <p:pic>
        <p:nvPicPr>
          <p:cNvPr id="15" name="图片 14"/>
          <p:cNvPicPr>
            <a:picLocks noChangeAspect="1"/>
          </p:cNvPicPr>
          <p:nvPr/>
        </p:nvPicPr>
        <p:blipFill>
          <a:blip r:embed="rId2"/>
          <a:stretch>
            <a:fillRect/>
          </a:stretch>
        </p:blipFill>
        <p:spPr>
          <a:xfrm>
            <a:off x="7908925" y="1352550"/>
            <a:ext cx="3491865" cy="4101465"/>
          </a:xfrm>
          <a:prstGeom prst="rect">
            <a:avLst/>
          </a:prstGeom>
        </p:spPr>
      </p:pic>
      <p:sp>
        <p:nvSpPr>
          <p:cNvPr id="17" name="文本框 16"/>
          <p:cNvSpPr txBox="1"/>
          <p:nvPr/>
        </p:nvSpPr>
        <p:spPr>
          <a:xfrm>
            <a:off x="553085" y="4409440"/>
            <a:ext cx="6631940" cy="1198880"/>
          </a:xfrm>
          <a:prstGeom prst="rect">
            <a:avLst/>
          </a:prstGeom>
          <a:noFill/>
        </p:spPr>
        <p:txBody>
          <a:bodyPr wrap="square">
            <a:spAutoFit/>
          </a:bodyPr>
          <a:lstStyle/>
          <a:p>
            <a:r>
              <a:rPr lang="en-US" altLang="zh-CN" dirty="0">
                <a:solidFill>
                  <a:schemeClr val="bg1">
                    <a:lumMod val="65000"/>
                  </a:schemeClr>
                </a:solidFill>
              </a:rPr>
              <a:t>All asynchronous functions marked with #[tauri::command] are Rust backend interfaces for the frontend (HTML/JS) to call, and their core logic is 'calling database module methods and handling errors'.</a:t>
            </a:r>
            <a:endParaRPr lang="en-US" altLang="zh-CN" dirty="0">
              <a:solidFill>
                <a:schemeClr val="bg1">
                  <a:lumMod val="6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sym typeface="+mn-ea"/>
              </a:rPr>
              <a:t>Tauri Command Interface &amp; Frontend Communication Module</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3" name="文本框 2"/>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5</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14" name="圆角矩形 3"/>
          <p:cNvSpPr/>
          <p:nvPr>
            <p:custDataLst>
              <p:tags r:id="rId1"/>
            </p:custDataLst>
          </p:nvPr>
        </p:nvSpPr>
        <p:spPr>
          <a:xfrm>
            <a:off x="773430" y="1280796"/>
            <a:ext cx="5182929" cy="4246937"/>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rgbClr val="388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6" name="圆角矩形 3"/>
          <p:cNvSpPr/>
          <p:nvPr>
            <p:custDataLst>
              <p:tags r:id="rId2"/>
            </p:custDataLst>
          </p:nvPr>
        </p:nvSpPr>
        <p:spPr>
          <a:xfrm>
            <a:off x="641985" y="1165860"/>
            <a:ext cx="5210810" cy="4266565"/>
          </a:xfrm>
          <a:prstGeom prst="roundRect">
            <a:avLst>
              <a:gd name="adj" fmla="val 5223"/>
            </a:avLst>
          </a:prstGeom>
          <a:solidFill>
            <a:schemeClr val="lt1">
              <a:lumMod val="100000"/>
              <a:alpha val="10000"/>
            </a:schemeClr>
          </a:solidFill>
          <a:ln>
            <a:solidFill>
              <a:srgbClr val="388BA5"/>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00000"/>
              </a:lnSpc>
              <a:buClrTx/>
              <a:buSzTx/>
              <a:buFontTx/>
            </a:pPr>
            <a:r>
              <a:rPr lang="en-US" altLang="zh-CN" sz="1400" dirty="0">
                <a:solidFill>
                  <a:schemeClr val="tx1">
                    <a:lumMod val="65000"/>
                    <a:lumOff val="35000"/>
                  </a:schemeClr>
                </a:solidFill>
                <a:sym typeface="+mn-ea"/>
              </a:rPr>
              <a:t>Model layer (models)</a:t>
            </a:r>
            <a:endParaRPr lang="en-US" altLang="zh-CN" sz="1400" dirty="0">
              <a:solidFill>
                <a:schemeClr val="tx1">
                  <a:lumMod val="65000"/>
                  <a:lumOff val="35000"/>
                </a:schemeClr>
              </a:solidFill>
            </a:endParaRPr>
          </a:p>
          <a:p>
            <a:pPr lvl="0" algn="just">
              <a:lnSpc>
                <a:spcPct val="100000"/>
              </a:lnSpc>
              <a:buClrTx/>
              <a:buSzTx/>
              <a:buFontTx/>
            </a:pPr>
            <a:r>
              <a:rPr lang="en-US" altLang="zh-CN" sz="1400" dirty="0">
                <a:solidFill>
                  <a:schemeClr val="tx1">
                    <a:lumMod val="65000"/>
                    <a:lumOff val="35000"/>
                  </a:schemeClr>
                </a:solidFill>
                <a:sym typeface="+mn-ea"/>
              </a:rPr>
              <a:t>Database layer (database)</a:t>
            </a:r>
            <a:endParaRPr lang="en-US" altLang="zh-CN" sz="1400" dirty="0">
              <a:solidFill>
                <a:schemeClr val="tx1">
                  <a:lumMod val="65000"/>
                  <a:lumOff val="35000"/>
                </a:schemeClr>
              </a:solidFill>
            </a:endParaRPr>
          </a:p>
          <a:p>
            <a:pPr lvl="0" algn="just">
              <a:lnSpc>
                <a:spcPct val="100000"/>
              </a:lnSpc>
              <a:buClrTx/>
              <a:buSzTx/>
              <a:buFontTx/>
            </a:pPr>
            <a:r>
              <a:rPr lang="en-US" altLang="zh-CN" sz="1400" dirty="0">
                <a:solidFill>
                  <a:schemeClr val="tx1">
                    <a:lumMod val="65000"/>
                    <a:lumOff val="35000"/>
                  </a:schemeClr>
                </a:solidFill>
                <a:sym typeface="+mn-ea"/>
              </a:rPr>
              <a:t>Interface layer (</a:t>
            </a:r>
            <a:r>
              <a:rPr lang="en-US" altLang="zh-CN" sz="1400" dirty="0" err="1">
                <a:solidFill>
                  <a:schemeClr val="tx1">
                    <a:lumMod val="65000"/>
                    <a:lumOff val="35000"/>
                  </a:schemeClr>
                </a:solidFill>
                <a:sym typeface="+mn-ea"/>
              </a:rPr>
              <a:t>tauri</a:t>
            </a:r>
            <a:r>
              <a:rPr lang="en-US" altLang="zh-CN" sz="1400" dirty="0">
                <a:solidFill>
                  <a:schemeClr val="tx1">
                    <a:lumMod val="65000"/>
                    <a:lumOff val="35000"/>
                  </a:schemeClr>
                </a:solidFill>
                <a:sym typeface="+mn-ea"/>
              </a:rPr>
              <a:t>::command)</a:t>
            </a:r>
            <a:endParaRPr lang="en-US" altLang="zh-CN" sz="1400" dirty="0">
              <a:solidFill>
                <a:schemeClr val="tx1">
                  <a:lumMod val="65000"/>
                  <a:lumOff val="35000"/>
                </a:schemeClr>
              </a:solidFill>
            </a:endParaRPr>
          </a:p>
          <a:p>
            <a:pPr lvl="0" algn="just">
              <a:lnSpc>
                <a:spcPct val="100000"/>
              </a:lnSpc>
              <a:buClrTx/>
              <a:buSzTx/>
              <a:buFontTx/>
            </a:pPr>
            <a:r>
              <a:rPr lang="en-US" altLang="zh-CN" sz="1400" dirty="0">
                <a:solidFill>
                  <a:schemeClr val="tx1">
                    <a:lumMod val="65000"/>
                    <a:lumOff val="35000"/>
                  </a:schemeClr>
                </a:solidFill>
                <a:sym typeface="+mn-ea"/>
              </a:rPr>
              <a:t>Service layer (</a:t>
            </a:r>
            <a:r>
              <a:rPr lang="en-US" altLang="zh-CN" sz="1400" dirty="0" err="1">
                <a:solidFill>
                  <a:schemeClr val="tx1">
                    <a:lumMod val="65000"/>
                    <a:lumOff val="35000"/>
                  </a:schemeClr>
                </a:solidFill>
                <a:sym typeface="+mn-ea"/>
              </a:rPr>
              <a:t>api</a:t>
            </a:r>
            <a:r>
              <a:rPr lang="en-US" altLang="zh-CN" sz="1400" dirty="0">
                <a:solidFill>
                  <a:schemeClr val="tx1">
                    <a:lumMod val="65000"/>
                    <a:lumOff val="35000"/>
                  </a:schemeClr>
                </a:solidFill>
                <a:sym typeface="+mn-ea"/>
              </a:rPr>
              <a:t>)</a:t>
            </a:r>
            <a:endParaRPr lang="en-US" altLang="zh-CN" sz="1400" dirty="0">
              <a:solidFill>
                <a:schemeClr val="tx1">
                  <a:lumMod val="65000"/>
                  <a:lumOff val="35000"/>
                </a:schemeClr>
              </a:solidFill>
              <a:sym typeface="+mn-ea"/>
            </a:endParaRPr>
          </a:p>
          <a:p>
            <a:pPr lvl="0" algn="just">
              <a:lnSpc>
                <a:spcPct val="140000"/>
              </a:lnSpc>
              <a:buClrTx/>
              <a:buSzTx/>
              <a:buFontTx/>
            </a:pPr>
            <a:endParaRPr lang="en-US" altLang="zh-CN" sz="1400" dirty="0">
              <a:solidFill>
                <a:schemeClr val="tx1">
                  <a:lumMod val="65000"/>
                  <a:lumOff val="35000"/>
                </a:schemeClr>
              </a:solidFill>
            </a:endParaRPr>
          </a:p>
          <a:p>
            <a:pPr lvl="0" algn="just">
              <a:lnSpc>
                <a:spcPct val="140000"/>
              </a:lnSpc>
              <a:buClrTx/>
              <a:buSzTx/>
              <a:buFontTx/>
            </a:pPr>
            <a:r>
              <a:rPr lang="en-US" altLang="zh-CN" sz="1400" b="1" dirty="0">
                <a:solidFill>
                  <a:schemeClr val="tx1">
                    <a:lumMod val="65000"/>
                    <a:lumOff val="35000"/>
                  </a:schemeClr>
                </a:solidFill>
                <a:effectLst>
                  <a:outerShdw blurRad="38100" dist="38100" dir="2700000" algn="tl">
                    <a:srgbClr val="000000">
                      <a:alpha val="43137"/>
                    </a:srgbClr>
                  </a:outerShdw>
                </a:effectLst>
                <a:sym typeface="+mn-ea"/>
              </a:rPr>
              <a:t>Multithreading safety:</a:t>
            </a:r>
            <a:endParaRPr lang="en-US" altLang="zh-CN" sz="1400" dirty="0">
              <a:solidFill>
                <a:schemeClr val="tx1">
                  <a:lumMod val="65000"/>
                  <a:lumOff val="35000"/>
                </a:schemeClr>
              </a:solidFill>
            </a:endParaRPr>
          </a:p>
          <a:p>
            <a:pPr lvl="0" algn="just">
              <a:lnSpc>
                <a:spcPct val="140000"/>
              </a:lnSpc>
              <a:buClrTx/>
              <a:buSzTx/>
              <a:buFontTx/>
            </a:pPr>
            <a:r>
              <a:rPr lang="en-US" altLang="zh-CN" sz="1400" dirty="0">
                <a:solidFill>
                  <a:schemeClr val="tx1">
                    <a:lumMod val="65000"/>
                    <a:lumOff val="35000"/>
                  </a:schemeClr>
                </a:solidFill>
                <a:sym typeface="+mn-ea"/>
              </a:rPr>
              <a:t>Use Arc to share database connections, ensuring safe access for the main thread (Tauri) and background threads (API services);</a:t>
            </a:r>
            <a:endParaRPr lang="en-US" altLang="zh-CN" sz="1400" dirty="0">
              <a:solidFill>
                <a:schemeClr val="tx1">
                  <a:lumMod val="65000"/>
                  <a:lumOff val="35000"/>
                </a:schemeClr>
              </a:solidFill>
            </a:endParaRPr>
          </a:p>
          <a:p>
            <a:pPr lvl="0" algn="just">
              <a:lnSpc>
                <a:spcPct val="140000"/>
              </a:lnSpc>
              <a:buClrTx/>
              <a:buSzTx/>
              <a:buFontTx/>
            </a:pPr>
            <a:r>
              <a:rPr lang="en-US" altLang="zh-CN" sz="1400" dirty="0">
                <a:solidFill>
                  <a:schemeClr val="tx1">
                    <a:lumMod val="65000"/>
                    <a:lumOff val="35000"/>
                  </a:schemeClr>
                </a:solidFill>
                <a:sym typeface="+mn-ea"/>
              </a:rPr>
              <a:t>Tauri's State mechanism ensures thread-safe access to global state.</a:t>
            </a:r>
            <a:endParaRPr lang="en-US" altLang="zh-CN" sz="1400" dirty="0">
              <a:solidFill>
                <a:schemeClr val="tx1">
                  <a:lumMod val="65000"/>
                  <a:lumOff val="35000"/>
                </a:schemeClr>
              </a:solidFill>
              <a:latin typeface="+mn-ea"/>
              <a:cs typeface="+mn-ea"/>
              <a:sym typeface="+mn-ea"/>
            </a:endParaRPr>
          </a:p>
        </p:txBody>
      </p:sp>
      <p:sp>
        <p:nvSpPr>
          <p:cNvPr id="17" name="圆角矩形 3"/>
          <p:cNvSpPr/>
          <p:nvPr>
            <p:custDataLst>
              <p:tags r:id="rId3"/>
            </p:custDataLst>
          </p:nvPr>
        </p:nvSpPr>
        <p:spPr>
          <a:xfrm>
            <a:off x="6310631" y="1280796"/>
            <a:ext cx="5182929" cy="4246937"/>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9" name="圆角矩形 3"/>
          <p:cNvSpPr/>
          <p:nvPr>
            <p:custDataLst>
              <p:tags r:id="rId4"/>
            </p:custDataLst>
          </p:nvPr>
        </p:nvSpPr>
        <p:spPr>
          <a:xfrm>
            <a:off x="6179186" y="1165860"/>
            <a:ext cx="5210810" cy="4266565"/>
          </a:xfrm>
          <a:prstGeom prst="roundRect">
            <a:avLst>
              <a:gd name="adj" fmla="val 5223"/>
            </a:avLst>
          </a:prstGeom>
          <a:solidFill>
            <a:schemeClr val="lt1">
              <a:lumMod val="100000"/>
              <a:alpha val="10000"/>
            </a:schemeClr>
          </a:solid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50000"/>
              </a:lnSpc>
              <a:buClrTx/>
              <a:buSzTx/>
              <a:buFontTx/>
            </a:pPr>
            <a:r>
              <a:rPr lang="en-US" altLang="zh-CN" sz="1600" dirty="0">
                <a:solidFill>
                  <a:srgbClr val="388BA5"/>
                </a:solidFill>
                <a:latin typeface="Arial" panose="020B0604020202020204" pitchFamily="34" charset="0"/>
                <a:cs typeface="Arial" panose="020B0604020202020204" pitchFamily="34" charset="0"/>
                <a:sym typeface="+mn-ea"/>
              </a:rPr>
              <a:t>Why split main.rs and </a:t>
            </a:r>
            <a:r>
              <a:rPr lang="en-US" altLang="zh-CN" sz="1600" dirty="0" err="1">
                <a:solidFill>
                  <a:srgbClr val="388BA5"/>
                </a:solidFill>
                <a:latin typeface="Arial" panose="020B0604020202020204" pitchFamily="34" charset="0"/>
                <a:cs typeface="Arial" panose="020B0604020202020204" pitchFamily="34" charset="0"/>
                <a:sym typeface="+mn-ea"/>
              </a:rPr>
              <a:t>tauri_app_lib</a:t>
            </a:r>
            <a:r>
              <a:rPr lang="en-US" altLang="zh-CN" sz="1600" dirty="0">
                <a:solidFill>
                  <a:srgbClr val="388BA5"/>
                </a:solidFill>
                <a:latin typeface="Arial" panose="020B0604020202020204" pitchFamily="34" charset="0"/>
                <a:cs typeface="Arial" panose="020B0604020202020204" pitchFamily="34" charset="0"/>
                <a:sym typeface="+mn-ea"/>
              </a:rPr>
              <a:t>?</a:t>
            </a:r>
            <a:endParaRPr lang="en-US" altLang="zh-CN" sz="1600" dirty="0">
              <a:solidFill>
                <a:srgbClr val="388BA5"/>
              </a:solidFill>
              <a:latin typeface="Arial" panose="020B0604020202020204" pitchFamily="34" charset="0"/>
              <a:cs typeface="Arial" panose="020B0604020202020204" pitchFamily="34" charset="0"/>
            </a:endParaRPr>
          </a:p>
          <a:p>
            <a:pPr lvl="0" algn="just">
              <a:lnSpc>
                <a:spcPct val="150000"/>
              </a:lnSpc>
              <a:buClrTx/>
              <a:buSzTx/>
              <a:buFontTx/>
            </a:pPr>
            <a:r>
              <a:rPr lang="en-US" altLang="zh-CN" sz="1600" dirty="0">
                <a:solidFill>
                  <a:srgbClr val="388BA5"/>
                </a:solidFill>
                <a:latin typeface="Arial" panose="020B0604020202020204" pitchFamily="34" charset="0"/>
                <a:cs typeface="Arial" panose="020B0604020202020204" pitchFamily="34" charset="0"/>
                <a:sym typeface="+mn-ea"/>
              </a:rPr>
              <a:t>The entry file is only responsible for 'starting up', while the core logic is encapsulated in separate modules for easier maintenance and testing;</a:t>
            </a:r>
            <a:endParaRPr lang="en-US" altLang="zh-CN" sz="1600" dirty="0">
              <a:solidFill>
                <a:srgbClr val="388BA5"/>
              </a:solidFill>
              <a:latin typeface="Arial" panose="020B0604020202020204" pitchFamily="34" charset="0"/>
              <a:cs typeface="Arial" panose="020B0604020202020204" pitchFamily="34" charset="0"/>
            </a:endParaRPr>
          </a:p>
          <a:p>
            <a:pPr lvl="0" algn="just">
              <a:lnSpc>
                <a:spcPct val="150000"/>
              </a:lnSpc>
              <a:buClrTx/>
              <a:buSzTx/>
              <a:buFontTx/>
            </a:pPr>
            <a:r>
              <a:rPr lang="en-US" altLang="zh-CN" sz="1600" dirty="0">
                <a:solidFill>
                  <a:srgbClr val="388BA5"/>
                </a:solidFill>
                <a:latin typeface="Arial" panose="020B0604020202020204" pitchFamily="34" charset="0"/>
                <a:cs typeface="Arial" panose="020B0604020202020204" pitchFamily="34" charset="0"/>
                <a:sym typeface="+mn-ea"/>
              </a:rPr>
              <a:t>If further expansion is needed later (such as adding CLI commands or multiple entry points), main.rs only needs to call different modules without modifying the core logic.</a:t>
            </a:r>
            <a:endParaRPr lang="en-US" altLang="zh-CN" sz="1600" dirty="0">
              <a:solidFill>
                <a:srgbClr val="388BA5"/>
              </a:solidFill>
              <a:latin typeface="Arial" panose="020B0604020202020204" pitchFamily="34" charset="0"/>
              <a:cs typeface="Arial" panose="020B0604020202020204" pitchFamily="34" charset="0"/>
              <a:sym typeface="+mn-ea"/>
            </a:endParaRPr>
          </a:p>
        </p:txBody>
      </p:sp>
      <p:sp>
        <p:nvSpPr>
          <p:cNvPr id="11" name="圆角矩形 16"/>
          <p:cNvSpPr/>
          <p:nvPr>
            <p:custDataLst>
              <p:tags r:id="rId5"/>
            </p:custDataLst>
          </p:nvPr>
        </p:nvSpPr>
        <p:spPr>
          <a:xfrm>
            <a:off x="855981" y="4652646"/>
            <a:ext cx="589915" cy="593090"/>
          </a:xfrm>
          <a:prstGeom prst="roundRect">
            <a:avLst>
              <a:gd name="adj" fmla="val 23765"/>
            </a:avLst>
          </a:prstGeom>
          <a:solidFill>
            <a:srgbClr val="388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altLang="zh-CN" b="1">
                <a:solidFill>
                  <a:srgbClr val="FFFFFF"/>
                </a:solidFill>
                <a:latin typeface="+mn-ea"/>
                <a:cs typeface="+mn-ea"/>
                <a:sym typeface="+mn-ea"/>
              </a:rPr>
              <a:t>03</a:t>
            </a:r>
            <a:endParaRPr lang="en-US" altLang="zh-CN" b="1">
              <a:solidFill>
                <a:srgbClr val="FFFFFF"/>
              </a:solidFill>
              <a:latin typeface="+mn-ea"/>
              <a:cs typeface="+mn-ea"/>
              <a:sym typeface="+mn-ea"/>
            </a:endParaRPr>
          </a:p>
        </p:txBody>
      </p:sp>
      <p:sp>
        <p:nvSpPr>
          <p:cNvPr id="18" name="圆角矩形 16"/>
          <p:cNvSpPr/>
          <p:nvPr>
            <p:custDataLst>
              <p:tags r:id="rId6"/>
            </p:custDataLst>
          </p:nvPr>
        </p:nvSpPr>
        <p:spPr>
          <a:xfrm>
            <a:off x="6393181" y="4652646"/>
            <a:ext cx="589915" cy="593090"/>
          </a:xfrm>
          <a:prstGeom prst="roundRect">
            <a:avLst>
              <a:gd name="adj" fmla="val 23765"/>
            </a:avLst>
          </a:pr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p>
            <a:pPr algn="ctr">
              <a:spcBef>
                <a:spcPct val="0"/>
              </a:spcBef>
              <a:spcAft>
                <a:spcPct val="0"/>
              </a:spcAft>
            </a:pPr>
            <a:r>
              <a:rPr lang="en-US" altLang="zh-CN" b="1">
                <a:solidFill>
                  <a:srgbClr val="FFFFFF"/>
                </a:solidFill>
                <a:latin typeface="+mn-ea"/>
                <a:cs typeface="+mn-ea"/>
                <a:sym typeface="+mn-ea"/>
              </a:rPr>
              <a:t>04</a:t>
            </a:r>
            <a:endParaRPr lang="en-US" altLang="zh-CN" b="1">
              <a:solidFill>
                <a:srgbClr val="FFFFFF"/>
              </a:solidFill>
              <a:latin typeface="+mn-ea"/>
              <a:cs typeface="+mn-ea"/>
              <a:sym typeface="+mn-ea"/>
            </a:endParaRPr>
          </a:p>
        </p:txBody>
      </p:sp>
      <p:sp>
        <p:nvSpPr>
          <p:cNvPr id="4" name="文本框 3"/>
          <p:cNvSpPr txBox="1"/>
          <p:nvPr/>
        </p:nvSpPr>
        <p:spPr>
          <a:xfrm>
            <a:off x="1574165" y="4765040"/>
            <a:ext cx="3143885" cy="368300"/>
          </a:xfrm>
          <a:prstGeom prst="rect">
            <a:avLst/>
          </a:prstGeom>
          <a:noFill/>
        </p:spPr>
        <p:txBody>
          <a:bodyPr wrap="square">
            <a:spAutoFit/>
          </a:bodyPr>
          <a:lstStyle/>
          <a:p>
            <a:r>
              <a:rPr lang="en-US" altLang="zh-CN" b="1" dirty="0">
                <a:solidFill>
                  <a:srgbClr val="388BA5"/>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Core Design Concept</a:t>
            </a:r>
            <a:endParaRPr lang="en-US" altLang="zh-CN" b="1" dirty="0">
              <a:solidFill>
                <a:srgbClr val="388BA5"/>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文本框 6"/>
          <p:cNvSpPr txBox="1"/>
          <p:nvPr/>
        </p:nvSpPr>
        <p:spPr>
          <a:xfrm>
            <a:off x="7102475" y="4765040"/>
            <a:ext cx="3669030" cy="368300"/>
          </a:xfrm>
          <a:prstGeom prst="rect">
            <a:avLst/>
          </a:prstGeom>
          <a:noFill/>
        </p:spPr>
        <p:txBody>
          <a:bodyPr wrap="square" rtlCol="0" anchor="t">
            <a:spAutoFit/>
          </a:bodyPr>
          <a:p>
            <a:pPr algn="l">
              <a:buClrTx/>
              <a:buSzTx/>
              <a:buFontTx/>
            </a:pPr>
            <a:r>
              <a:rPr lang="en-US" altLang="zh-CN" b="1" dirty="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mn-ea"/>
              </a:rPr>
              <a:t>Additional Explanation</a:t>
            </a:r>
            <a:endParaRPr lang="en-US" altLang="zh-CN" b="1" dirty="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351244"/>
            <a:ext cx="7196034" cy="1142566"/>
          </a:xfrm>
          <a:prstGeom prst="rect">
            <a:avLst/>
          </a:prstGeom>
        </p:spPr>
      </p:pic>
      <p:sp>
        <p:nvSpPr>
          <p:cNvPr id="3" name="矩形 2"/>
          <p:cNvSpPr/>
          <p:nvPr/>
        </p:nvSpPr>
        <p:spPr>
          <a:xfrm>
            <a:off x="3164205" y="2722245"/>
            <a:ext cx="586359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Frontend UI &amp; Data Visualization Module</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4389755" y="1085422"/>
            <a:ext cx="3412490" cy="1445260"/>
          </a:xfrm>
          <a:prstGeom prst="rect">
            <a:avLst/>
          </a:prstGeom>
          <a:noFill/>
        </p:spPr>
        <p:txBody>
          <a:bodyPr wrap="none" rtlCol="0">
            <a:spAutoFit/>
          </a:bodyPr>
          <a:lstStyle/>
          <a:p>
            <a:pPr algn="l"/>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Task </a:t>
            </a:r>
            <a:r>
              <a:rPr lang="en-US" altLang="zh-CN" sz="88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6</a:t>
            </a:r>
            <a:endParaRPr lang="en-US" altLang="zh-CN" sz="8800" dirty="0">
              <a:ln>
                <a:noFill/>
              </a:ln>
              <a:solidFill>
                <a:schemeClr val="bg1"/>
              </a:solidFill>
              <a:effectLst>
                <a:glow rad="63500">
                  <a:schemeClr val="accent5">
                    <a:satMod val="175000"/>
                    <a:alpha val="40000"/>
                  </a:scheme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矩形 4"/>
          <p:cNvSpPr/>
          <p:nvPr/>
        </p:nvSpPr>
        <p:spPr>
          <a:xfrm>
            <a:off x="3847148" y="3449320"/>
            <a:ext cx="4497705" cy="414020"/>
          </a:xfrm>
          <a:prstGeom prst="rect">
            <a:avLst/>
          </a:prstGeom>
        </p:spPr>
        <p:txBody>
          <a:bodyPr wrap="square">
            <a:spAutoFit/>
          </a:bodyPr>
          <a:lstStyle/>
          <a:p>
            <a:pPr algn="ctr">
              <a:lnSpc>
                <a:spcPct val="150000"/>
              </a:lnSpc>
            </a:pPr>
            <a:r>
              <a:rPr lang="en-US" altLang="zh-CN" sz="1400" dirty="0">
                <a:solidFill>
                  <a:srgbClr val="388BA5"/>
                </a:solidFill>
                <a:effectLst>
                  <a:outerShdw blurRad="38100" dist="38100" dir="2700000" algn="tl">
                    <a:srgbClr val="000000">
                      <a:alpha val="43137"/>
                    </a:srgbClr>
                  </a:outerShdw>
                </a:effectLst>
                <a:cs typeface="+mn-ea"/>
                <a:sym typeface="+mn-lt"/>
              </a:rPr>
              <a:t>Owner: Huang Danlin</a:t>
            </a:r>
            <a:endParaRPr lang="en-US" altLang="zh-CN" sz="1400" dirty="0">
              <a:solidFill>
                <a:srgbClr val="388BA5"/>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流程图: 可选过程 11"/>
          <p:cNvSpPr/>
          <p:nvPr/>
        </p:nvSpPr>
        <p:spPr>
          <a:xfrm>
            <a:off x="6642100" y="3558540"/>
            <a:ext cx="4293870" cy="2536825"/>
          </a:xfrm>
          <a:prstGeom prst="flowChartAlternateProcess">
            <a:avLst/>
          </a:prstGeom>
          <a:noFill/>
          <a:ln>
            <a:solidFill>
              <a:srgbClr val="7EAFBF"/>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rPr>
              <a:t>UI Structure &amp; Frontend Logic</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pic>
        <p:nvPicPr>
          <p:cNvPr id="13" name="图片 12"/>
          <p:cNvPicPr>
            <a:picLocks noChangeAspect="1"/>
          </p:cNvPicPr>
          <p:nvPr/>
        </p:nvPicPr>
        <p:blipFill>
          <a:blip r:embed="rId1"/>
          <a:stretch>
            <a:fillRect/>
          </a:stretch>
        </p:blipFill>
        <p:spPr>
          <a:xfrm>
            <a:off x="989330" y="4819015"/>
            <a:ext cx="5463540" cy="1512570"/>
          </a:xfrm>
          <a:prstGeom prst="rect">
            <a:avLst/>
          </a:prstGeom>
        </p:spPr>
      </p:pic>
      <p:sp>
        <p:nvSpPr>
          <p:cNvPr id="4" name="文本框 3"/>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6</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5" name="圆角矩形标注 4"/>
          <p:cNvSpPr/>
          <p:nvPr/>
        </p:nvSpPr>
        <p:spPr>
          <a:xfrm>
            <a:off x="753110" y="1452245"/>
            <a:ext cx="5593080" cy="3218180"/>
          </a:xfrm>
          <a:prstGeom prst="wedgeRoundRectCallout">
            <a:avLst/>
          </a:prstGeom>
          <a:solidFill>
            <a:srgbClr val="7EA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230000"/>
              </a:lnSpc>
            </a:pPr>
            <a:r>
              <a:rPr lang="en-US" altLang="zh-CN" sz="1400" b="1"/>
              <a:t>Sidebar: Dashboard / Transactions / Accounts / Analytics</a:t>
            </a:r>
            <a:endParaRPr lang="en-US" altLang="zh-CN" sz="1400" b="1"/>
          </a:p>
          <a:p>
            <a:pPr algn="l">
              <a:lnSpc>
                <a:spcPct val="230000"/>
              </a:lnSpc>
            </a:pPr>
            <a:r>
              <a:rPr lang="en-US" altLang="zh-CN" sz="1400"/>
              <a:t>Dashboard: stats + recent list</a:t>
            </a:r>
            <a:endParaRPr lang="en-US" altLang="zh-CN" sz="1400"/>
          </a:p>
          <a:p>
            <a:pPr algn="l">
              <a:lnSpc>
                <a:spcPct val="230000"/>
              </a:lnSpc>
            </a:pPr>
            <a:r>
              <a:rPr lang="en-US" altLang="zh-CN" sz="1400"/>
              <a:t>Transactions: table + filters + add</a:t>
            </a:r>
            <a:endParaRPr lang="en-US" altLang="zh-CN" sz="1400"/>
          </a:p>
          <a:p>
            <a:pPr algn="l">
              <a:lnSpc>
                <a:spcPct val="230000"/>
              </a:lnSpc>
            </a:pPr>
            <a:r>
              <a:rPr lang="en-US" altLang="zh-CN" sz="1400"/>
              <a:t>Accounts: account cards</a:t>
            </a:r>
            <a:endParaRPr lang="en-US" altLang="zh-CN" sz="1400"/>
          </a:p>
          <a:p>
            <a:pPr algn="l">
              <a:lnSpc>
                <a:spcPct val="230000"/>
              </a:lnSpc>
            </a:pPr>
            <a:r>
              <a:rPr lang="en-US" altLang="zh-CN" sz="1400"/>
              <a:t>Analytics: charts + date selector</a:t>
            </a:r>
            <a:endParaRPr lang="en-US" altLang="zh-CN" sz="1400"/>
          </a:p>
          <a:p>
            <a:pPr algn="l">
              <a:lnSpc>
                <a:spcPct val="230000"/>
              </a:lnSpc>
            </a:pPr>
            <a:r>
              <a:rPr lang="en-US" altLang="zh-CN" sz="1400"/>
              <a:t>Modals: add/edit transaction, add account</a:t>
            </a:r>
            <a:endParaRPr lang="en-US" altLang="zh-CN" sz="1400"/>
          </a:p>
        </p:txBody>
      </p:sp>
      <p:sp>
        <p:nvSpPr>
          <p:cNvPr id="6" name="椭圆形标注 5"/>
          <p:cNvSpPr/>
          <p:nvPr/>
        </p:nvSpPr>
        <p:spPr>
          <a:xfrm rot="10800000">
            <a:off x="6642100" y="542925"/>
            <a:ext cx="4357370" cy="2708275"/>
          </a:xfrm>
          <a:prstGeom prst="wedgeEllipseCallou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rgbClr val="7EAFBF"/>
              </a:solidFill>
            </a:endParaRPr>
          </a:p>
        </p:txBody>
      </p:sp>
      <p:sp>
        <p:nvSpPr>
          <p:cNvPr id="7" name="文本框 6"/>
          <p:cNvSpPr txBox="1"/>
          <p:nvPr/>
        </p:nvSpPr>
        <p:spPr>
          <a:xfrm>
            <a:off x="3970655" y="900430"/>
            <a:ext cx="3291840" cy="460375"/>
          </a:xfrm>
          <a:prstGeom prst="rect">
            <a:avLst/>
          </a:prstGeom>
          <a:noFill/>
        </p:spPr>
        <p:txBody>
          <a:bodyPr wrap="square" rtlCol="0" anchor="t">
            <a:spAutoFit/>
          </a:bodyPr>
          <a:p>
            <a:r>
              <a:rPr lang="en-US" altLang="zh-CN" sz="2400" b="1">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UI Structure</a:t>
            </a:r>
            <a:endParaRPr lang="en-US" altLang="zh-CN" sz="2400" b="1">
              <a:solidFill>
                <a:schemeClr val="bg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8" name="文本框 7"/>
          <p:cNvSpPr txBox="1"/>
          <p:nvPr/>
        </p:nvSpPr>
        <p:spPr>
          <a:xfrm>
            <a:off x="9869805" y="2738755"/>
            <a:ext cx="2270760" cy="460375"/>
          </a:xfrm>
          <a:prstGeom prst="rect">
            <a:avLst/>
          </a:prstGeom>
          <a:noFill/>
        </p:spPr>
        <p:txBody>
          <a:bodyPr wrap="square" rtlCol="0">
            <a:spAutoFit/>
          </a:bodyPr>
          <a:p>
            <a:r>
              <a:rPr lang="en-US" altLang="zh-CN" sz="2400" b="1">
                <a:solidFill>
                  <a:srgbClr val="7EAFBF"/>
                </a:solidFill>
                <a:effectLst>
                  <a:outerShdw blurRad="38100" dist="38100" dir="2700000" algn="tl">
                    <a:srgbClr val="000000">
                      <a:alpha val="43137"/>
                    </a:srgbClr>
                  </a:outerShdw>
                </a:effectLst>
              </a:rPr>
              <a:t>Rendering</a:t>
            </a:r>
            <a:endParaRPr lang="en-US" altLang="zh-CN" sz="2400" b="1">
              <a:solidFill>
                <a:srgbClr val="7EAFBF"/>
              </a:solidFill>
              <a:effectLst>
                <a:outerShdw blurRad="38100" dist="38100" dir="2700000" algn="tl">
                  <a:srgbClr val="000000">
                    <a:alpha val="43137"/>
                  </a:srgbClr>
                </a:outerShdw>
              </a:effectLst>
            </a:endParaRPr>
          </a:p>
        </p:txBody>
      </p:sp>
      <p:sp>
        <p:nvSpPr>
          <p:cNvPr id="9" name="文本框 8"/>
          <p:cNvSpPr txBox="1"/>
          <p:nvPr/>
        </p:nvSpPr>
        <p:spPr>
          <a:xfrm>
            <a:off x="7262495" y="1002665"/>
            <a:ext cx="3235960" cy="1691640"/>
          </a:xfrm>
          <a:prstGeom prst="rect">
            <a:avLst/>
          </a:prstGeom>
          <a:noFill/>
        </p:spPr>
        <p:txBody>
          <a:bodyPr wrap="square" rtlCol="0">
            <a:spAutoFit/>
          </a:bodyPr>
          <a:p>
            <a:pPr>
              <a:lnSpc>
                <a:spcPct val="130000"/>
              </a:lnSpc>
            </a:pPr>
            <a:r>
              <a:rPr lang="en-US" altLang="zh-CN" sz="2000">
                <a:solidFill>
                  <a:schemeClr val="bg1">
                    <a:lumMod val="50000"/>
                  </a:schemeClr>
                </a:solidFill>
                <a:latin typeface="Arial" panose="020B0604020202020204" pitchFamily="34" charset="0"/>
                <a:cs typeface="Arial" panose="020B0604020202020204" pitchFamily="34" charset="0"/>
              </a:rPr>
              <a:t>Transactions, Accounts, Recent list</a:t>
            </a:r>
            <a:endParaRPr lang="en-US" altLang="zh-CN" sz="2000">
              <a:solidFill>
                <a:schemeClr val="bg1">
                  <a:lumMod val="50000"/>
                </a:schemeClr>
              </a:solidFill>
              <a:latin typeface="Arial" panose="020B0604020202020204" pitchFamily="34" charset="0"/>
              <a:cs typeface="Arial" panose="020B0604020202020204" pitchFamily="34" charset="0"/>
            </a:endParaRPr>
          </a:p>
          <a:p>
            <a:pPr>
              <a:lnSpc>
                <a:spcPct val="130000"/>
              </a:lnSpc>
            </a:pPr>
            <a:r>
              <a:rPr lang="en-US" altLang="zh-CN" sz="2000">
                <a:solidFill>
                  <a:schemeClr val="bg1">
                    <a:lumMod val="50000"/>
                  </a:schemeClr>
                </a:solidFill>
                <a:latin typeface="Arial" panose="020B0604020202020204" pitchFamily="34" charset="0"/>
                <a:cs typeface="Arial" panose="020B0604020202020204" pitchFamily="34" charset="0"/>
              </a:rPr>
              <a:t>Dashboard updates</a:t>
            </a:r>
            <a:endParaRPr lang="en-US" altLang="zh-CN" sz="2000">
              <a:solidFill>
                <a:schemeClr val="bg1">
                  <a:lumMod val="50000"/>
                </a:schemeClr>
              </a:solidFill>
              <a:latin typeface="Arial" panose="020B0604020202020204" pitchFamily="34" charset="0"/>
              <a:cs typeface="Arial" panose="020B0604020202020204" pitchFamily="34" charset="0"/>
            </a:endParaRPr>
          </a:p>
          <a:p>
            <a:pPr>
              <a:lnSpc>
                <a:spcPct val="130000"/>
              </a:lnSpc>
            </a:pPr>
            <a:r>
              <a:rPr lang="en-US" altLang="zh-CN" sz="2000">
                <a:solidFill>
                  <a:schemeClr val="bg1">
                    <a:lumMod val="50000"/>
                  </a:schemeClr>
                </a:solidFill>
                <a:latin typeface="Arial" panose="020B0604020202020204" pitchFamily="34" charset="0"/>
                <a:cs typeface="Arial" panose="020B0604020202020204" pitchFamily="34" charset="0"/>
              </a:rPr>
              <a:t>Dynamic dropdowns</a:t>
            </a:r>
            <a:endParaRPr lang="en-US" altLang="zh-CN" sz="2000">
              <a:solidFill>
                <a:schemeClr val="bg1">
                  <a:lumMod val="50000"/>
                </a:schemeClr>
              </a:solidFill>
              <a:latin typeface="Arial" panose="020B0604020202020204" pitchFamily="34" charset="0"/>
              <a:cs typeface="Arial" panose="020B0604020202020204" pitchFamily="34" charset="0"/>
            </a:endParaRPr>
          </a:p>
        </p:txBody>
      </p:sp>
      <p:sp>
        <p:nvSpPr>
          <p:cNvPr id="10" name="文本框 9"/>
          <p:cNvSpPr txBox="1"/>
          <p:nvPr/>
        </p:nvSpPr>
        <p:spPr>
          <a:xfrm>
            <a:off x="6694170" y="4085590"/>
            <a:ext cx="5010785" cy="1955165"/>
          </a:xfrm>
          <a:prstGeom prst="rect">
            <a:avLst/>
          </a:prstGeom>
          <a:noFill/>
        </p:spPr>
        <p:txBody>
          <a:bodyPr wrap="square" rtlCol="0" anchor="t">
            <a:noAutofit/>
          </a:bodyPr>
          <a:p>
            <a:r>
              <a:rPr lang="en-US" altLang="zh-CN" sz="2000">
                <a:solidFill>
                  <a:srgbClr val="7EAFBF"/>
                </a:solidFill>
              </a:rPr>
              <a:t>Global state</a:t>
            </a:r>
            <a:endParaRPr lang="en-US" altLang="zh-CN" sz="2000">
              <a:solidFill>
                <a:srgbClr val="7EAFBF"/>
              </a:solidFill>
            </a:endParaRPr>
          </a:p>
          <a:p>
            <a:r>
              <a:rPr lang="en-US" altLang="zh-CN" sz="2000">
                <a:solidFill>
                  <a:srgbClr val="7EAFBF"/>
                </a:solidFill>
              </a:rPr>
              <a:t>loadData()</a:t>
            </a:r>
            <a:endParaRPr lang="en-US" altLang="zh-CN" sz="2000">
              <a:solidFill>
                <a:srgbClr val="7EAFBF"/>
              </a:solidFill>
            </a:endParaRPr>
          </a:p>
          <a:p>
            <a:r>
              <a:rPr lang="en-US" altLang="zh-CN" sz="2000">
                <a:solidFill>
                  <a:srgbClr val="7EAFBF"/>
                </a:solidFill>
              </a:rPr>
              <a:t>switchView()</a:t>
            </a:r>
            <a:endParaRPr lang="en-US" altLang="zh-CN" sz="2000">
              <a:solidFill>
                <a:srgbClr val="7EAFBF"/>
              </a:solidFill>
            </a:endParaRPr>
          </a:p>
          <a:p>
            <a:r>
              <a:rPr lang="en-US" altLang="zh-CN" sz="2000">
                <a:solidFill>
                  <a:srgbClr val="7EAFBF"/>
                </a:solidFill>
              </a:rPr>
              <a:t>Form handling</a:t>
            </a:r>
            <a:endParaRPr lang="en-US" altLang="zh-CN" sz="2000">
              <a:solidFill>
                <a:srgbClr val="7EAFBF"/>
              </a:solidFill>
            </a:endParaRPr>
          </a:p>
          <a:p>
            <a:r>
              <a:rPr lang="en-US" altLang="zh-CN" sz="2000">
                <a:solidFill>
                  <a:srgbClr val="7EAFBF"/>
                </a:solidFill>
              </a:rPr>
              <a:t>Filters: date / type / category</a:t>
            </a:r>
            <a:endParaRPr lang="en-US" altLang="zh-CN" sz="2000">
              <a:solidFill>
                <a:srgbClr val="7EAFBF"/>
              </a:solidFill>
            </a:endParaRPr>
          </a:p>
          <a:p>
            <a:r>
              <a:rPr lang="en-US" altLang="zh-CN" sz="2000">
                <a:solidFill>
                  <a:srgbClr val="7EAFBF"/>
                </a:solidFill>
              </a:rPr>
              <a:t>CRUD via Tauri.invoke()</a:t>
            </a:r>
            <a:endParaRPr lang="en-US" altLang="zh-CN" sz="2000">
              <a:solidFill>
                <a:srgbClr val="7EAFBF"/>
              </a:solidFill>
            </a:endParaRPr>
          </a:p>
        </p:txBody>
      </p:sp>
      <p:sp>
        <p:nvSpPr>
          <p:cNvPr id="11" name="文本框 10"/>
          <p:cNvSpPr txBox="1"/>
          <p:nvPr/>
        </p:nvSpPr>
        <p:spPr>
          <a:xfrm>
            <a:off x="7099300" y="3557905"/>
            <a:ext cx="3047365" cy="398780"/>
          </a:xfrm>
          <a:prstGeom prst="rect">
            <a:avLst/>
          </a:prstGeom>
          <a:noFill/>
        </p:spPr>
        <p:txBody>
          <a:bodyPr wrap="square" rtlCol="0" anchor="t">
            <a:spAutoFit/>
          </a:bodyPr>
          <a:p>
            <a:r>
              <a:rPr lang="zh-CN" altLang="en-US" sz="2000" b="1">
                <a:solidFill>
                  <a:schemeClr val="tx1">
                    <a:lumMod val="75000"/>
                    <a:lumOff val="25000"/>
                  </a:schemeClr>
                </a:solidFill>
                <a:effectLst/>
                <a:sym typeface="+mn-ea"/>
              </a:rPr>
              <a:t>⚙</a:t>
            </a:r>
            <a:r>
              <a:rPr lang="en-US" altLang="en-US" sz="2000" b="1">
                <a:solidFill>
                  <a:schemeClr val="tx1">
                    <a:lumMod val="75000"/>
                    <a:lumOff val="25000"/>
                  </a:schemeClr>
                </a:solidFill>
                <a:effectLst/>
                <a:sym typeface="+mn-ea"/>
              </a:rPr>
              <a:t>️</a:t>
            </a:r>
            <a:r>
              <a:rPr lang="en-US" altLang="zh-CN" sz="2000" b="1">
                <a:solidFill>
                  <a:schemeClr val="tx1">
                    <a:lumMod val="75000"/>
                    <a:lumOff val="25000"/>
                  </a:schemeClr>
                </a:solidFill>
                <a:effectLst/>
                <a:sym typeface="+mn-ea"/>
              </a:rPr>
              <a:t> Frontend Logic</a:t>
            </a:r>
            <a:endParaRPr lang="en-US" altLang="zh-CN" sz="2000" b="1">
              <a:solidFill>
                <a:schemeClr val="tx1">
                  <a:lumMod val="75000"/>
                  <a:lumOff val="25000"/>
                </a:schemeClr>
              </a:solidFill>
              <a:effectLst/>
              <a:sym typeface="+mn-ea"/>
            </a:endParaRPr>
          </a:p>
        </p:txBody>
      </p:sp>
      <p:pic>
        <p:nvPicPr>
          <p:cNvPr id="2" name="图片 1"/>
          <p:cNvPicPr>
            <a:picLocks noChangeAspect="1"/>
          </p:cNvPicPr>
          <p:nvPr/>
        </p:nvPicPr>
        <p:blipFill>
          <a:blip r:embed="rId2">
            <a:alphaModFix amt="80000"/>
          </a:blip>
          <a:stretch>
            <a:fillRect/>
          </a:stretch>
        </p:blipFill>
        <p:spPr>
          <a:xfrm>
            <a:off x="4613275" y="2164715"/>
            <a:ext cx="1482725" cy="2000885"/>
          </a:xfrm>
          <a:prstGeom prst="rect">
            <a:avLst/>
          </a:prstGeom>
          <a:effectLst>
            <a:softEdge rad="31750"/>
          </a:effectLst>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rPr>
              <a:t>Visualization &amp; Styling</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4" name="文本框 3"/>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6</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6" name="流程图: 库存数据 5"/>
          <p:cNvSpPr/>
          <p:nvPr/>
        </p:nvSpPr>
        <p:spPr>
          <a:xfrm>
            <a:off x="638810" y="1656715"/>
            <a:ext cx="5457190" cy="2143125"/>
          </a:xfrm>
          <a:prstGeom prst="flowChartOnlineStorage">
            <a:avLst/>
          </a:prstGeom>
          <a:solidFill>
            <a:srgbClr val="BDD7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p:cNvPicPr>
            <a:picLocks noChangeAspect="1"/>
          </p:cNvPicPr>
          <p:nvPr/>
        </p:nvPicPr>
        <p:blipFill>
          <a:blip r:embed="rId1">
            <a:alphaModFix amt="75000"/>
          </a:blip>
          <a:stretch>
            <a:fillRect/>
          </a:stretch>
        </p:blipFill>
        <p:spPr>
          <a:xfrm>
            <a:off x="3757295" y="3348990"/>
            <a:ext cx="2609215" cy="2030730"/>
          </a:xfrm>
          <a:prstGeom prst="rect">
            <a:avLst/>
          </a:prstGeom>
        </p:spPr>
      </p:pic>
      <p:sp>
        <p:nvSpPr>
          <p:cNvPr id="2" name="文本框 1"/>
          <p:cNvSpPr txBox="1"/>
          <p:nvPr/>
        </p:nvSpPr>
        <p:spPr>
          <a:xfrm>
            <a:off x="1283653" y="1820863"/>
            <a:ext cx="4007485" cy="1691640"/>
          </a:xfrm>
          <a:prstGeom prst="rect">
            <a:avLst/>
          </a:prstGeom>
          <a:noFill/>
        </p:spPr>
        <p:txBody>
          <a:bodyPr wrap="square" rtlCol="0" anchor="t">
            <a:spAutoFit/>
          </a:bodyPr>
          <a:p>
            <a:pPr>
              <a:lnSpc>
                <a:spcPct val="130000"/>
              </a:lnSpc>
            </a:pPr>
            <a:r>
              <a:rPr lang="en-US" altLang="zh-CN" sz="2000">
                <a:solidFill>
                  <a:schemeClr val="bg1"/>
                </a:solidFill>
              </a:rPr>
              <a:t>Pie: expense categories</a:t>
            </a:r>
            <a:endParaRPr lang="en-US" altLang="zh-CN" sz="2000">
              <a:solidFill>
                <a:schemeClr val="bg1"/>
              </a:solidFill>
            </a:endParaRPr>
          </a:p>
          <a:p>
            <a:pPr>
              <a:lnSpc>
                <a:spcPct val="130000"/>
              </a:lnSpc>
            </a:pPr>
            <a:r>
              <a:rPr lang="en-US" altLang="zh-CN" sz="2000">
                <a:solidFill>
                  <a:schemeClr val="bg1"/>
                </a:solidFill>
              </a:rPr>
              <a:t>Line: income-expense trends</a:t>
            </a:r>
            <a:endParaRPr lang="en-US" altLang="zh-CN" sz="2000">
              <a:solidFill>
                <a:schemeClr val="bg1"/>
              </a:solidFill>
            </a:endParaRPr>
          </a:p>
          <a:p>
            <a:pPr>
              <a:lnSpc>
                <a:spcPct val="130000"/>
              </a:lnSpc>
            </a:pPr>
            <a:r>
              <a:rPr lang="en-US" altLang="zh-CN" sz="2000">
                <a:solidFill>
                  <a:schemeClr val="bg1"/>
                </a:solidFill>
              </a:rPr>
              <a:t>Destroy/recreate lifecycle</a:t>
            </a:r>
            <a:endParaRPr lang="en-US" altLang="zh-CN" sz="2000">
              <a:solidFill>
                <a:schemeClr val="bg1"/>
              </a:solidFill>
            </a:endParaRPr>
          </a:p>
          <a:p>
            <a:pPr>
              <a:lnSpc>
                <a:spcPct val="130000"/>
              </a:lnSpc>
            </a:pPr>
            <a:r>
              <a:rPr lang="en-US" altLang="zh-CN" sz="2000">
                <a:solidFill>
                  <a:schemeClr val="bg1"/>
                </a:solidFill>
              </a:rPr>
              <a:t>Dynamic updates</a:t>
            </a:r>
            <a:endParaRPr lang="en-US" altLang="zh-CN" sz="2000">
              <a:solidFill>
                <a:schemeClr val="bg1"/>
              </a:solidFill>
            </a:endParaRPr>
          </a:p>
        </p:txBody>
      </p:sp>
      <p:sp>
        <p:nvSpPr>
          <p:cNvPr id="5" name="文本框 4"/>
          <p:cNvSpPr txBox="1"/>
          <p:nvPr/>
        </p:nvSpPr>
        <p:spPr>
          <a:xfrm>
            <a:off x="1411605" y="1012825"/>
            <a:ext cx="3752215" cy="460375"/>
          </a:xfrm>
          <a:prstGeom prst="rect">
            <a:avLst/>
          </a:prstGeom>
          <a:noFill/>
        </p:spPr>
        <p:txBody>
          <a:bodyPr wrap="square" rtlCol="0" anchor="t">
            <a:spAutoFit/>
          </a:bodyPr>
          <a:p>
            <a:r>
              <a:rPr lang="en-US" altLang="zh-CN" sz="2400" b="1">
                <a:solidFill>
                  <a:schemeClr val="tx1">
                    <a:lumMod val="50000"/>
                    <a:lumOff val="50000"/>
                  </a:schemeClr>
                </a:solidFill>
                <a:effectLst>
                  <a:outerShdw blurRad="38100" dist="38100" dir="2700000" algn="tl">
                    <a:srgbClr val="000000">
                      <a:alpha val="43137"/>
                    </a:srgbClr>
                  </a:outerShdw>
                </a:effectLst>
                <a:sym typeface="+mn-ea"/>
              </a:rPr>
              <a:t>Charts (Chart.js)</a:t>
            </a:r>
            <a:endParaRPr lang="en-US" altLang="zh-CN" sz="2400" b="1">
              <a:solidFill>
                <a:schemeClr val="tx1">
                  <a:lumMod val="50000"/>
                  <a:lumOff val="50000"/>
                </a:schemeClr>
              </a:solidFill>
              <a:effectLst>
                <a:outerShdw blurRad="38100" dist="38100" dir="2700000" algn="tl">
                  <a:srgbClr val="000000">
                    <a:alpha val="43137"/>
                  </a:srgbClr>
                </a:outerShdw>
              </a:effectLst>
              <a:sym typeface="+mn-ea"/>
            </a:endParaRPr>
          </a:p>
        </p:txBody>
      </p:sp>
      <p:sp>
        <p:nvSpPr>
          <p:cNvPr id="7" name="文本框 6"/>
          <p:cNvSpPr txBox="1"/>
          <p:nvPr/>
        </p:nvSpPr>
        <p:spPr>
          <a:xfrm>
            <a:off x="6840220" y="4119880"/>
            <a:ext cx="5351780" cy="1973580"/>
          </a:xfrm>
          <a:prstGeom prst="rect">
            <a:avLst/>
          </a:prstGeom>
          <a:noFill/>
        </p:spPr>
        <p:txBody>
          <a:bodyPr wrap="square" rtlCol="0" anchor="t">
            <a:spAutoFit/>
          </a:bodyPr>
          <a:p>
            <a:pPr>
              <a:lnSpc>
                <a:spcPct val="170000"/>
              </a:lnSpc>
            </a:pPr>
            <a:r>
              <a:rPr lang="en-US" altLang="zh-CN">
                <a:solidFill>
                  <a:schemeClr val="bg2">
                    <a:lumMod val="50000"/>
                  </a:schemeClr>
                </a:solidFill>
              </a:rPr>
              <a:t>Responsive layout (Flex / Grid)</a:t>
            </a:r>
            <a:endParaRPr lang="en-US" altLang="zh-CN">
              <a:solidFill>
                <a:schemeClr val="bg2">
                  <a:lumMod val="50000"/>
                </a:schemeClr>
              </a:solidFill>
            </a:endParaRPr>
          </a:p>
          <a:p>
            <a:pPr>
              <a:lnSpc>
                <a:spcPct val="170000"/>
              </a:lnSpc>
            </a:pPr>
            <a:r>
              <a:rPr lang="en-US" altLang="zh-CN">
                <a:solidFill>
                  <a:schemeClr val="bg2">
                    <a:lumMod val="50000"/>
                  </a:schemeClr>
                </a:solidFill>
              </a:rPr>
              <a:t>Modern UI: rounded, shadow, color palette</a:t>
            </a:r>
            <a:endParaRPr lang="en-US" altLang="zh-CN">
              <a:solidFill>
                <a:schemeClr val="bg2">
                  <a:lumMod val="50000"/>
                </a:schemeClr>
              </a:solidFill>
            </a:endParaRPr>
          </a:p>
          <a:p>
            <a:pPr>
              <a:lnSpc>
                <a:spcPct val="170000"/>
              </a:lnSpc>
            </a:pPr>
            <a:r>
              <a:rPr lang="en-US" altLang="zh-CN">
                <a:solidFill>
                  <a:schemeClr val="bg2">
                    <a:lumMod val="50000"/>
                  </a:schemeClr>
                </a:solidFill>
              </a:rPr>
              <a:t>Buttons, cards, modals</a:t>
            </a:r>
            <a:endParaRPr lang="en-US" altLang="zh-CN">
              <a:solidFill>
                <a:schemeClr val="bg2">
                  <a:lumMod val="50000"/>
                </a:schemeClr>
              </a:solidFill>
            </a:endParaRPr>
          </a:p>
          <a:p>
            <a:pPr>
              <a:lnSpc>
                <a:spcPct val="170000"/>
              </a:lnSpc>
            </a:pPr>
            <a:r>
              <a:rPr lang="en-US" altLang="zh-CN">
                <a:solidFill>
                  <a:schemeClr val="bg2">
                    <a:lumMod val="50000"/>
                  </a:schemeClr>
                </a:solidFill>
              </a:rPr>
              <a:t>Adaptive chart sizing</a:t>
            </a:r>
            <a:endParaRPr lang="en-US" altLang="zh-CN">
              <a:solidFill>
                <a:schemeClr val="bg2">
                  <a:lumMod val="50000"/>
                </a:schemeClr>
              </a:solidFill>
            </a:endParaRPr>
          </a:p>
        </p:txBody>
      </p:sp>
      <p:sp>
        <p:nvSpPr>
          <p:cNvPr id="8" name="文本框 7"/>
          <p:cNvSpPr txBox="1"/>
          <p:nvPr/>
        </p:nvSpPr>
        <p:spPr>
          <a:xfrm>
            <a:off x="7736840" y="1012825"/>
            <a:ext cx="2667000" cy="533400"/>
          </a:xfrm>
          <a:prstGeom prst="rect">
            <a:avLst/>
          </a:prstGeom>
          <a:noFill/>
        </p:spPr>
        <p:txBody>
          <a:bodyPr wrap="square" rtlCol="0" anchor="t">
            <a:noAutofit/>
          </a:bodyPr>
          <a:p>
            <a:r>
              <a:rPr lang="zh-CN" altLang="en-US" sz="2400" b="1">
                <a:solidFill>
                  <a:srgbClr val="388BA5"/>
                </a:solidFill>
                <a:effectLst>
                  <a:outerShdw blurRad="38100" dist="38100" dir="2700000" algn="tl">
                    <a:srgbClr val="000000">
                      <a:alpha val="43137"/>
                    </a:srgbClr>
                  </a:outerShdw>
                </a:effectLst>
                <a:sym typeface="+mn-ea"/>
              </a:rPr>
              <a:t>🎨</a:t>
            </a:r>
            <a:r>
              <a:rPr lang="en-US" altLang="zh-CN" sz="2400" b="1">
                <a:solidFill>
                  <a:srgbClr val="388BA5"/>
                </a:solidFill>
                <a:effectLst>
                  <a:outerShdw blurRad="38100" dist="38100" dir="2700000" algn="tl">
                    <a:srgbClr val="000000">
                      <a:alpha val="43137"/>
                    </a:srgbClr>
                  </a:outerShdw>
                </a:effectLst>
                <a:sym typeface="+mn-ea"/>
              </a:rPr>
              <a:t> Styling (CSS)</a:t>
            </a:r>
            <a:endParaRPr lang="en-US" altLang="zh-CN" sz="2400" b="1">
              <a:solidFill>
                <a:srgbClr val="388BA5"/>
              </a:solidFill>
              <a:effectLst>
                <a:outerShdw blurRad="38100" dist="38100" dir="2700000" algn="tl">
                  <a:srgbClr val="000000">
                    <a:alpha val="43137"/>
                  </a:srgbClr>
                </a:outerShdw>
              </a:effectLst>
              <a:sym typeface="+mn-ea"/>
            </a:endParaRPr>
          </a:p>
        </p:txBody>
      </p:sp>
      <p:cxnSp>
        <p:nvCxnSpPr>
          <p:cNvPr id="9" name="直接连接符 8"/>
          <p:cNvCxnSpPr/>
          <p:nvPr/>
        </p:nvCxnSpPr>
        <p:spPr>
          <a:xfrm flipV="1">
            <a:off x="-8890" y="5746360"/>
            <a:ext cx="6318250" cy="26670"/>
          </a:xfrm>
          <a:prstGeom prst="line">
            <a:avLst/>
          </a:prstGeom>
          <a:ln w="31750" cap="rnd">
            <a:solidFill>
              <a:srgbClr val="388BA5"/>
            </a:solidFill>
            <a:round/>
          </a:ln>
        </p:spPr>
        <p:style>
          <a:lnRef idx="0">
            <a:srgbClr val="FFFFFF"/>
          </a:lnRef>
          <a:fillRef idx="0">
            <a:srgbClr val="FFFFFF"/>
          </a:fillRef>
          <a:effectRef idx="0">
            <a:srgbClr val="FFFFFF"/>
          </a:effectRef>
          <a:fontRef idx="minor">
            <a:schemeClr val="tx1"/>
          </a:fontRef>
        </p:style>
      </p:cxnSp>
      <p:cxnSp>
        <p:nvCxnSpPr>
          <p:cNvPr id="10" name="直接连接符 9"/>
          <p:cNvCxnSpPr/>
          <p:nvPr/>
        </p:nvCxnSpPr>
        <p:spPr>
          <a:xfrm flipV="1">
            <a:off x="0" y="6325235"/>
            <a:ext cx="4210685" cy="45720"/>
          </a:xfrm>
          <a:prstGeom prst="line">
            <a:avLst/>
          </a:prstGeom>
          <a:ln w="31750" cap="rnd">
            <a:solidFill>
              <a:srgbClr val="BDD7EE"/>
            </a:solidFill>
            <a:round/>
          </a:ln>
        </p:spPr>
        <p:style>
          <a:lnRef idx="0">
            <a:srgbClr val="FFFFFF"/>
          </a:lnRef>
          <a:fillRef idx="0">
            <a:srgbClr val="FFFFFF"/>
          </a:fillRef>
          <a:effectRef idx="0">
            <a:srgbClr val="FFFFFF"/>
          </a:effectRef>
          <a:fontRef idx="minor">
            <a:schemeClr val="tx1"/>
          </a:fontRef>
        </p:style>
      </p:cxnSp>
      <p:pic>
        <p:nvPicPr>
          <p:cNvPr id="12" name="图片 11"/>
          <p:cNvPicPr>
            <a:picLocks noChangeAspect="1"/>
          </p:cNvPicPr>
          <p:nvPr/>
        </p:nvPicPr>
        <p:blipFill>
          <a:blip r:embed="rId2">
            <a:alphaModFix amt="75000"/>
          </a:blip>
          <a:stretch>
            <a:fillRect/>
          </a:stretch>
        </p:blipFill>
        <p:spPr>
          <a:xfrm>
            <a:off x="643255" y="3684905"/>
            <a:ext cx="2957830" cy="1720850"/>
          </a:xfrm>
          <a:prstGeom prst="rect">
            <a:avLst/>
          </a:prstGeom>
        </p:spPr>
      </p:pic>
      <p:pic>
        <p:nvPicPr>
          <p:cNvPr id="13" name="图片 12"/>
          <p:cNvPicPr>
            <a:picLocks noChangeAspect="1"/>
          </p:cNvPicPr>
          <p:nvPr/>
        </p:nvPicPr>
        <p:blipFill>
          <a:blip r:embed="rId3">
            <a:alphaModFix amt="80000"/>
          </a:blip>
          <a:stretch>
            <a:fillRect/>
          </a:stretch>
        </p:blipFill>
        <p:spPr>
          <a:xfrm>
            <a:off x="6950710" y="1656715"/>
            <a:ext cx="4330700" cy="2463165"/>
          </a:xfrm>
          <a:prstGeom prst="rect">
            <a:avLst/>
          </a:prstGeom>
        </p:spPr>
      </p:pic>
      <p:pic>
        <p:nvPicPr>
          <p:cNvPr id="14" name="图片 13" descr="光标箭头"/>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27740" y="323215"/>
            <a:ext cx="507365" cy="5073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24915" y="204470"/>
            <a:ext cx="10967085" cy="460375"/>
          </a:xfrm>
          <a:prstGeom prst="rect">
            <a:avLst/>
          </a:prstGeom>
        </p:spPr>
        <p:txBody>
          <a:bodyPr wrap="square">
            <a:spAutoFit/>
            <a:extLst>
              <a:ext uri="{4A0BC546-FE56-4ADE-93B0-CB8AF2F6F144}">
                <wpsdc:textFrameExt xmlns:wpsdc="http://www.wps.cn/officeDocument/2022/drawingmlCustomData" type="title"/>
              </a:ext>
            </a:extLst>
          </a:bodyPr>
          <a:p>
            <a:pPr algn="l">
              <a:buClrTx/>
              <a:buSzTx/>
              <a:buFontTx/>
            </a:pPr>
            <a:r>
              <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rPr>
              <a:t>Acceptance Criteria</a:t>
            </a:r>
            <a:endParaRPr lang="en-US" altLang="zh-CN" sz="2400" b="1" dirty="0">
              <a:solidFill>
                <a:srgbClr val="267CA0"/>
              </a:solidFill>
              <a:latin typeface="Times New Roman" panose="02020603050405020304" charset="0"/>
              <a:ea typeface="包图粗黑体" panose="02000800000000000000" pitchFamily="2" charset="-122"/>
              <a:cs typeface="Times New Roman" panose="02020603050405020304" charset="0"/>
            </a:endParaRPr>
          </a:p>
        </p:txBody>
      </p:sp>
      <p:sp>
        <p:nvSpPr>
          <p:cNvPr id="4" name="文本框 3"/>
          <p:cNvSpPr txBox="1"/>
          <p:nvPr/>
        </p:nvSpPr>
        <p:spPr>
          <a:xfrm>
            <a:off x="451485" y="-17145"/>
            <a:ext cx="593090" cy="793115"/>
          </a:xfrm>
          <a:prstGeom prst="rect">
            <a:avLst/>
          </a:prstGeom>
          <a:noFill/>
        </p:spPr>
        <p:txBody>
          <a:bodyPr wrap="square" rtlCol="0" anchor="t">
            <a:noAutofit/>
          </a:bodyPr>
          <a:p>
            <a:r>
              <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6</a:t>
            </a:r>
            <a:endParaRPr lang="en-US" altLang="zh-CN" sz="5400" dirty="0">
              <a:ln>
                <a:noFill/>
              </a:ln>
              <a:solidFill>
                <a:schemeClr val="bg1"/>
              </a:solidFill>
              <a:effectLst>
                <a:glow rad="63500">
                  <a:srgbClr val="267CA0">
                    <a:alpha val="40000"/>
                  </a:srgbClr>
                </a:glow>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sp>
        <p:nvSpPr>
          <p:cNvPr id="91" name="任意多边形 90"/>
          <p:cNvSpPr/>
          <p:nvPr>
            <p:custDataLst>
              <p:tags r:id="rId1"/>
            </p:custDataLst>
          </p:nvPr>
        </p:nvSpPr>
        <p:spPr>
          <a:xfrm>
            <a:off x="10095572" y="2549983"/>
            <a:ext cx="1700107" cy="2939146"/>
          </a:xfrm>
          <a:custGeom>
            <a:avLst/>
            <a:gdLst>
              <a:gd name="adj" fmla="val 58133"/>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2267" h="3920">
                <a:moveTo>
                  <a:pt x="801" y="0"/>
                </a:moveTo>
                <a:lnTo>
                  <a:pt x="2267" y="0"/>
                </a:lnTo>
                <a:lnTo>
                  <a:pt x="232" y="3920"/>
                </a:lnTo>
                <a:lnTo>
                  <a:pt x="0" y="3920"/>
                </a:lnTo>
                <a:lnTo>
                  <a:pt x="1244" y="1575"/>
                </a:lnTo>
                <a:lnTo>
                  <a:pt x="1244" y="1575"/>
                </a:lnTo>
                <a:lnTo>
                  <a:pt x="1244" y="1575"/>
                </a:lnTo>
                <a:lnTo>
                  <a:pt x="1244" y="1575"/>
                </a:lnTo>
                <a:lnTo>
                  <a:pt x="1244" y="1575"/>
                </a:lnTo>
                <a:lnTo>
                  <a:pt x="417" y="740"/>
                </a:lnTo>
                <a:lnTo>
                  <a:pt x="801" y="0"/>
                </a:lnTo>
                <a:close/>
              </a:path>
            </a:pathLst>
          </a:custGeom>
          <a:solidFill>
            <a:schemeClr val="accent1">
              <a:lumMod val="40000"/>
              <a:lumOff val="6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ltLang="zh-CN">
              <a:solidFill>
                <a:schemeClr val="lt1"/>
              </a:solidFill>
              <a:cs typeface="微软雅黑" panose="020B0503020204020204" charset="-122"/>
              <a:sym typeface="+mn-ea"/>
            </a:endParaRPr>
          </a:p>
        </p:txBody>
      </p:sp>
      <p:sp>
        <p:nvSpPr>
          <p:cNvPr id="92" name="任意多边形 91"/>
          <p:cNvSpPr/>
          <p:nvPr>
            <p:custDataLst>
              <p:tags r:id="rId2"/>
            </p:custDataLst>
          </p:nvPr>
        </p:nvSpPr>
        <p:spPr>
          <a:xfrm flipH="1">
            <a:off x="8608754" y="1423810"/>
            <a:ext cx="3187324" cy="1456077"/>
          </a:xfrm>
          <a:custGeom>
            <a:avLst/>
            <a:gdLst>
              <a:gd name="connsiteX0" fmla="*/ 1000 w 3940"/>
              <a:gd name="connsiteY0" fmla="*/ 390 h 1800"/>
              <a:gd name="connsiteX1" fmla="*/ 3040 w 3940"/>
              <a:gd name="connsiteY1" fmla="*/ 390 h 1800"/>
              <a:gd name="connsiteX2" fmla="*/ 3040 w 3940"/>
              <a:gd name="connsiteY2" fmla="*/ 0 h 1800"/>
              <a:gd name="connsiteX3" fmla="*/ 3940 w 3940"/>
              <a:gd name="connsiteY3" fmla="*/ 900 h 1800"/>
              <a:gd name="connsiteX4" fmla="*/ 3040 w 3940"/>
              <a:gd name="connsiteY4" fmla="*/ 1800 h 1800"/>
              <a:gd name="connsiteX5" fmla="*/ 3040 w 3940"/>
              <a:gd name="connsiteY5" fmla="*/ 1410 h 1800"/>
              <a:gd name="connsiteX6" fmla="*/ 0 w 3940"/>
              <a:gd name="connsiteY6" fmla="*/ 1400 h 1800"/>
              <a:gd name="connsiteX7" fmla="*/ 1000 w 3940"/>
              <a:gd name="connsiteY7" fmla="*/ 390 h 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0" h="1800">
                <a:moveTo>
                  <a:pt x="1000" y="390"/>
                </a:moveTo>
                <a:lnTo>
                  <a:pt x="3040" y="390"/>
                </a:lnTo>
                <a:lnTo>
                  <a:pt x="3040" y="0"/>
                </a:lnTo>
                <a:lnTo>
                  <a:pt x="3940" y="900"/>
                </a:lnTo>
                <a:lnTo>
                  <a:pt x="3040" y="1800"/>
                </a:lnTo>
                <a:lnTo>
                  <a:pt x="3040" y="1410"/>
                </a:lnTo>
                <a:lnTo>
                  <a:pt x="0" y="1400"/>
                </a:lnTo>
                <a:lnTo>
                  <a:pt x="1000" y="390"/>
                </a:lnTo>
                <a:close/>
              </a:path>
            </a:pathLst>
          </a:custGeom>
          <a:gradFill>
            <a:gsLst>
              <a:gs pos="58000">
                <a:schemeClr val="accent1">
                  <a:lumMod val="91000"/>
                  <a:lumOff val="9000"/>
                  <a:alpha val="100000"/>
                </a:schemeClr>
              </a:gs>
              <a:gs pos="100000">
                <a:schemeClr val="accent1">
                  <a:lumMod val="40000"/>
                  <a:lumOff val="60000"/>
                  <a:alpha val="100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35990" tIns="252095" rIns="539750" bIns="252095" numCol="1" spcCol="0" rtlCol="0" fromWordArt="0" anchor="ctr" anchorCtr="0" forceAA="0" compatLnSpc="1">
            <a:noAutofit/>
          </a:bodyPr>
          <a:p>
            <a:pPr lvl="0" algn="l">
              <a:spcBef>
                <a:spcPct val="0"/>
              </a:spcBef>
              <a:spcAft>
                <a:spcPct val="0"/>
              </a:spcAft>
              <a:buClrTx/>
              <a:buSzTx/>
              <a:buFontTx/>
            </a:pPr>
            <a:r>
              <a:rPr lang="en-US" altLang="zh-CN" sz="1600" b="1">
                <a:solidFill>
                  <a:srgbClr val="FFFFFF"/>
                </a:solidFill>
                <a:latin typeface="+mn-ea"/>
                <a:cs typeface="+mn-ea"/>
                <a:sym typeface="+mn-ea"/>
              </a:rPr>
              <a:t>Code Quality</a:t>
            </a:r>
            <a:endParaRPr lang="en-US" altLang="zh-CN" sz="1600" b="1">
              <a:solidFill>
                <a:srgbClr val="FFFFFF"/>
              </a:solidFill>
              <a:latin typeface="+mn-ea"/>
              <a:cs typeface="+mn-ea"/>
              <a:sym typeface="+mn-ea"/>
            </a:endParaRPr>
          </a:p>
        </p:txBody>
      </p:sp>
      <p:sp>
        <p:nvSpPr>
          <p:cNvPr id="5" name="矩形 4"/>
          <p:cNvSpPr/>
          <p:nvPr>
            <p:custDataLst>
              <p:tags r:id="rId3"/>
            </p:custDataLst>
          </p:nvPr>
        </p:nvSpPr>
        <p:spPr>
          <a:xfrm>
            <a:off x="2454275" y="1906270"/>
            <a:ext cx="5996940" cy="481965"/>
          </a:xfrm>
          <a:prstGeom prst="rect">
            <a:avLst/>
          </a:prstGeom>
          <a:noFill/>
        </p:spPr>
        <p:txBody>
          <a:bodyPr wrap="square" lIns="0" tIns="0" rIns="0" bIns="0" rtlCol="0" anchor="t" anchorCtr="0">
            <a:noAutofit/>
          </a:bodyPr>
          <a:p>
            <a:pPr algn="r">
              <a:lnSpc>
                <a:spcPct val="150000"/>
              </a:lnSpc>
              <a:spcBef>
                <a:spcPct val="0"/>
              </a:spcBef>
              <a:spcAft>
                <a:spcPct val="0"/>
              </a:spcAft>
            </a:pPr>
            <a:r>
              <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sym typeface="+mn-ea"/>
              </a:rPr>
              <a:t>Clear modules              Single-responsibility logic</a:t>
            </a:r>
            <a:endPar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sym typeface="+mn-ea"/>
            </a:endParaRPr>
          </a:p>
        </p:txBody>
      </p:sp>
      <p:sp>
        <p:nvSpPr>
          <p:cNvPr id="6" name="矩形 5"/>
          <p:cNvSpPr/>
          <p:nvPr>
            <p:custDataLst>
              <p:tags r:id="rId4"/>
            </p:custDataLst>
          </p:nvPr>
        </p:nvSpPr>
        <p:spPr>
          <a:xfrm>
            <a:off x="2098605" y="2891197"/>
            <a:ext cx="5426923" cy="789521"/>
          </a:xfrm>
          <a:prstGeom prst="rect">
            <a:avLst/>
          </a:prstGeom>
          <a:noFill/>
        </p:spPr>
        <p:txBody>
          <a:bodyPr wrap="square" lIns="0" tIns="0" rIns="0" bIns="0" rtlCol="0" anchor="t" anchorCtr="0">
            <a:noAutofit/>
          </a:bodyPr>
          <a:p>
            <a:pPr algn="r">
              <a:lnSpc>
                <a:spcPct val="150000"/>
              </a:lnSpc>
              <a:buClrTx/>
              <a:buSzTx/>
              <a:buNone/>
            </a:pPr>
            <a:r>
              <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rPr>
              <a:t>Filters work                      Charts render + update</a:t>
            </a:r>
            <a:endPar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endParaRPr>
          </a:p>
          <a:p>
            <a:pPr algn="r">
              <a:lnSpc>
                <a:spcPct val="150000"/>
              </a:lnSpc>
              <a:buClrTx/>
              <a:buSzTx/>
              <a:buNone/>
            </a:pPr>
            <a:r>
              <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rPr>
              <a:t>Modals smooth                        Responsive layout</a:t>
            </a:r>
            <a:endPar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endParaRPr>
          </a:p>
        </p:txBody>
      </p:sp>
      <p:sp>
        <p:nvSpPr>
          <p:cNvPr id="7" name="矩形 6"/>
          <p:cNvSpPr/>
          <p:nvPr>
            <p:custDataLst>
              <p:tags r:id="rId5"/>
            </p:custDataLst>
          </p:nvPr>
        </p:nvSpPr>
        <p:spPr>
          <a:xfrm>
            <a:off x="1111250" y="4130675"/>
            <a:ext cx="5720715" cy="789305"/>
          </a:xfrm>
          <a:prstGeom prst="rect">
            <a:avLst/>
          </a:prstGeom>
          <a:noFill/>
        </p:spPr>
        <p:txBody>
          <a:bodyPr wrap="square" lIns="0" tIns="0" rIns="0" bIns="0" rtlCol="0" anchor="t" anchorCtr="0">
            <a:noAutofit/>
          </a:bodyPr>
          <a:p>
            <a:pPr algn="r">
              <a:lnSpc>
                <a:spcPct val="150000"/>
              </a:lnSpc>
              <a:buClrTx/>
              <a:buSzTx/>
              <a:buNone/>
            </a:pPr>
            <a:r>
              <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sym typeface="+mn-ea"/>
              </a:rPr>
              <a:t>Clean, consistent UI                               Smooth navigation</a:t>
            </a:r>
            <a:endPar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sym typeface="+mn-ea"/>
            </a:endParaRPr>
          </a:p>
          <a:p>
            <a:pPr algn="r">
              <a:lnSpc>
                <a:spcPct val="150000"/>
              </a:lnSpc>
              <a:buClrTx/>
              <a:buSzTx/>
              <a:buNone/>
            </a:pPr>
            <a:r>
              <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sym typeface="+mn-ea"/>
              </a:rPr>
              <a:t>Forms trigger backend properly               Auto-refresh lists</a:t>
            </a:r>
            <a:endParaRPr lang="en-US" altLang="zh-CN" sz="1600" kern="0" dirty="0">
              <a:ln>
                <a:noFill/>
                <a:prstDash val="sysDot"/>
              </a:ln>
              <a:solidFill>
                <a:schemeClr val="tx1">
                  <a:lumMod val="85000"/>
                  <a:lumOff val="15000"/>
                </a:schemeClr>
              </a:solidFill>
              <a:effectLst>
                <a:outerShdw blurRad="38100" dist="38100" dir="2700000" algn="tl">
                  <a:srgbClr val="000000">
                    <a:alpha val="43137"/>
                  </a:srgbClr>
                </a:outerShdw>
              </a:effectLst>
              <a:latin typeface="+mn-ea"/>
              <a:cs typeface="+mn-ea"/>
              <a:sym typeface="+mn-ea"/>
            </a:endParaRPr>
          </a:p>
        </p:txBody>
      </p:sp>
      <p:sp>
        <p:nvSpPr>
          <p:cNvPr id="104" name="椭圆 103"/>
          <p:cNvSpPr/>
          <p:nvPr>
            <p:custDataLst>
              <p:tags r:id="rId6"/>
            </p:custDataLst>
          </p:nvPr>
        </p:nvSpPr>
        <p:spPr>
          <a:xfrm>
            <a:off x="9140349" y="1958405"/>
            <a:ext cx="389887" cy="38988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endParaRPr>
          </a:p>
        </p:txBody>
      </p:sp>
      <p:pic>
        <p:nvPicPr>
          <p:cNvPr id="21" name="图片 11" descr="343439383331313b343532303032373bbfcdbba7b5b5b0b8"/>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9228824" y="2046879"/>
            <a:ext cx="212537" cy="212537"/>
          </a:xfrm>
          <a:prstGeom prst="rect">
            <a:avLst/>
          </a:prstGeom>
        </p:spPr>
      </p:pic>
      <p:sp>
        <p:nvSpPr>
          <p:cNvPr id="9" name="任意多边形 8"/>
          <p:cNvSpPr/>
          <p:nvPr>
            <p:custDataLst>
              <p:tags r:id="rId10"/>
            </p:custDataLst>
          </p:nvPr>
        </p:nvSpPr>
        <p:spPr>
          <a:xfrm>
            <a:off x="8976147" y="3730889"/>
            <a:ext cx="2052154" cy="1758239"/>
          </a:xfrm>
          <a:custGeom>
            <a:avLst/>
            <a:gdLst>
              <a:gd name="adj" fmla="val 53069"/>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2737" h="2345">
                <a:moveTo>
                  <a:pt x="1244" y="0"/>
                </a:moveTo>
                <a:lnTo>
                  <a:pt x="2737" y="0"/>
                </a:lnTo>
                <a:lnTo>
                  <a:pt x="1493" y="2345"/>
                </a:lnTo>
                <a:lnTo>
                  <a:pt x="0" y="2345"/>
                </a:lnTo>
                <a:lnTo>
                  <a:pt x="1" y="2344"/>
                </a:lnTo>
                <a:lnTo>
                  <a:pt x="1152" y="2344"/>
                </a:lnTo>
                <a:lnTo>
                  <a:pt x="1551" y="1558"/>
                </a:lnTo>
                <a:lnTo>
                  <a:pt x="1551" y="1558"/>
                </a:lnTo>
                <a:lnTo>
                  <a:pt x="1551" y="1558"/>
                </a:lnTo>
                <a:lnTo>
                  <a:pt x="1552" y="1556"/>
                </a:lnTo>
                <a:lnTo>
                  <a:pt x="1549" y="1556"/>
                </a:lnTo>
                <a:lnTo>
                  <a:pt x="813" y="813"/>
                </a:lnTo>
                <a:lnTo>
                  <a:pt x="1244" y="0"/>
                </a:lnTo>
                <a:close/>
              </a:path>
            </a:pathLst>
          </a:custGeom>
          <a:solidFill>
            <a:srgbClr val="6FA9BB">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ltLang="zh-CN">
              <a:solidFill>
                <a:schemeClr val="lt1"/>
              </a:solidFill>
              <a:cs typeface="微软雅黑" panose="020B0503020204020204" charset="-122"/>
              <a:sym typeface="+mn-ea"/>
            </a:endParaRPr>
          </a:p>
        </p:txBody>
      </p:sp>
      <p:sp>
        <p:nvSpPr>
          <p:cNvPr id="10" name="任意多边形 9"/>
          <p:cNvSpPr/>
          <p:nvPr>
            <p:custDataLst>
              <p:tags r:id="rId11"/>
            </p:custDataLst>
          </p:nvPr>
        </p:nvSpPr>
        <p:spPr>
          <a:xfrm flipH="1">
            <a:off x="7840977" y="2598718"/>
            <a:ext cx="3187324" cy="1456077"/>
          </a:xfrm>
          <a:custGeom>
            <a:avLst/>
            <a:gdLst>
              <a:gd name="connsiteX0" fmla="*/ 1000 w 3940"/>
              <a:gd name="connsiteY0" fmla="*/ 390 h 1800"/>
              <a:gd name="connsiteX1" fmla="*/ 3040 w 3940"/>
              <a:gd name="connsiteY1" fmla="*/ 390 h 1800"/>
              <a:gd name="connsiteX2" fmla="*/ 3040 w 3940"/>
              <a:gd name="connsiteY2" fmla="*/ 0 h 1800"/>
              <a:gd name="connsiteX3" fmla="*/ 3940 w 3940"/>
              <a:gd name="connsiteY3" fmla="*/ 900 h 1800"/>
              <a:gd name="connsiteX4" fmla="*/ 3040 w 3940"/>
              <a:gd name="connsiteY4" fmla="*/ 1800 h 1800"/>
              <a:gd name="connsiteX5" fmla="*/ 3040 w 3940"/>
              <a:gd name="connsiteY5" fmla="*/ 1410 h 1800"/>
              <a:gd name="connsiteX6" fmla="*/ 0 w 3940"/>
              <a:gd name="connsiteY6" fmla="*/ 1400 h 1800"/>
              <a:gd name="connsiteX7" fmla="*/ 1000 w 3940"/>
              <a:gd name="connsiteY7" fmla="*/ 390 h 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0" h="1800">
                <a:moveTo>
                  <a:pt x="1000" y="390"/>
                </a:moveTo>
                <a:lnTo>
                  <a:pt x="3040" y="390"/>
                </a:lnTo>
                <a:lnTo>
                  <a:pt x="3040" y="0"/>
                </a:lnTo>
                <a:lnTo>
                  <a:pt x="3940" y="900"/>
                </a:lnTo>
                <a:lnTo>
                  <a:pt x="3040" y="1800"/>
                </a:lnTo>
                <a:lnTo>
                  <a:pt x="3040" y="1410"/>
                </a:lnTo>
                <a:lnTo>
                  <a:pt x="0" y="1400"/>
                </a:lnTo>
                <a:lnTo>
                  <a:pt x="1000" y="390"/>
                </a:lnTo>
                <a:close/>
              </a:path>
            </a:pathLst>
          </a:custGeom>
          <a:solidFill>
            <a:srgbClr val="388BA5"/>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35990" tIns="288290" rIns="575945" bIns="288290" numCol="1" spcCol="0" rtlCol="0" fromWordArt="0" anchor="ctr" anchorCtr="0" forceAA="0" compatLnSpc="1">
            <a:noAutofit/>
          </a:bodyPr>
          <a:p>
            <a:pPr lvl="0" algn="l">
              <a:buClrTx/>
              <a:buSzTx/>
              <a:buFontTx/>
            </a:pPr>
            <a:r>
              <a:rPr lang="en-US" altLang="zh-CN" b="1" dirty="0">
                <a:solidFill>
                  <a:srgbClr val="FFFFFF"/>
                </a:solidFill>
                <a:latin typeface="+mn-ea"/>
                <a:cs typeface="+mn-ea"/>
                <a:sym typeface="+mn-ea"/>
              </a:rPr>
              <a:t>Functionality</a:t>
            </a:r>
            <a:endParaRPr lang="en-US" altLang="zh-CN" b="1" dirty="0">
              <a:solidFill>
                <a:srgbClr val="FFFFFF"/>
              </a:solidFill>
              <a:latin typeface="+mn-ea"/>
              <a:cs typeface="+mn-ea"/>
              <a:sym typeface="+mn-ea"/>
            </a:endParaRPr>
          </a:p>
        </p:txBody>
      </p:sp>
      <p:sp>
        <p:nvSpPr>
          <p:cNvPr id="106" name="椭圆 105"/>
          <p:cNvSpPr/>
          <p:nvPr>
            <p:custDataLst>
              <p:tags r:id="rId12"/>
            </p:custDataLst>
          </p:nvPr>
        </p:nvSpPr>
        <p:spPr>
          <a:xfrm>
            <a:off x="8373322" y="3133313"/>
            <a:ext cx="389887" cy="38988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endParaRPr>
          </a:p>
        </p:txBody>
      </p:sp>
      <p:pic>
        <p:nvPicPr>
          <p:cNvPr id="8" name="图形 7"/>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51300" y="3221787"/>
            <a:ext cx="233442" cy="212537"/>
          </a:xfrm>
          <a:prstGeom prst="rect">
            <a:avLst/>
          </a:prstGeom>
        </p:spPr>
      </p:pic>
      <p:sp>
        <p:nvSpPr>
          <p:cNvPr id="11" name="任意多边形 10"/>
          <p:cNvSpPr/>
          <p:nvPr>
            <p:custDataLst>
              <p:tags r:id="rId16"/>
            </p:custDataLst>
          </p:nvPr>
        </p:nvSpPr>
        <p:spPr>
          <a:xfrm flipH="1">
            <a:off x="6951735" y="3766879"/>
            <a:ext cx="3187324" cy="1456077"/>
          </a:xfrm>
          <a:custGeom>
            <a:avLst/>
            <a:gdLst>
              <a:gd name="connsiteX0" fmla="*/ 1000 w 3940"/>
              <a:gd name="connsiteY0" fmla="*/ 390 h 1800"/>
              <a:gd name="connsiteX1" fmla="*/ 3040 w 3940"/>
              <a:gd name="connsiteY1" fmla="*/ 390 h 1800"/>
              <a:gd name="connsiteX2" fmla="*/ 3040 w 3940"/>
              <a:gd name="connsiteY2" fmla="*/ 0 h 1800"/>
              <a:gd name="connsiteX3" fmla="*/ 3940 w 3940"/>
              <a:gd name="connsiteY3" fmla="*/ 900 h 1800"/>
              <a:gd name="connsiteX4" fmla="*/ 3040 w 3940"/>
              <a:gd name="connsiteY4" fmla="*/ 1800 h 1800"/>
              <a:gd name="connsiteX5" fmla="*/ 3040 w 3940"/>
              <a:gd name="connsiteY5" fmla="*/ 1410 h 1800"/>
              <a:gd name="connsiteX6" fmla="*/ 0 w 3940"/>
              <a:gd name="connsiteY6" fmla="*/ 1400 h 1800"/>
              <a:gd name="connsiteX7" fmla="*/ 1000 w 3940"/>
              <a:gd name="connsiteY7" fmla="*/ 390 h 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0" h="1800">
                <a:moveTo>
                  <a:pt x="1000" y="390"/>
                </a:moveTo>
                <a:lnTo>
                  <a:pt x="3040" y="390"/>
                </a:lnTo>
                <a:lnTo>
                  <a:pt x="3040" y="0"/>
                </a:lnTo>
                <a:lnTo>
                  <a:pt x="3940" y="900"/>
                </a:lnTo>
                <a:lnTo>
                  <a:pt x="3040" y="1800"/>
                </a:lnTo>
                <a:lnTo>
                  <a:pt x="3040" y="1410"/>
                </a:lnTo>
                <a:lnTo>
                  <a:pt x="0" y="1400"/>
                </a:lnTo>
                <a:lnTo>
                  <a:pt x="1000" y="390"/>
                </a:lnTo>
                <a:close/>
              </a:path>
            </a:pathLst>
          </a:custGeom>
          <a:gradFill>
            <a:gsLst>
              <a:gs pos="58000">
                <a:schemeClr val="accent1">
                  <a:lumMod val="91000"/>
                  <a:lumOff val="9000"/>
                  <a:alpha val="100000"/>
                </a:schemeClr>
              </a:gs>
              <a:gs pos="100000">
                <a:schemeClr val="accent1">
                  <a:lumMod val="40000"/>
                  <a:lumOff val="60000"/>
                  <a:alpha val="100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35990" tIns="252095" rIns="539750" bIns="252095" numCol="1" spcCol="0" rtlCol="0" fromWordArt="0" anchor="ctr" anchorCtr="0" forceAA="0" compatLnSpc="1">
            <a:noAutofit/>
          </a:bodyPr>
          <a:p>
            <a:pPr lvl="0" algn="l">
              <a:spcBef>
                <a:spcPct val="0"/>
              </a:spcBef>
              <a:spcAft>
                <a:spcPct val="0"/>
              </a:spcAft>
              <a:buClrTx/>
              <a:buSzTx/>
              <a:buFontTx/>
            </a:pPr>
            <a:r>
              <a:rPr lang="en-US" altLang="zh-CN" sz="1600" b="1">
                <a:solidFill>
                  <a:srgbClr val="FFFFFF"/>
                </a:solidFill>
                <a:latin typeface="+mn-ea"/>
                <a:cs typeface="+mn-ea"/>
                <a:sym typeface="+mn-ea"/>
              </a:rPr>
              <a:t>UI &amp; Interaction</a:t>
            </a:r>
            <a:endParaRPr lang="en-US" altLang="zh-CN" sz="1600" b="1">
              <a:solidFill>
                <a:srgbClr val="FFFFFF"/>
              </a:solidFill>
              <a:latin typeface="+mn-ea"/>
              <a:cs typeface="+mn-ea"/>
              <a:sym typeface="+mn-ea"/>
            </a:endParaRPr>
          </a:p>
        </p:txBody>
      </p:sp>
      <p:sp>
        <p:nvSpPr>
          <p:cNvPr id="12" name="平行四边形 11"/>
          <p:cNvSpPr/>
          <p:nvPr>
            <p:custDataLst>
              <p:tags r:id="rId17"/>
            </p:custDataLst>
          </p:nvPr>
        </p:nvSpPr>
        <p:spPr>
          <a:xfrm>
            <a:off x="8729469" y="4897550"/>
            <a:ext cx="1410340" cy="590828"/>
          </a:xfrm>
          <a:prstGeom prst="parallelogram">
            <a:avLst>
              <a:gd name="adj" fmla="val 50771"/>
            </a:avLst>
          </a:prstGeom>
          <a:solidFill>
            <a:schemeClr val="accent1">
              <a:lumMod val="40000"/>
              <a:lumOff val="6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en-US" altLang="zh-CN">
              <a:solidFill>
                <a:schemeClr val="lt1"/>
              </a:solidFill>
              <a:cs typeface="微软雅黑" panose="020B0503020204020204" charset="-122"/>
              <a:sym typeface="+mn-ea"/>
            </a:endParaRPr>
          </a:p>
        </p:txBody>
      </p:sp>
      <p:sp>
        <p:nvSpPr>
          <p:cNvPr id="107" name="椭圆 106"/>
          <p:cNvSpPr/>
          <p:nvPr>
            <p:custDataLst>
              <p:tags r:id="rId18"/>
            </p:custDataLst>
          </p:nvPr>
        </p:nvSpPr>
        <p:spPr>
          <a:xfrm>
            <a:off x="7481082" y="4299974"/>
            <a:ext cx="389887" cy="38988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endParaRPr>
          </a:p>
        </p:txBody>
      </p:sp>
      <p:pic>
        <p:nvPicPr>
          <p:cNvPr id="18" name="图片 12" descr="343439383331313b343532303032383bbfcdbba7b9dcc0ed"/>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7569556" y="4388448"/>
            <a:ext cx="212537" cy="212537"/>
          </a:xfrm>
          <a:prstGeom prst="rect">
            <a:avLst/>
          </a:prstGeom>
        </p:spPr>
      </p:pic>
      <p:pic>
        <p:nvPicPr>
          <p:cNvPr id="13" name="图片 12" descr="书-翻开"/>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224915" y="1205230"/>
            <a:ext cx="1054100" cy="1054100"/>
          </a:xfrm>
          <a:prstGeom prst="rect">
            <a:avLst/>
          </a:prstGeom>
        </p:spPr>
      </p:pic>
      <p:cxnSp>
        <p:nvCxnSpPr>
          <p:cNvPr id="2" name="直接连接符 1"/>
          <p:cNvCxnSpPr/>
          <p:nvPr/>
        </p:nvCxnSpPr>
        <p:spPr>
          <a:xfrm flipV="1">
            <a:off x="7176770" y="464625"/>
            <a:ext cx="5014595" cy="22225"/>
          </a:xfrm>
          <a:prstGeom prst="line">
            <a:avLst/>
          </a:prstGeom>
          <a:ln w="28575">
            <a:gradFill>
              <a:gsLst>
                <a:gs pos="0">
                  <a:srgbClr val="F4F4F4"/>
                </a:gs>
                <a:gs pos="27000">
                  <a:schemeClr val="accent1">
                    <a:lumMod val="45000"/>
                    <a:lumOff val="55000"/>
                  </a:schemeClr>
                </a:gs>
                <a:gs pos="100000">
                  <a:srgbClr val="5B9BD5"/>
                </a:gs>
              </a:gsLst>
              <a:lin ang="0" scaled="1"/>
            </a:gradFill>
          </a:ln>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rot="10800000" flipV="1">
            <a:off x="0" y="6084375"/>
            <a:ext cx="5014595" cy="22225"/>
          </a:xfrm>
          <a:prstGeom prst="line">
            <a:avLst/>
          </a:prstGeom>
          <a:ln w="28575">
            <a:gradFill>
              <a:gsLst>
                <a:gs pos="0">
                  <a:srgbClr val="F4F4F4"/>
                </a:gs>
                <a:gs pos="27000">
                  <a:schemeClr val="accent1">
                    <a:lumMod val="45000"/>
                    <a:lumOff val="55000"/>
                  </a:schemeClr>
                </a:gs>
                <a:gs pos="100000">
                  <a:srgbClr val="5B9BD5"/>
                </a:gs>
              </a:gsLst>
              <a:lin ang="0" scaled="1"/>
            </a:gra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093434"/>
            <a:ext cx="7196034" cy="1142566"/>
          </a:xfrm>
          <a:prstGeom prst="rect">
            <a:avLst/>
          </a:prstGeom>
        </p:spPr>
      </p:pic>
      <p:sp>
        <p:nvSpPr>
          <p:cNvPr id="3" name="矩形 2"/>
          <p:cNvSpPr/>
          <p:nvPr/>
        </p:nvSpPr>
        <p:spPr>
          <a:xfrm>
            <a:off x="3376613" y="2464435"/>
            <a:ext cx="5438775"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Project Deliverables &amp; Demonstration</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5676900" y="1018112"/>
            <a:ext cx="838200" cy="1445260"/>
          </a:xfrm>
          <a:prstGeom prst="rect">
            <a:avLst/>
          </a:prstGeom>
          <a:noFill/>
        </p:spPr>
        <p:txBody>
          <a:bodyPr wrap="none" rtlCol="0">
            <a:spAutoFit/>
          </a:bodyPr>
          <a:lstStyle/>
          <a:p>
            <a:r>
              <a:rPr lang="en-US" altLang="zh-CN" sz="8800" dirty="0">
                <a:solidFill>
                  <a:srgbClr val="388BA5"/>
                </a:solidFill>
                <a:effectLst>
                  <a:outerShdw blurRad="38100" dist="38100" dir="2700000" algn="tl">
                    <a:srgbClr val="000000">
                      <a:alpha val="43137"/>
                    </a:srgbClr>
                  </a:outerShdw>
                </a:effectLst>
                <a:cs typeface="+mn-ea"/>
                <a:sym typeface="+mn-lt"/>
              </a:rPr>
              <a:t>4</a:t>
            </a:r>
            <a:endParaRPr lang="en-US" altLang="zh-CN" sz="8800" dirty="0">
              <a:solidFill>
                <a:srgbClr val="388BA5"/>
              </a:solidFill>
              <a:effectLst>
                <a:outerShdw blurRad="38100" dist="38100" dir="2700000" algn="tl">
                  <a:srgbClr val="000000">
                    <a:alpha val="43137"/>
                  </a:srgbClr>
                </a:outerShdw>
              </a:effectLst>
              <a:cs typeface="+mn-ea"/>
              <a:sym typeface="+mn-lt"/>
            </a:endParaRPr>
          </a:p>
        </p:txBody>
      </p:sp>
      <p:sp>
        <p:nvSpPr>
          <p:cNvPr id="5" name="矩形 4"/>
          <p:cNvSpPr/>
          <p:nvPr/>
        </p:nvSpPr>
        <p:spPr>
          <a:xfrm>
            <a:off x="3776028" y="3200400"/>
            <a:ext cx="4639945" cy="1060450"/>
          </a:xfrm>
          <a:prstGeom prst="rect">
            <a:avLst/>
          </a:prstGeom>
        </p:spPr>
        <p:txBody>
          <a:bodyPr wrap="square">
            <a:spAutoFit/>
          </a:bodyPr>
          <a:lstStyle/>
          <a:p>
            <a:pPr algn="ctr">
              <a:lnSpc>
                <a:spcPct val="150000"/>
              </a:lnSpc>
            </a:pPr>
            <a:r>
              <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rPr>
              <a:t>Demonstrates the core features, workflows, and visual analytics of the system through a realistic user scenario.</a:t>
            </a:r>
            <a:endPar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983" y="2093434"/>
            <a:ext cx="7196034" cy="1142566"/>
          </a:xfrm>
          <a:prstGeom prst="rect">
            <a:avLst/>
          </a:prstGeom>
        </p:spPr>
      </p:pic>
      <p:sp>
        <p:nvSpPr>
          <p:cNvPr id="3" name="矩形 2"/>
          <p:cNvSpPr/>
          <p:nvPr/>
        </p:nvSpPr>
        <p:spPr>
          <a:xfrm>
            <a:off x="4460240" y="2464435"/>
            <a:ext cx="3271520" cy="460375"/>
          </a:xfrm>
          <a:prstGeom prst="rect">
            <a:avLst/>
          </a:prstGeom>
        </p:spPr>
        <p:txBody>
          <a:bodyPr wrap="square">
            <a:spAutoFit/>
          </a:bodyPr>
          <a:lstStyle/>
          <a:p>
            <a:pPr algn="dist"/>
            <a:r>
              <a:rPr lang="en-US" altLang="zh-CN" sz="2400" b="1" dirty="0">
                <a:latin typeface="Times New Roman" panose="02020603050405020304" charset="0"/>
                <a:cs typeface="Times New Roman" panose="02020603050405020304" charset="0"/>
                <a:sym typeface="+mn-lt"/>
              </a:rPr>
              <a:t>Project Value &amp; Impact</a:t>
            </a:r>
            <a:endParaRPr lang="en-US" altLang="zh-CN" sz="2400" b="1" dirty="0">
              <a:latin typeface="Times New Roman" panose="02020603050405020304" charset="0"/>
              <a:cs typeface="Times New Roman" panose="02020603050405020304" charset="0"/>
              <a:sym typeface="+mn-lt"/>
            </a:endParaRPr>
          </a:p>
        </p:txBody>
      </p:sp>
      <p:sp>
        <p:nvSpPr>
          <p:cNvPr id="4" name="文本框 3"/>
          <p:cNvSpPr txBox="1"/>
          <p:nvPr/>
        </p:nvSpPr>
        <p:spPr>
          <a:xfrm>
            <a:off x="5676900" y="1018112"/>
            <a:ext cx="838200" cy="1445260"/>
          </a:xfrm>
          <a:prstGeom prst="rect">
            <a:avLst/>
          </a:prstGeom>
          <a:noFill/>
        </p:spPr>
        <p:txBody>
          <a:bodyPr wrap="none" rtlCol="0">
            <a:spAutoFit/>
          </a:bodyPr>
          <a:lstStyle/>
          <a:p>
            <a:r>
              <a:rPr lang="en-US" altLang="zh-CN" sz="8800" dirty="0">
                <a:solidFill>
                  <a:srgbClr val="388BA5"/>
                </a:solidFill>
                <a:effectLst>
                  <a:outerShdw blurRad="38100" dist="38100" dir="2700000" algn="tl">
                    <a:srgbClr val="000000">
                      <a:alpha val="43137"/>
                    </a:srgbClr>
                  </a:outerShdw>
                </a:effectLst>
                <a:cs typeface="+mn-ea"/>
                <a:sym typeface="+mn-lt"/>
              </a:rPr>
              <a:t>5</a:t>
            </a:r>
            <a:endParaRPr lang="en-US" altLang="zh-CN" sz="8800" dirty="0">
              <a:solidFill>
                <a:srgbClr val="388BA5"/>
              </a:solidFill>
              <a:effectLst>
                <a:outerShdw blurRad="38100" dist="38100" dir="2700000" algn="tl">
                  <a:srgbClr val="000000">
                    <a:alpha val="43137"/>
                  </a:srgbClr>
                </a:outerShdw>
              </a:effectLst>
              <a:cs typeface="+mn-ea"/>
              <a:sym typeface="+mn-lt"/>
            </a:endParaRPr>
          </a:p>
        </p:txBody>
      </p:sp>
      <p:sp>
        <p:nvSpPr>
          <p:cNvPr id="5" name="矩形 4"/>
          <p:cNvSpPr/>
          <p:nvPr/>
        </p:nvSpPr>
        <p:spPr>
          <a:xfrm>
            <a:off x="3847783" y="3200400"/>
            <a:ext cx="4496435" cy="1060450"/>
          </a:xfrm>
          <a:prstGeom prst="rect">
            <a:avLst/>
          </a:prstGeom>
        </p:spPr>
        <p:txBody>
          <a:bodyPr wrap="square">
            <a:spAutoFit/>
          </a:bodyPr>
          <a:lstStyle/>
          <a:p>
            <a:pPr algn="ctr">
              <a:lnSpc>
                <a:spcPct val="150000"/>
              </a:lnSpc>
            </a:pPr>
            <a:r>
              <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rPr>
              <a:t>Summarizes the real-world value, user benefits, and future potential of the project, addressing the key question: “Why does this matter?”</a:t>
            </a:r>
            <a:endParaRPr lang="en-US" altLang="zh-CN" sz="1400" dirty="0">
              <a:solidFill>
                <a:schemeClr val="accent1">
                  <a:lumMod val="60000"/>
                  <a:lumOff val="40000"/>
                </a:schemeClr>
              </a:solidFill>
              <a:effectLst>
                <a:outerShdw blurRad="38100" dist="38100" dir="2700000" algn="tl">
                  <a:srgbClr val="000000">
                    <a:alpha val="43137"/>
                  </a:srgbClr>
                </a:outerShdw>
              </a:effectLst>
              <a:cs typeface="+mn-ea"/>
              <a:sym typeface="+mn-lt"/>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p:custDataLst>
              <p:tags r:id="rId1"/>
            </p:custDataLst>
          </p:nvPr>
        </p:nvSpPr>
        <p:spPr>
          <a:xfrm>
            <a:off x="213995" y="1438275"/>
            <a:ext cx="3850005" cy="1583055"/>
          </a:xfrm>
          <a:prstGeom prst="rect">
            <a:avLst/>
          </a:prstGeom>
          <a:noFill/>
        </p:spPr>
        <p:txBody>
          <a:bodyPr wrap="square" lIns="0" tIns="0" rIns="0" bIns="0" rtlCol="0">
            <a:noAutofit/>
          </a:bodyPr>
          <a:p>
            <a:pPr algn="r">
              <a:lnSpc>
                <a:spcPct val="150000"/>
              </a:lnSpc>
              <a:spcBef>
                <a:spcPct val="0"/>
              </a:spcBef>
              <a:spcAft>
                <a:spcPct val="0"/>
              </a:spcAft>
            </a:pPr>
            <a:r>
              <a:rPr lang="en-US" altLang="zh-CN" sz="1400" kern="0" dirty="0">
                <a:ln>
                  <a:noFill/>
                  <a:prstDash val="sysDot"/>
                </a:ln>
                <a:solidFill>
                  <a:schemeClr val="tx1">
                    <a:lumMod val="85000"/>
                    <a:lumOff val="15000"/>
                  </a:schemeClr>
                </a:solidFill>
                <a:latin typeface="+mn-ea"/>
                <a:cs typeface="+mn-ea"/>
                <a:sym typeface="+mn-ea"/>
              </a:rPr>
              <a:t>Understand spending patterns clearly</a:t>
            </a:r>
            <a:endParaRPr lang="en-US" altLang="zh-CN" sz="1400" kern="0" dirty="0">
              <a:ln>
                <a:noFill/>
                <a:prstDash val="sysDot"/>
              </a:ln>
              <a:solidFill>
                <a:schemeClr val="tx1">
                  <a:lumMod val="85000"/>
                  <a:lumOff val="15000"/>
                </a:schemeClr>
              </a:solidFill>
              <a:latin typeface="+mn-ea"/>
              <a:cs typeface="+mn-ea"/>
              <a:sym typeface="+mn-ea"/>
            </a:endParaRPr>
          </a:p>
          <a:p>
            <a:pPr algn="r">
              <a:lnSpc>
                <a:spcPct val="150000"/>
              </a:lnSpc>
              <a:spcBef>
                <a:spcPct val="0"/>
              </a:spcBef>
              <a:spcAft>
                <a:spcPct val="0"/>
              </a:spcAft>
            </a:pPr>
            <a:r>
              <a:rPr lang="en-US" altLang="zh-CN" sz="1400" kern="0" dirty="0">
                <a:ln>
                  <a:noFill/>
                  <a:prstDash val="sysDot"/>
                </a:ln>
                <a:solidFill>
                  <a:schemeClr val="tx1">
                    <a:lumMod val="85000"/>
                    <a:lumOff val="15000"/>
                  </a:schemeClr>
                </a:solidFill>
                <a:latin typeface="+mn-ea"/>
                <a:cs typeface="+mn-ea"/>
                <a:sym typeface="+mn-ea"/>
              </a:rPr>
              <a:t>Build better budgeting habits</a:t>
            </a:r>
            <a:endParaRPr lang="en-US" altLang="zh-CN" sz="1400" kern="0" dirty="0">
              <a:ln>
                <a:noFill/>
                <a:prstDash val="sysDot"/>
              </a:ln>
              <a:solidFill>
                <a:schemeClr val="tx1">
                  <a:lumMod val="85000"/>
                  <a:lumOff val="15000"/>
                </a:schemeClr>
              </a:solidFill>
              <a:latin typeface="+mn-ea"/>
              <a:cs typeface="+mn-ea"/>
              <a:sym typeface="+mn-ea"/>
            </a:endParaRPr>
          </a:p>
          <a:p>
            <a:pPr algn="r">
              <a:lnSpc>
                <a:spcPct val="150000"/>
              </a:lnSpc>
              <a:spcBef>
                <a:spcPct val="0"/>
              </a:spcBef>
              <a:spcAft>
                <a:spcPct val="0"/>
              </a:spcAft>
            </a:pPr>
            <a:r>
              <a:rPr lang="en-US" altLang="zh-CN" sz="1400" kern="0" dirty="0">
                <a:ln>
                  <a:noFill/>
                  <a:prstDash val="sysDot"/>
                </a:ln>
                <a:solidFill>
                  <a:schemeClr val="tx1">
                    <a:lumMod val="85000"/>
                    <a:lumOff val="15000"/>
                  </a:schemeClr>
                </a:solidFill>
                <a:latin typeface="+mn-ea"/>
                <a:cs typeface="+mn-ea"/>
                <a:sym typeface="+mn-ea"/>
              </a:rPr>
              <a:t>Reduce time spent on manual tracking</a:t>
            </a:r>
            <a:endParaRPr lang="en-US" altLang="zh-CN" sz="1400" kern="0" dirty="0">
              <a:ln>
                <a:noFill/>
                <a:prstDash val="sysDot"/>
              </a:ln>
              <a:solidFill>
                <a:schemeClr val="tx1">
                  <a:lumMod val="85000"/>
                  <a:lumOff val="15000"/>
                </a:schemeClr>
              </a:solidFill>
              <a:latin typeface="+mn-ea"/>
              <a:cs typeface="+mn-ea"/>
              <a:sym typeface="+mn-ea"/>
            </a:endParaRPr>
          </a:p>
          <a:p>
            <a:pPr algn="r">
              <a:lnSpc>
                <a:spcPct val="150000"/>
              </a:lnSpc>
              <a:spcBef>
                <a:spcPct val="0"/>
              </a:spcBef>
              <a:spcAft>
                <a:spcPct val="0"/>
              </a:spcAft>
            </a:pPr>
            <a:r>
              <a:rPr lang="en-US" altLang="zh-CN" sz="1400" kern="0" dirty="0">
                <a:ln>
                  <a:noFill/>
                  <a:prstDash val="sysDot"/>
                </a:ln>
                <a:solidFill>
                  <a:schemeClr val="tx1">
                    <a:lumMod val="85000"/>
                    <a:lumOff val="15000"/>
                  </a:schemeClr>
                </a:solidFill>
                <a:latin typeface="+mn-ea"/>
                <a:cs typeface="+mn-ea"/>
                <a:sym typeface="+mn-ea"/>
              </a:rPr>
              <a:t>Visualized data makes finance easy to grasp</a:t>
            </a:r>
            <a:endParaRPr lang="en-US" altLang="zh-CN" sz="1400" kern="0" dirty="0">
              <a:ln>
                <a:noFill/>
                <a:prstDash val="sysDot"/>
              </a:ln>
              <a:solidFill>
                <a:schemeClr val="tx1">
                  <a:lumMod val="85000"/>
                  <a:lumOff val="15000"/>
                </a:schemeClr>
              </a:solidFill>
              <a:latin typeface="+mn-ea"/>
              <a:cs typeface="+mn-ea"/>
              <a:sym typeface="+mn-ea"/>
            </a:endParaRPr>
          </a:p>
        </p:txBody>
      </p:sp>
      <p:sp>
        <p:nvSpPr>
          <p:cNvPr id="9" name="泪滴形 8"/>
          <p:cNvSpPr/>
          <p:nvPr>
            <p:custDataLst>
              <p:tags r:id="rId2"/>
            </p:custDataLst>
          </p:nvPr>
        </p:nvSpPr>
        <p:spPr>
          <a:xfrm flipH="1">
            <a:off x="4247419" y="1439056"/>
            <a:ext cx="1745647" cy="1745647"/>
          </a:xfrm>
          <a:prstGeom prst="teardrop">
            <a:avLst/>
          </a:prstGeom>
          <a:solidFill>
            <a:srgbClr val="5BAA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lnSpc>
                <a:spcPct val="120000"/>
              </a:lnSpc>
            </a:pPr>
            <a:r>
              <a:rPr lang="en-US" altLang="zh-CN" b="1">
                <a:solidFill>
                  <a:schemeClr val="lt1"/>
                </a:solidFill>
                <a:latin typeface="Arial" panose="020B0604020202020204" pitchFamily="34" charset="0"/>
                <a:cs typeface="Arial" panose="020B0604020202020204" pitchFamily="34" charset="0"/>
              </a:rPr>
              <a:t>User Value</a:t>
            </a:r>
            <a:endParaRPr lang="zh-CN" altLang="en-US" b="1">
              <a:solidFill>
                <a:schemeClr val="lt1"/>
              </a:solidFill>
              <a:latin typeface="Arial" panose="020B0604020202020204" pitchFamily="34" charset="0"/>
              <a:cs typeface="Arial" panose="020B0604020202020204" pitchFamily="34" charset="0"/>
            </a:endParaRPr>
          </a:p>
        </p:txBody>
      </p:sp>
      <p:sp>
        <p:nvSpPr>
          <p:cNvPr id="10" name="泪滴形 9"/>
          <p:cNvSpPr/>
          <p:nvPr>
            <p:custDataLst>
              <p:tags r:id="rId3"/>
            </p:custDataLst>
          </p:nvPr>
        </p:nvSpPr>
        <p:spPr>
          <a:xfrm>
            <a:off x="6402294" y="1439056"/>
            <a:ext cx="1745647" cy="1745647"/>
          </a:xfrm>
          <a:prstGeom prst="teardrop">
            <a:avLst/>
          </a:prstGeom>
          <a:solidFill>
            <a:srgbClr val="388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lnSpc>
                <a:spcPct val="120000"/>
              </a:lnSpc>
              <a:buClrTx/>
              <a:buSzTx/>
              <a:buFontTx/>
            </a:pPr>
            <a:r>
              <a:rPr lang="en-US" altLang="zh-CN" b="1">
                <a:solidFill>
                  <a:schemeClr val="lt1"/>
                </a:solidFill>
                <a:latin typeface="Arial" panose="020B0604020202020204" pitchFamily="34" charset="0"/>
                <a:cs typeface="Arial" panose="020B0604020202020204" pitchFamily="34" charset="0"/>
              </a:rPr>
              <a:t>Practical Impact</a:t>
            </a:r>
            <a:endParaRPr lang="en-US" altLang="zh-CN" b="1">
              <a:solidFill>
                <a:schemeClr val="lt1"/>
              </a:solidFill>
              <a:latin typeface="Arial" panose="020B0604020202020204" pitchFamily="34" charset="0"/>
              <a:cs typeface="Arial" panose="020B0604020202020204" pitchFamily="34" charset="0"/>
            </a:endParaRPr>
          </a:p>
        </p:txBody>
      </p:sp>
      <p:sp>
        <p:nvSpPr>
          <p:cNvPr id="15" name="泪滴形 14"/>
          <p:cNvSpPr/>
          <p:nvPr>
            <p:custDataLst>
              <p:tags r:id="rId4"/>
            </p:custDataLst>
          </p:nvPr>
        </p:nvSpPr>
        <p:spPr>
          <a:xfrm rot="16200000" flipH="1">
            <a:off x="4247419" y="3480586"/>
            <a:ext cx="1745647" cy="1745647"/>
          </a:xfrm>
          <a:prstGeom prst="teardrop">
            <a:avLst/>
          </a:prstGeom>
          <a:solidFill>
            <a:srgbClr val="388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16" name="泪滴形 15"/>
          <p:cNvSpPr/>
          <p:nvPr>
            <p:custDataLst>
              <p:tags r:id="rId5"/>
            </p:custDataLst>
          </p:nvPr>
        </p:nvSpPr>
        <p:spPr>
          <a:xfrm rot="5400000">
            <a:off x="6402953" y="3480586"/>
            <a:ext cx="1745647" cy="1745647"/>
          </a:xfrm>
          <a:prstGeom prst="teardrop">
            <a:avLst/>
          </a:prstGeom>
          <a:solidFill>
            <a:srgbClr val="5BAA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27" name="矩形 26"/>
          <p:cNvSpPr/>
          <p:nvPr>
            <p:custDataLst>
              <p:tags r:id="rId6"/>
            </p:custDataLst>
          </p:nvPr>
        </p:nvSpPr>
        <p:spPr>
          <a:xfrm>
            <a:off x="487680" y="3933825"/>
            <a:ext cx="3576320" cy="1292225"/>
          </a:xfrm>
          <a:prstGeom prst="rect">
            <a:avLst/>
          </a:prstGeom>
          <a:noFill/>
        </p:spPr>
        <p:txBody>
          <a:bodyPr wrap="square" lIns="0" tIns="0" rIns="0" bIns="0" rtlCol="0">
            <a:noAutofit/>
          </a:bodyPr>
          <a:p>
            <a:pPr algn="r">
              <a:lnSpc>
                <a:spcPct val="150000"/>
              </a:lnSpc>
              <a:buClrTx/>
              <a:buSzTx/>
              <a:buNone/>
            </a:pPr>
            <a:r>
              <a:rPr lang="en-US" altLang="zh-CN" sz="1400" b="1" kern="0" dirty="0">
                <a:ln>
                  <a:noFill/>
                  <a:prstDash val="sysDot"/>
                </a:ln>
                <a:solidFill>
                  <a:schemeClr val="tx1">
                    <a:lumMod val="85000"/>
                    <a:lumOff val="15000"/>
                  </a:schemeClr>
                </a:solidFill>
                <a:latin typeface="+mn-ea"/>
                <a:cs typeface="+mn-ea"/>
                <a:sym typeface="+mn-ea"/>
              </a:rPr>
              <a:t>Personal finance should be simple, visual, and stress-free.</a:t>
            </a:r>
            <a:endParaRPr lang="en-US" altLang="zh-CN" sz="1400" b="1" kern="0" dirty="0">
              <a:ln>
                <a:noFill/>
                <a:prstDash val="sysDot"/>
              </a:ln>
              <a:solidFill>
                <a:schemeClr val="tx1">
                  <a:lumMod val="85000"/>
                  <a:lumOff val="15000"/>
                </a:schemeClr>
              </a:solidFill>
              <a:latin typeface="+mn-ea"/>
              <a:cs typeface="+mn-ea"/>
              <a:sym typeface="+mn-ea"/>
            </a:endParaRPr>
          </a:p>
          <a:p>
            <a:pPr algn="r">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Our tool helps users gain financial clarity with minimal effort</a:t>
            </a:r>
            <a:r>
              <a:rPr lang="en-US" altLang="zh-CN" sz="1400">
                <a:solidFill>
                  <a:schemeClr val="tx1">
                    <a:lumMod val="85000"/>
                    <a:lumOff val="15000"/>
                  </a:schemeClr>
                </a:solidFill>
                <a:latin typeface="+mn-ea"/>
                <a:cs typeface="+mn-ea"/>
                <a:sym typeface="+mn-ea"/>
              </a:rPr>
              <a:t>.</a:t>
            </a:r>
            <a:endParaRPr lang="en-US" altLang="zh-CN" sz="1400">
              <a:solidFill>
                <a:schemeClr val="tx1">
                  <a:lumMod val="85000"/>
                  <a:lumOff val="15000"/>
                </a:schemeClr>
              </a:solidFill>
              <a:latin typeface="+mn-ea"/>
              <a:cs typeface="+mn-ea"/>
              <a:sym typeface="+mn-ea"/>
            </a:endParaRPr>
          </a:p>
        </p:txBody>
      </p:sp>
      <p:pic>
        <p:nvPicPr>
          <p:cNvPr id="20" name="图片 7" descr="343435383038363b343532323338393bbacfd7f7bbfad6c6"/>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441319" y="134245"/>
            <a:ext cx="623398" cy="623398"/>
          </a:xfrm>
          <a:prstGeom prst="rect">
            <a:avLst/>
          </a:prstGeom>
          <a:effectLst/>
        </p:spPr>
      </p:pic>
      <p:sp>
        <p:nvSpPr>
          <p:cNvPr id="22" name="菱形 21"/>
          <p:cNvSpPr/>
          <p:nvPr>
            <p:custDataLst>
              <p:tags r:id="rId10"/>
            </p:custDataLst>
          </p:nvPr>
        </p:nvSpPr>
        <p:spPr>
          <a:xfrm>
            <a:off x="5918601" y="3093763"/>
            <a:ext cx="558818" cy="558818"/>
          </a:xfrm>
          <a:prstGeom prst="diamond">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26" name="矩形 25"/>
          <p:cNvSpPr/>
          <p:nvPr>
            <p:custDataLst>
              <p:tags r:id="rId11"/>
            </p:custDataLst>
          </p:nvPr>
        </p:nvSpPr>
        <p:spPr>
          <a:xfrm>
            <a:off x="8345170" y="1438275"/>
            <a:ext cx="3702685" cy="1480820"/>
          </a:xfrm>
          <a:prstGeom prst="rect">
            <a:avLst/>
          </a:prstGeom>
          <a:noFill/>
        </p:spPr>
        <p:txBody>
          <a:bodyPr wrap="square" lIns="0" tIns="0" rIns="0" bIns="0" rtlCol="0">
            <a:noAutofit/>
          </a:bodyPr>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Provides clear trends and monthly insights</a:t>
            </a:r>
            <a:endParaRPr lang="en-US" altLang="zh-CN" sz="1400" kern="0" dirty="0">
              <a:ln>
                <a:noFill/>
                <a:prstDash val="sysDot"/>
              </a:ln>
              <a:solidFill>
                <a:schemeClr val="tx1">
                  <a:lumMod val="85000"/>
                  <a:lumOff val="15000"/>
                </a:schemeClr>
              </a:solidFill>
              <a:latin typeface="+mn-ea"/>
              <a:cs typeface="+mn-ea"/>
              <a:sym typeface="+mn-ea"/>
            </a:endParaRPr>
          </a:p>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Supports smarter financial decisions</a:t>
            </a:r>
            <a:endParaRPr lang="en-US" altLang="zh-CN" sz="1400" kern="0" dirty="0">
              <a:ln>
                <a:noFill/>
                <a:prstDash val="sysDot"/>
              </a:ln>
              <a:solidFill>
                <a:schemeClr val="tx1">
                  <a:lumMod val="85000"/>
                  <a:lumOff val="15000"/>
                </a:schemeClr>
              </a:solidFill>
              <a:latin typeface="+mn-ea"/>
              <a:cs typeface="+mn-ea"/>
              <a:sym typeface="+mn-ea"/>
            </a:endParaRPr>
          </a:p>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Fully offline → </a:t>
            </a:r>
            <a:r>
              <a:rPr lang="en-US" altLang="zh-CN" sz="1400" b="1" kern="0" dirty="0">
                <a:ln>
                  <a:noFill/>
                  <a:prstDash val="sysDot"/>
                </a:ln>
                <a:solidFill>
                  <a:schemeClr val="tx1">
                    <a:lumMod val="85000"/>
                    <a:lumOff val="15000"/>
                  </a:schemeClr>
                </a:solidFill>
                <a:latin typeface="+mn-ea"/>
                <a:cs typeface="+mn-ea"/>
                <a:sym typeface="+mn-ea"/>
              </a:rPr>
              <a:t>privacy protected</a:t>
            </a:r>
            <a:endParaRPr lang="en-US" altLang="zh-CN" sz="1400" b="1" kern="0" dirty="0">
              <a:ln>
                <a:noFill/>
                <a:prstDash val="sysDot"/>
              </a:ln>
              <a:solidFill>
                <a:schemeClr val="tx1">
                  <a:lumMod val="85000"/>
                  <a:lumOff val="15000"/>
                </a:schemeClr>
              </a:solidFill>
              <a:latin typeface="+mn-ea"/>
              <a:cs typeface="+mn-ea"/>
              <a:sym typeface="+mn-ea"/>
            </a:endParaRPr>
          </a:p>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Lightweight and fast for daily use</a:t>
            </a:r>
            <a:endParaRPr lang="en-US" altLang="zh-CN" sz="1400">
              <a:solidFill>
                <a:schemeClr val="tx1">
                  <a:lumMod val="85000"/>
                  <a:lumOff val="15000"/>
                </a:schemeClr>
              </a:solidFill>
              <a:latin typeface="+mn-ea"/>
              <a:cs typeface="+mn-ea"/>
              <a:sym typeface="+mn-ea"/>
            </a:endParaRPr>
          </a:p>
        </p:txBody>
      </p:sp>
      <p:sp>
        <p:nvSpPr>
          <p:cNvPr id="29" name="矩形 28"/>
          <p:cNvSpPr/>
          <p:nvPr>
            <p:custDataLst>
              <p:tags r:id="rId12"/>
            </p:custDataLst>
          </p:nvPr>
        </p:nvSpPr>
        <p:spPr>
          <a:xfrm>
            <a:off x="8428355" y="3933825"/>
            <a:ext cx="3097530" cy="1265555"/>
          </a:xfrm>
          <a:prstGeom prst="rect">
            <a:avLst/>
          </a:prstGeom>
          <a:noFill/>
        </p:spPr>
        <p:txBody>
          <a:bodyPr wrap="square" lIns="0" tIns="0" rIns="0" bIns="0" rtlCol="0">
            <a:noAutofit/>
          </a:bodyPr>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AI-powered expense categorization</a:t>
            </a:r>
            <a:endParaRPr lang="en-US" altLang="zh-CN" sz="1400" kern="0" dirty="0">
              <a:ln>
                <a:noFill/>
                <a:prstDash val="sysDot"/>
              </a:ln>
              <a:solidFill>
                <a:schemeClr val="tx1">
                  <a:lumMod val="85000"/>
                  <a:lumOff val="15000"/>
                </a:schemeClr>
              </a:solidFill>
              <a:latin typeface="+mn-ea"/>
              <a:cs typeface="+mn-ea"/>
              <a:sym typeface="+mn-ea"/>
            </a:endParaRPr>
          </a:p>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Multi-device synchronization</a:t>
            </a:r>
            <a:endParaRPr lang="en-US" altLang="zh-CN" sz="1400" kern="0" dirty="0">
              <a:ln>
                <a:noFill/>
                <a:prstDash val="sysDot"/>
              </a:ln>
              <a:solidFill>
                <a:schemeClr val="tx1">
                  <a:lumMod val="85000"/>
                  <a:lumOff val="15000"/>
                </a:schemeClr>
              </a:solidFill>
              <a:latin typeface="+mn-ea"/>
              <a:cs typeface="+mn-ea"/>
              <a:sym typeface="+mn-ea"/>
            </a:endParaRPr>
          </a:p>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Savings &amp; investment modules</a:t>
            </a:r>
            <a:endParaRPr lang="en-US" altLang="zh-CN" sz="1400" kern="0" dirty="0">
              <a:ln>
                <a:noFill/>
                <a:prstDash val="sysDot"/>
              </a:ln>
              <a:solidFill>
                <a:schemeClr val="tx1">
                  <a:lumMod val="85000"/>
                  <a:lumOff val="15000"/>
                </a:schemeClr>
              </a:solidFill>
              <a:latin typeface="+mn-ea"/>
              <a:cs typeface="+mn-ea"/>
              <a:sym typeface="+mn-ea"/>
            </a:endParaRPr>
          </a:p>
          <a:p>
            <a:pPr algn="l">
              <a:lnSpc>
                <a:spcPct val="150000"/>
              </a:lnSpc>
              <a:buClrTx/>
              <a:buSzTx/>
              <a:buNone/>
            </a:pPr>
            <a:r>
              <a:rPr lang="en-US" altLang="zh-CN" sz="1400" kern="0" dirty="0">
                <a:ln>
                  <a:noFill/>
                  <a:prstDash val="sysDot"/>
                </a:ln>
                <a:solidFill>
                  <a:schemeClr val="tx1">
                    <a:lumMod val="85000"/>
                    <a:lumOff val="15000"/>
                  </a:schemeClr>
                </a:solidFill>
                <a:latin typeface="+mn-ea"/>
                <a:cs typeface="+mn-ea"/>
                <a:sym typeface="+mn-ea"/>
              </a:rPr>
              <a:t>Personalized financial analytics</a:t>
            </a:r>
            <a:endParaRPr lang="en-US" altLang="zh-CN" sz="1400" kern="0" dirty="0">
              <a:ln>
                <a:noFill/>
                <a:prstDash val="sysDot"/>
              </a:ln>
              <a:solidFill>
                <a:schemeClr val="tx1">
                  <a:lumMod val="85000"/>
                  <a:lumOff val="15000"/>
                </a:schemeClr>
              </a:solidFill>
              <a:latin typeface="+mn-ea"/>
              <a:cs typeface="+mn-ea"/>
              <a:sym typeface="+mn-ea"/>
            </a:endParaRPr>
          </a:p>
        </p:txBody>
      </p:sp>
      <p:sp>
        <p:nvSpPr>
          <p:cNvPr id="31" name="文本框 30"/>
          <p:cNvSpPr txBox="1"/>
          <p:nvPr/>
        </p:nvSpPr>
        <p:spPr>
          <a:xfrm>
            <a:off x="4589145" y="3975100"/>
            <a:ext cx="1061720" cy="755650"/>
          </a:xfrm>
          <a:prstGeom prst="rect">
            <a:avLst/>
          </a:prstGeom>
          <a:noFill/>
        </p:spPr>
        <p:txBody>
          <a:bodyPr wrap="square" rtlCol="0">
            <a:spAutoFit/>
          </a:bodyPr>
          <a:p>
            <a:pPr algn="ctr">
              <a:lnSpc>
                <a:spcPct val="120000"/>
              </a:lnSpc>
              <a:buClrTx/>
              <a:buSzTx/>
              <a:buFontTx/>
            </a:pPr>
            <a:r>
              <a:rPr lang="en-US" altLang="zh-CN" b="1">
                <a:solidFill>
                  <a:schemeClr val="lt1"/>
                </a:solidFill>
                <a:latin typeface="Arial" panose="020B0604020202020204" pitchFamily="34" charset="0"/>
                <a:cs typeface="Arial" panose="020B0604020202020204" pitchFamily="34" charset="0"/>
              </a:rPr>
              <a:t>Why It Matters</a:t>
            </a:r>
            <a:endParaRPr lang="en-US" altLang="zh-CN" b="1">
              <a:solidFill>
                <a:schemeClr val="lt1"/>
              </a:solidFill>
              <a:latin typeface="Arial" panose="020B0604020202020204" pitchFamily="34" charset="0"/>
              <a:cs typeface="Arial" panose="020B0604020202020204" pitchFamily="34" charset="0"/>
            </a:endParaRPr>
          </a:p>
        </p:txBody>
      </p:sp>
      <p:sp>
        <p:nvSpPr>
          <p:cNvPr id="32" name="文本框 31"/>
          <p:cNvSpPr txBox="1"/>
          <p:nvPr/>
        </p:nvSpPr>
        <p:spPr>
          <a:xfrm>
            <a:off x="6629400" y="3975100"/>
            <a:ext cx="1290955" cy="755650"/>
          </a:xfrm>
          <a:prstGeom prst="rect">
            <a:avLst/>
          </a:prstGeom>
          <a:noFill/>
        </p:spPr>
        <p:txBody>
          <a:bodyPr wrap="square" rtlCol="0">
            <a:spAutoFit/>
          </a:bodyPr>
          <a:p>
            <a:pPr algn="ctr">
              <a:lnSpc>
                <a:spcPct val="120000"/>
              </a:lnSpc>
              <a:buClrTx/>
              <a:buSzTx/>
              <a:buFontTx/>
            </a:pPr>
            <a:r>
              <a:rPr lang="en-US" altLang="zh-CN" b="1">
                <a:solidFill>
                  <a:schemeClr val="lt1"/>
                </a:solidFill>
                <a:latin typeface="Arial" panose="020B0604020202020204" pitchFamily="34" charset="0"/>
                <a:cs typeface="Arial" panose="020B0604020202020204" pitchFamily="34" charset="0"/>
              </a:rPr>
              <a:t>Future Potential</a:t>
            </a:r>
            <a:endParaRPr lang="en-US" altLang="zh-CN" b="1">
              <a:solidFill>
                <a:schemeClr val="lt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7" name="文本框 10"/>
          <p:cNvSpPr txBox="1"/>
          <p:nvPr/>
        </p:nvSpPr>
        <p:spPr bwMode="auto">
          <a:xfrm>
            <a:off x="2823374" y="3888075"/>
            <a:ext cx="6545249" cy="367030"/>
          </a:xfrm>
          <a:prstGeom prst="rect">
            <a:avLst/>
          </a:prstGeom>
          <a:noFill/>
        </p:spPr>
        <p:txBody>
          <a:bodyPr wrap="square" lIns="91438" tIns="45719" rIns="91438" bIns="45719">
            <a:spAutoFit/>
            <a:scene3d>
              <a:camera prst="orthographicFront"/>
              <a:lightRig rig="threePt" dir="t"/>
            </a:scene3d>
            <a:sp3d contourW="12700"/>
          </a:bodyPr>
          <a:lstStyle/>
          <a:p>
            <a:pPr algn="ctr">
              <a:lnSpc>
                <a:spcPct val="150000"/>
              </a:lnSpc>
              <a:defRPr/>
            </a:pPr>
            <a:r>
              <a:rPr lang="en-US" altLang="zh-CN" sz="1200" b="1" dirty="0">
                <a:solidFill>
                  <a:schemeClr val="tx1">
                    <a:lumMod val="65000"/>
                    <a:lumOff val="35000"/>
                  </a:schemeClr>
                </a:solidFill>
                <a:cs typeface="+mn-ea"/>
                <a:sym typeface="+mn-lt"/>
              </a:rPr>
              <a:t>Personal Finance Tracker Project Report</a:t>
            </a:r>
            <a:endParaRPr lang="en-US" altLang="zh-CN" sz="1200" dirty="0">
              <a:solidFill>
                <a:schemeClr val="tx1">
                  <a:lumMod val="65000"/>
                  <a:lumOff val="35000"/>
                </a:schemeClr>
              </a:solidFill>
              <a:cs typeface="+mn-ea"/>
              <a:sym typeface="+mn-lt"/>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5716" y="3321676"/>
            <a:ext cx="2431424" cy="2431424"/>
          </a:xfrm>
          <a:prstGeom prst="rect">
            <a:avLst/>
          </a:prstGeom>
        </p:spPr>
      </p:pic>
      <p:sp>
        <p:nvSpPr>
          <p:cNvPr id="2" name="文本框 1" descr="7b0a2020202022776f7264617274223a2022220a7d0a"/>
          <p:cNvSpPr txBox="1"/>
          <p:nvPr/>
        </p:nvSpPr>
        <p:spPr>
          <a:xfrm>
            <a:off x="3846830" y="1990090"/>
            <a:ext cx="4498340" cy="1198880"/>
          </a:xfrm>
          <a:prstGeom prst="rect">
            <a:avLst/>
          </a:prstGeom>
        </p:spPr>
        <p:txBody>
          <a:bodyPr wrap="square">
            <a:spAutoFit/>
          </a:bodyPr>
          <a:p>
            <a:pPr marL="0" indent="0"/>
            <a:r>
              <a:rPr lang="en-US" altLang="zh-CN" sz="7200" b="1" i="0">
                <a:ln w="6350" cmpd="sng">
                  <a:solidFill>
                    <a:schemeClr val="bg1">
                      <a:alpha val="40000"/>
                    </a:schemeClr>
                  </a:solidFill>
                  <a:prstDash val="solid"/>
                </a:ln>
                <a:solidFill>
                  <a:srgbClr val="388BA5"/>
                </a:solidFill>
                <a:effectLst>
                  <a:outerShdw blurRad="38100" dist="38100" dir="2700000" algn="tl">
                    <a:srgbClr val="000000">
                      <a:alpha val="43137"/>
                    </a:srgbClr>
                  </a:outerShdw>
                </a:effectLst>
                <a:latin typeface="Times New Roman" panose="02020603050405020304" charset="0"/>
                <a:ea typeface="-apple-system"/>
                <a:cs typeface="Times New Roman" panose="02020603050405020304" charset="0"/>
              </a:rPr>
              <a:t>Thank you</a:t>
            </a:r>
            <a:endParaRPr lang="en-US" altLang="zh-CN" sz="7200" b="1" i="0">
              <a:solidFill>
                <a:srgbClr val="388BA5"/>
              </a:solidFill>
              <a:latin typeface="Times New Roman" panose="02020603050405020304" charset="0"/>
              <a:ea typeface="-apple-system"/>
              <a:cs typeface="Times New Roman" panose="0202060305040502030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2.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3.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4.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5.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6.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7.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8.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9.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0.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1.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2.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3.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4.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5.xml><?xml version="1.0" encoding="utf-8"?>
<p:tagLst xmlns:p="http://schemas.openxmlformats.org/presentationml/2006/main">
  <p:tag name="KSO_WM_DIAGRAM_VIRTUALLY_FRAME" val="{&quot;height&quot;:409.3556692913386,&quot;left&quot;:234.0984251968504,&quot;top&quot;:12.94984251968504,&quot;width&quot;:537.7031496062991}"/>
</p:tagLst>
</file>

<file path=ppt/tags/tag16.xml><?xml version="1.0" encoding="utf-8"?>
<p:tagLst xmlns:p="http://schemas.openxmlformats.org/presentationml/2006/main">
  <p:tag name="KSO_WM_DIAGRAM_VIRTUALLY_FRAME" val="{&quot;height&quot;:212.6237007874016,&quot;left&quot;:80.38173228346457,&quot;top&quot;:270.0762992125984,&quot;width&quot;:797.8682677165355}"/>
</p:tagLst>
</file>

<file path=ppt/tags/tag17.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18.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19.xml><?xml version="1.0" encoding="utf-8"?>
<p:tagLst xmlns:p="http://schemas.openxmlformats.org/presentationml/2006/main">
  <p:tag name="KSO_WM_DIAGRAM_VIRTUALLY_FRAME" val="{&quot;height&quot;:212.6237007874016,&quot;left&quot;:80.38173228346457,&quot;top&quot;:270.0762992125984,&quot;width&quot;:797.8682677165355}"/>
</p:tagLst>
</file>

<file path=ppt/tags/tag20.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1.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2.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3.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4.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5.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6.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7.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28.xml><?xml version="1.0" encoding="utf-8"?>
<p:tagLst xmlns:p="http://schemas.openxmlformats.org/presentationml/2006/main">
  <p:tag name="KSO_WM_DIAGRAM_VIRTUALLY_FRAME" val="{&quot;height&quot;:212.6237007874016,&quot;left&quot;:80.38173228346457,&quot;top&quot;:270.0762992125984,&quot;width&quot;:797.8682677165355}"/>
</p:tagLst>
</file>

<file path=ppt/tags/tag29.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30.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31.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32.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33.xml><?xml version="1.0" encoding="utf-8"?>
<p:tagLst xmlns:p="http://schemas.openxmlformats.org/presentationml/2006/main">
  <p:tag name="KSO_WM_DIAGRAM_VIRTUALLY_FRAME" val="{&quot;height&quot;:226.57094488188977,&quot;left&quot;:80.38173228346457,&quot;top&quot;:270.0762992125984,&quot;width&quot;:797.8682677165355}"/>
</p:tagLst>
</file>

<file path=ppt/tags/tag34.xml><?xml version="1.0" encoding="utf-8"?>
<p:tagLst xmlns:p="http://schemas.openxmlformats.org/presentationml/2006/main">
  <p:tag name="KSO_WM_DIAGRAM_VIRTUALLY_FRAME" val="{&quot;height&quot;:564.1374015748031,&quot;left&quot;:42.52283464566922,&quot;top&quot;:74.04275590551181,&quot;width&quot;:826.6667716535436}"/>
</p:tagLst>
</file>

<file path=ppt/tags/tag35.xml><?xml version="1.0" encoding="utf-8"?>
<p:tagLst xmlns:p="http://schemas.openxmlformats.org/presentationml/2006/main">
  <p:tag name="KSO_WM_DIAGRAM_VIRTUALLY_FRAME" val="{&quot;height&quot;:564.1374015748031,&quot;left&quot;:42.52283464566922,&quot;top&quot;:74.04275590551181,&quot;width&quot;:826.6667716535436}"/>
</p:tagLst>
</file>

<file path=ppt/tags/tag36.xml><?xml version="1.0" encoding="utf-8"?>
<p:tagLst xmlns:p="http://schemas.openxmlformats.org/presentationml/2006/main">
  <p:tag name="KSO_WM_DIAGRAM_VIRTUALLY_FRAME" val="{&quot;height&quot;:564.1374015748031,&quot;left&quot;:42.52283464566922,&quot;top&quot;:74.04275590551181,&quot;width&quot;:826.6667716535436}"/>
</p:tagLst>
</file>

<file path=ppt/tags/tag37.xml><?xml version="1.0" encoding="utf-8"?>
<p:tagLst xmlns:p="http://schemas.openxmlformats.org/presentationml/2006/main">
  <p:tag name="KSO_WM_DIAGRAM_VIRTUALLY_FRAME" val="{&quot;height&quot;:564.1374015748031,&quot;left&quot;:42.52283464566922,&quot;top&quot;:74.04275590551181,&quot;width&quot;:826.6667716535436}"/>
</p:tagLst>
</file>

<file path=ppt/tags/tag38.xml><?xml version="1.0" encoding="utf-8"?>
<p:tagLst xmlns:p="http://schemas.openxmlformats.org/presentationml/2006/main">
  <p:tag name="KSO_WM_DIAGRAM_VIRTUALLY_FRAME" val="{&quot;height&quot;:564.1374015748031,&quot;left&quot;:67.59228346456692,&quot;top&quot;:74.04275590551181,&quot;width&quot;:801.5973228346456}"/>
</p:tagLst>
</file>

<file path=ppt/tags/tag39.xml><?xml version="1.0" encoding="utf-8"?>
<p:tagLst xmlns:p="http://schemas.openxmlformats.org/presentationml/2006/main">
  <p:tag name="KSO_WM_DIAGRAM_VIRTUALLY_FRAME" val="{&quot;height&quot;:564.1374015748031,&quot;left&quot;:42.52283464566922,&quot;top&quot;:74.04275590551181,&quot;width&quot;:826.6667716535436}"/>
</p:tagLst>
</file>

<file path=ppt/tags/tag40.xml><?xml version="1.0" encoding="utf-8"?>
<p:tagLst xmlns:p="http://schemas.openxmlformats.org/presentationml/2006/main">
  <p:tag name="KSO_WM_DIAGRAM_VIRTUALLY_FRAME" val="{&quot;height&quot;:564.1374015748031,&quot;left&quot;:67.59228346456692,&quot;top&quot;:74.04275590551181,&quot;width&quot;:801.5973228346456}"/>
</p:tagLst>
</file>

<file path=ppt/tags/tag41.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2.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3.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4.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5.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6.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7.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8.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49.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0.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1.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2.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3.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4.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5.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6.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7.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8.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59.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0.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1.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2.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3.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4.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5.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6.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7.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8.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69.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0.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1.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2.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3.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4.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5.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6.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7.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8.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79.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80.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81.xml><?xml version="1.0" encoding="utf-8"?>
<p:tagLst xmlns:p="http://schemas.openxmlformats.org/presentationml/2006/main">
  <p:tag name="KSO_WM_DIAGRAM_VIRTUALLY_FRAME" val="{&quot;height&quot;:451.57039370078735,&quot;left&quot;:67.82275590551181,&quot;top&quot;:89.69267716535433,&quot;width&quot;:837.8000787401573}"/>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0_3*l_h_i*1_1_1"/>
  <p:tag name="KSO_WM_TEMPLATE_CATEGORY" val="diagram"/>
  <p:tag name="KSO_WM_TEMPLATE_INDEX" val="2023187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solid&quot;:{&quot;brightness&quot;:0.6000000238418579,&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DIAGRAM_USE_COLOR_VALUE" val="{&quot;color_scheme&quot;:1,&quot;color_type&quot;:1,&quot;theme_color_indexes&quot;:[5,6,5,6,5,6]}"/>
</p:tagLst>
</file>

<file path=ppt/tags/tag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870_3*l_h_f*1_1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870_3*l_h_a*1_1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870_3*l_h_i*1_2_1"/>
  <p:tag name="KSO_WM_TEMPLATE_CATEGORY" val="diagram"/>
  <p:tag name="KSO_WM_TEMPLATE_INDEX" val="2023187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870_3*l_h_f*1_2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UNIT_PRESET_TEXT" val="单击此处添加文本具体内容，简明扼要地阐述您的观点。以便观者准确地理解您传达的思想。简明扼要地阐述您的观点。"/>
  <p:tag name="KSO_WM_DIAGRAM_USE_COLOR_VALUE" val="{&quot;color_scheme&quot;:1,&quot;color_type&quot;:1,&quot;theme_color_indexes&quot;:[5,6,5,6,5,6]}"/>
</p:tagLst>
</file>

<file path=ppt/tags/tag8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870_3*l_h_a*1_2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单击添加标题"/>
  <p:tag name="KSO_WM_DIAGRAM_USE_COLOR_VALUE" val="{&quot;color_scheme&quot;:1,&quot;color_type&quot;:1,&quot;theme_color_indexes&quot;:[5,6,5,6,5,6]}"/>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870_3*l_h_i*1_3_1"/>
  <p:tag name="KSO_WM_TEMPLATE_CATEGORY" val="diagram"/>
  <p:tag name="KSO_WM_TEMPLATE_INDEX" val="2023187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solid&quot;:{&quot;brightness&quot;:0.6000000238418579,&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DIAGRAM_USE_COLOR_VALUE" val="{&quot;color_scheme&quot;:1,&quot;color_type&quot;:1,&quot;theme_color_indexes&quot;:[5,6,5,6,5,6]}"/>
</p:tagLst>
</file>

<file path=ppt/tags/tag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870_3*l_h_f*1_3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870_3*l_h_a*1_3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870_3*l_h_i*1_4_1"/>
  <p:tag name="KSO_WM_TEMPLATE_CATEGORY" val="diagram"/>
  <p:tag name="KSO_WM_TEMPLATE_INDEX" val="20231870"/>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870_3*l_h_f*1_4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UNIT_PRESET_TEXT" val="单击此处添加文本具体内容，简明扼要地阐述您的观点。以便观者准确地理解您传达的思想。简明扼要地阐述您的观点。"/>
  <p:tag name="KSO_WM_DIAGRAM_USE_COLOR_VALUE" val="{&quot;color_scheme&quot;:1,&quot;color_type&quot;:1,&quot;theme_color_indexes&quot;:[5,6,5,6,5,6]}"/>
</p:tagLst>
</file>

<file path=ppt/tags/tag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870_3*l_h_a*1_4_1"/>
  <p:tag name="KSO_WM_TEMPLATE_CATEGORY" val="diagram"/>
  <p:tag name="KSO_WM_TEMPLATE_INDEX" val="20231870"/>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3.54998779296875,&quot;left&quot;:37.1,&quot;top&quot;:76.77500610351562,&quot;width&quot;:864.0749938964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单击添加标题"/>
  <p:tag name="KSO_WM_DIAGRAM_USE_COLOR_VALUE" val="{&quot;color_scheme&quot;:1,&quot;color_type&quot;:1,&quot;theme_color_indexes&quot;:[5,6,5,6,5,6]}"/>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1_3"/>
  <p:tag name="KSO_WM_TEMPLATE_CATEGORY" val="diagram"/>
  <p:tag name="KSO_WM_TEMPLATE_INDEX" val="20231983"/>
  <p:tag name="KSO_WM_UNIT_LAYERLEVEL" val="1_1_1"/>
  <p:tag name="KSO_WM_TAG_VERSION" val="3.0"/>
  <p:tag name="KSO_WM_BEAUTIFY_FLAG" val="#wm#"/>
  <p:tag name="KSO_WM_UNIT_TYPE" val="l_h_i"/>
  <p:tag name="KSO_WM_UNIT_INDEX" val="1_1_3"/>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gradient&quot;:[{&quot;brightness&quot;:0,&quot;colorType&quot;:1,&quot;foreColorIndex&quot;:5,&quot;pos&quot;:0,&quot;transparency&quot;:0},{&quot;brightness&quot;:-0.10000000149011612,&quot;colorType&quot;:1,&quot;foreColorIndex&quot;:5,&quot;pos&quot;:1,&quot;transparency&quot;:0}],&quot;type&quot;:3},&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3"/>
  <p:tag name="KSO_WM_DIAGRAM_USE_COLOR_VALUE" val="{&quot;color_scheme&quot;:1,&quot;color_type&quot;:1,&quot;theme_color_indexes&quot;:[5,6,5,6,5,6]}"/>
</p:tagLst>
</file>

<file path=ppt/tags/tag95.xml><?xml version="1.0" encoding="utf-8"?>
<p:tagLst xmlns:p="http://schemas.openxmlformats.org/presentationml/2006/main">
  <p:tag name="KSO_WM_DIAGRAM_VERSION" val="3"/>
  <p:tag name="KSO_WM_DIAGRAM_COLOR_TEXT_CAN_REMOVE" val="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1_1"/>
  <p:tag name="KSO_WM_UNIT_ID" val="diagram20231983_2*l_h_f*1_1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单击此处输入你的项正文，文字是您思想的提炼，请尽量言简意赅。"/>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9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83_2*l_h_a*1_1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VERSION" val="3"/>
  <p:tag name="KSO_WM_DIAGRAM_COLOR_TEXT_CAN_REMOVE" val="n"/>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1_2"/>
  <p:tag name="KSO_WM_TEMPLATE_CATEGORY" val="diagram"/>
  <p:tag name="KSO_WM_TEMPLATE_INDEX" val="20231983"/>
  <p:tag name="KSO_WM_UNIT_LAYERLEVEL" val="1_1_1"/>
  <p:tag name="KSO_WM_TAG_VERSION" val="3.0"/>
  <p:tag name="KSO_WM_BEAUTIFY_FLAG" val="#wm#"/>
  <p:tag name="KSO_WM_UNIT_TYPE" val="l_h_i"/>
  <p:tag name="KSO_WM_UNIT_INDEX" val="1_1_2"/>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1_1"/>
  <p:tag name="KSO_WM_TEMPLATE_CATEGORY" val="diagram"/>
  <p:tag name="KSO_WM_TEMPLATE_INDEX" val="20231983"/>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5,6,5,6,5,6]}"/>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2_3"/>
  <p:tag name="KSO_WM_TEMPLATE_CATEGORY" val="diagram"/>
  <p:tag name="KSO_WM_TEMPLATE_INDEX" val="20231983"/>
  <p:tag name="KSO_WM_UNIT_LAYERLEVEL" val="1_1_1"/>
  <p:tag name="KSO_WM_TAG_VERSION" val="3.0"/>
  <p:tag name="KSO_WM_BEAUTIFY_FLAG" val="#wm#"/>
  <p:tag name="KSO_WM_UNIT_TYPE" val="l_h_i"/>
  <p:tag name="KSO_WM_UNIT_INDEX" val="1_2_3"/>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2_1"/>
  <p:tag name="KSO_WM_TEMPLATE_CATEGORY" val="diagram"/>
  <p:tag name="KSO_WM_TEMPLATE_INDEX" val="20231983"/>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bfbfb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2_2"/>
  <p:tag name="KSO_WM_TEMPLATE_CATEGORY" val="diagram"/>
  <p:tag name="KSO_WM_TEMPLATE_INDEX" val="20231983"/>
  <p:tag name="KSO_WM_UNIT_LAYERLEVEL" val="1_1_1"/>
  <p:tag name="KSO_WM_TAG_VERSION" val="3.0"/>
  <p:tag name="KSO_WM_BEAUTIFY_FLAG" val="#wm#"/>
  <p:tag name="KSO_WM_UNIT_TYPE" val="l_h_i"/>
  <p:tag name="KSO_WM_UNIT_INDEX" val="1_2_2"/>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solidLine&quot;:{&quot;brightness&quot;:0,&quot;colorType&quot;:2,&quot;rgb&quot;:&quot;#bfbfb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3_3"/>
  <p:tag name="KSO_WM_TEMPLATE_CATEGORY" val="diagram"/>
  <p:tag name="KSO_WM_TEMPLATE_INDEX" val="20231983"/>
  <p:tag name="KSO_WM_UNIT_LAYERLEVEL" val="1_1_1"/>
  <p:tag name="KSO_WM_TAG_VERSION" val="3.0"/>
  <p:tag name="KSO_WM_BEAUTIFY_FLAG" val="#wm#"/>
  <p:tag name="KSO_WM_UNIT_TYPE" val="l_h_i"/>
  <p:tag name="KSO_WM_UNIT_INDEX" val="1_3_3"/>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3_1"/>
  <p:tag name="KSO_WM_TEMPLATE_CATEGORY" val="diagram"/>
  <p:tag name="KSO_WM_TEMPLATE_INDEX" val="20231983"/>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bfbfb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3_2"/>
  <p:tag name="KSO_WM_TEMPLATE_CATEGORY" val="diagram"/>
  <p:tag name="KSO_WM_TEMPLATE_INDEX" val="20231983"/>
  <p:tag name="KSO_WM_UNIT_LAYERLEVEL" val="1_1_1"/>
  <p:tag name="KSO_WM_TAG_VERSION" val="3.0"/>
  <p:tag name="KSO_WM_BEAUTIFY_FLAG" val="#wm#"/>
  <p:tag name="KSO_WM_UNIT_TYPE" val="l_h_i"/>
  <p:tag name="KSO_WM_UNIT_INDEX" val="1_3_2"/>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solidLine&quot;:{&quot;brightness&quot;:0,&quot;colorType&quot;:2,&quot;rgb&quot;:&quot;#bfbfb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4_3"/>
  <p:tag name="KSO_WM_TEMPLATE_CATEGORY" val="diagram"/>
  <p:tag name="KSO_WM_TEMPLATE_INDEX" val="20231983"/>
  <p:tag name="KSO_WM_UNIT_LAYERLEVEL" val="1_1_1"/>
  <p:tag name="KSO_WM_TAG_VERSION" val="3.0"/>
  <p:tag name="KSO_WM_BEAUTIFY_FLAG" val="#wm#"/>
  <p:tag name="KSO_WM_UNIT_TYPE" val="l_h_i"/>
  <p:tag name="KSO_WM_UNIT_INDEX" val="1_4_3"/>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4_1"/>
  <p:tag name="KSO_WM_TEMPLATE_CATEGORY" val="diagram"/>
  <p:tag name="KSO_WM_TEMPLATE_INDEX" val="20231983"/>
  <p:tag name="KSO_WM_UNIT_LAYERLEVEL" val="1_1_1"/>
  <p:tag name="KSO_WM_TAG_VERSION" val="3.0"/>
  <p:tag name="KSO_WM_BEAUTIFY_FLAG" val="#wm#"/>
  <p:tag name="KSO_WM_UNIT_SUBTYPE" val="d"/>
  <p:tag name="KSO_WM_UNIT_TYPE" val="l_h_i"/>
  <p:tag name="KSO_WM_UNIT_INDEX" val="1_4_1"/>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bfbfb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2*l_h_i*1_4_2"/>
  <p:tag name="KSO_WM_TEMPLATE_CATEGORY" val="diagram"/>
  <p:tag name="KSO_WM_TEMPLATE_INDEX" val="20231983"/>
  <p:tag name="KSO_WM_UNIT_LAYERLEVEL" val="1_1_1"/>
  <p:tag name="KSO_WM_TAG_VERSION" val="3.0"/>
  <p:tag name="KSO_WM_BEAUTIFY_FLAG" val="#wm#"/>
  <p:tag name="KSO_WM_UNIT_TYPE" val="l_h_i"/>
  <p:tag name="KSO_WM_UNIT_INDEX" val="1_4_2"/>
  <p:tag name="KSO_WM_DIAGRAM_VERSION" val="3"/>
  <p:tag name="KSO_WM_DIAGRAM_COLOR_TEXT_CAN_REMOVE" val="n"/>
  <p:tag name="KSO_WM_DIAGRAM_GROUP_CODE" val="l1-1"/>
  <p:tag name="KSO_WM_DIAGRAM_COLOR_TRICK" val="1"/>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solidLine&quot;:{&quot;brightness&quot;:0,&quot;colorType&quot;:2,&quot;rgb&quot;:&quot;#bfbfb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08.xml><?xml version="1.0" encoding="utf-8"?>
<p:tagLst xmlns:p="http://schemas.openxmlformats.org/presentationml/2006/main">
  <p:tag name="KSO_WM_DIAGRAM_VERSION" val="3"/>
  <p:tag name="KSO_WM_DIAGRAM_COLOR_TEXT_CAN_REMOVE" val="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2_1"/>
  <p:tag name="KSO_WM_UNIT_ID" val="diagram20231983_2*l_h_f*1_2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单击此处输入你的项正文，文字是您思想的提炼，请尽量言简意赅。"/>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83_2*l_h_a*1_2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VERSION" val="3"/>
  <p:tag name="KSO_WM_DIAGRAM_COLOR_TEXT_CAN_REMOVE" val="n"/>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0.xml><?xml version="1.0" encoding="utf-8"?>
<p:tagLst xmlns:p="http://schemas.openxmlformats.org/presentationml/2006/main">
  <p:tag name="KSO_WM_DIAGRAM_VERSION" val="3"/>
  <p:tag name="KSO_WM_DIAGRAM_COLOR_TEXT_CAN_REMOVE" val="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3_1"/>
  <p:tag name="KSO_WM_UNIT_ID" val="diagram20231983_2*l_h_f*1_3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单击此处输入你的项正文，文字是您思想的提炼，请尽量言简意赅。"/>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83_2*l_h_a*1_3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VERSION" val="3"/>
  <p:tag name="KSO_WM_DIAGRAM_COLOR_TEXT_CAN_REMOVE" val="n"/>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2.xml><?xml version="1.0" encoding="utf-8"?>
<p:tagLst xmlns:p="http://schemas.openxmlformats.org/presentationml/2006/main">
  <p:tag name="KSO_WM_DIAGRAM_VERSION" val="3"/>
  <p:tag name="KSO_WM_DIAGRAM_COLOR_TEXT_CAN_REMOVE" val="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4_1"/>
  <p:tag name="KSO_WM_UNIT_ID" val="diagram20231983_2*l_h_f*1_4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单击此处输入你的项正文，文字是您思想的提炼，请尽量言简意赅。"/>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83_2*l_h_a*1_4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VERSION" val="3"/>
  <p:tag name="KSO_WM_DIAGRAM_COLOR_TEXT_CAN_REMOVE" val="n"/>
  <p:tag name="KSO_WM_DIAGRAM_MAX_ITEMCNT" val="4"/>
  <p:tag name="KSO_WM_DIAGRAM_MIN_ITEMCNT" val="3"/>
  <p:tag name="KSO_WM_DIAGRAM_VIRTUALLY_FRAME" val="{&quot;height&quot;:337.2050476074219,&quot;left&quot;:49.67503937007873,&quot;top&quot;:97.74747619628906,&quot;width&quot;:850.4217990088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COLOR_TRICK" val="1"/>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0941_5*m_i*1_1"/>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1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5*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1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41_5*m_h_i*1_1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DIAGRAM_USE_COLOR_VALUE" val="{&quot;color_scheme&quot;:1,&quot;color_type&quot;:1,&quot;theme_color_indexes&quot;:[5,6,5,6,5,6]}"/>
</p:tagLst>
</file>

<file path=ppt/tags/tag11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5*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1_5*m_h_f*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1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5*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0941_5*m_h_a*1_1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2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0941_5*m_h_i*1_2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2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5*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941_5*m_h_f*1_2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2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30941_5*m_h_i*1_2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0941_5*m_h_a*1_2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0941_5*m_h_i*1_3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2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0941_5*m_h_i*1_3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1_5*m_h_f*1_3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Lst>
</file>

<file path=ppt/tags/tag1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0941_5*m_h_a*1_3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3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0941_5*m_h_i*1_3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3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6_3"/>
  <p:tag name="KSO_WM_UNIT_ID" val="diagram20230941_5*m_h_i*1_6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3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6_2"/>
  <p:tag name="KSO_WM_UNIT_ID" val="diagram20230941_5*m_h_i*1_6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6_1"/>
  <p:tag name="KSO_WM_UNIT_ID" val="diagram20230941_5*m_h_f*1_6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3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6_1"/>
  <p:tag name="KSO_WM_UNIT_ID" val="diagram20230941_5*m_h_i*1_6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6_1"/>
  <p:tag name="KSO_WM_UNIT_ID" val="diagram20230941_5*m_h_a*1_6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3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20230941_5*m_h_i*1_5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3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0941_5*m_h_f*1_5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3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5_1"/>
  <p:tag name="KSO_WM_UNIT_ID" val="diagram20230941_5*m_h_i*1_5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5_1"/>
  <p:tag name="KSO_WM_UNIT_ID" val="diagram20230941_5*m_h_a*1_5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4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30941_5*m_h_i*1_5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4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30941_5*m_h_i*1_4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4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30941_5*m_h_i*1_4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0941_5*m_h_f*1_4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Lst>
</file>

<file path=ppt/tags/tag14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1"/>
  <p:tag name="KSO_WM_UNIT_ID" val="diagram20230941_5*m_h_i*1_4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4_1"/>
  <p:tag name="KSO_WM_UNIT_ID" val="diagram20230941_5*m_h_a*1_4_1"/>
  <p:tag name="KSO_WM_TEMPLATE_CATEGORY" val="diagram"/>
  <p:tag name="KSO_WM_TEMPLATE_INDEX" val="20230941"/>
  <p:tag name="KSO_WM_UNIT_LAYERLEVEL" val="1_1_1"/>
  <p:tag name="KSO_WM_TAG_VERSION" val="3.0"/>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3.94757080078125,&quot;left&quot;:51.45007874015748,&quot;top&quot;:95.87621459960937,&quot;width&quot;:884.94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131_2*l_h_i*1_1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1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31_2*l_h_a*1_1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131_2*l_h_i*1_2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1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31_2*l_h_a*1_2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1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31_2*l_h_f*1_2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DIAGRAM_USE_COLOR_VALUE" val="{&quot;color_scheme&quot;:1,&quot;color_type&quot;:1,&quot;theme_color_indexes&quot;:[5,6,5,6,5,6]}"/>
  <p:tag name="KSO_WM_UNIT_TEXT_LAYER_COUNT" val="1"/>
  <p:tag name="KSO_WM_BEAUTIFY_FLAG" val="#wm#"/>
  <p:tag name="KSO_WM_UNIT_PRESET_TEXT" val="单击此处输入智能正文，文字是您思想的提炼，请尽量言简意赅的阐述观点。单击此处添加正文&#10;文字是您思想的提炼。单击此处输入智能正文，文字是您思想的提炼，请尽量言简意赅的阐述观点。单击此处添加正文"/>
  <p:tag name="KSO_WM_UNIT_TEXT_FILL_FORE_SCHEMECOLOR_INDEX" val="1"/>
  <p:tag name="KSO_WM_UNIT_TEXT_FILL_TYPE"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131_2*l_h_i*1_3_1"/>
  <p:tag name="KSO_WM_TEMPLATE_CATEGORY" val="diagram"/>
  <p:tag name="KSO_WM_TEMPLATE_INDEX" val="20233131"/>
  <p:tag name="KSO_WM_UNIT_LAYERLEVEL" val="1_1_1"/>
  <p:tag name="KSO_WM_TAG_VERSION" val="3.0"/>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DIAGRAM_USE_COLOR_VALUE" val="{&quot;color_scheme&quot;:1,&quot;color_type&quot;:1,&quot;theme_color_indexes&quot;:[5,6,5,6,5,6]}"/>
  <p:tag name="KSO_WM_BEAUTIFY_FLAG" val="#wm#"/>
  <p:tag name="KSO_WM_UNIT_TEXT_FILL_FORE_SCHEMECOLOR_INDEX" val="1"/>
  <p:tag name="KSO_WM_UNIT_TEXT_FILL_TYPE" val="1"/>
</p:tagLst>
</file>

<file path=ppt/tags/tag152.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131_2*l_h_i*1_1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 name="KSO_WM_BEAUTIFY_FLAG" val="#wm#"/>
  <p:tag name="KSO_WM_UNIT_LINE_FORE_SCHEMECOLOR_INDEX" val="5"/>
</p:tagLst>
</file>

<file path=ppt/tags/tag153.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131_2*l_h_i*1_2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 name="KSO_WM_BEAUTIFY_FLAG" val="#wm#"/>
  <p:tag name="KSO_WM_UNIT_LINE_FORE_SCHEMECOLOR_INDEX" val="5"/>
</p:tagLst>
</file>

<file path=ppt/tags/tag154.xml><?xml version="1.0" encoding="utf-8"?>
<p:tagLst xmlns:p="http://schemas.openxmlformats.org/presentationml/2006/main">
  <p:tag name="KSO_WM_UNIT_LINE_FORE_SCHEMECOLOR_INDEX_BRIGHTNESS" val="0"/>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3131_2*l_h_i*1_3_2"/>
  <p:tag name="KSO_WM_TEMPLATE_CATEGORY" val="diagram"/>
  <p:tag name="KSO_WM_TEMPLATE_INDEX" val="2023313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 name="KSO_WM_BEAUTIFY_FLAG" val="#wm#"/>
  <p:tag name="KSO_WM_UNIT_LINE_FORE_SCHEMECOLOR_INDEX" val="5"/>
</p:tagLst>
</file>

<file path=ppt/tags/tag1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31_2*l_h_a*1_3_1"/>
  <p:tag name="KSO_WM_TEMPLATE_CATEGORY" val="diagram"/>
  <p:tag name="KSO_WM_TEMPLATE_INDEX" val="20233131"/>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DIAGRAM_USE_COLOR_VALUE" val="{&quot;color_scheme&quot;:1,&quot;color_type&quot;:1,&quot;theme_color_indexes&quot;:[5,6,5,6,5,6]}"/>
  <p:tag name="KSO_WM_BEAUTIFY_FLAG" val="#wm#"/>
  <p:tag name="KSO_WM_UNIT_PRESET_TEXT" val="添加项标题"/>
  <p:tag name="KSO_WM_UNIT_TEXT_FILL_FORE_SCHEMECOLOR_INDEX" val="1"/>
  <p:tag name="KSO_WM_UNIT_TEXT_FILL_TYPE" val="1"/>
</p:tagLst>
</file>

<file path=ppt/tags/tag15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31_2*l_h_f*1_3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DIAGRAM_USE_COLOR_VALUE" val="{&quot;color_scheme&quot;:1,&quot;color_type&quot;:1,&quot;theme_color_indexes&quot;:[5,6,5,6,5,6]}"/>
  <p:tag name="KSO_WM_UNIT_TEXT_LAYER_COUNT" val="1"/>
  <p:tag name="KSO_WM_BEAUTIFY_FLAG" val="#wm#"/>
  <p:tag name="KSO_WM_UNIT_PRESET_TEXT" val="单击此处输入智能正文，文字是您思想的提炼，请尽量言简意赅的阐述观点。单击此处添加正文文字是您思想的提炼&#10;文字是您思想的提炼。单击此处输入智能正文，文字是您思想的提炼，请尽量言简意赅的阐述观点。"/>
  <p:tag name="KSO_WM_UNIT_TEXT_FILL_FORE_SCHEMECOLOR_INDEX" val="1"/>
  <p:tag name="KSO_WM_UNIT_TEXT_FILL_TYPE" val="1"/>
</p:tagLst>
</file>

<file path=ppt/tags/tag1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31_2*l_h_f*1_1_1"/>
  <p:tag name="KSO_WM_TEMPLATE_CATEGORY" val="diagram"/>
  <p:tag name="KSO_WM_TEMPLATE_INDEX" val="20233131"/>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1000061035156,&quot;left&quot;:60.49503173828125,&quot;top&quot;:87.69999694824219,&quot;width&quot;:837.20496826171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DIAGRAM_USE_COLOR_VALUE" val="{&quot;color_scheme&quot;:1,&quot;color_type&quot;:1,&quot;theme_color_indexes&quot;:[5,6,5,6,5,6]}"/>
  <p:tag name="KSO_WM_UNIT_TEXT_LAYER_COUNT" val="1"/>
  <p:tag name="KSO_WM_BEAUTIFY_FLAG" val="#wm#"/>
  <p:tag name="KSO_WM_UNIT_PRESET_TEXT" val="单击此处输入智能正文，文字是您思想的提炼，请尽量言简意赅的阐述观点。单击此处添加正文文字是您思想的提炼&#10;文字是您思想的提炼。单击此处输入智能正文，文字是您思想的提炼，请尽量言简意赅的阐述观点。"/>
  <p:tag name="KSO_WM_UNIT_TEXT_FILL_FORE_SCHEMECOLOR_INDEX" val="1"/>
  <p:tag name="KSO_WM_UNIT_TEXT_FILL_TYPE" val="1"/>
</p:tagLst>
</file>

<file path=ppt/tags/tag15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750061035156,&quot;left&quot;:50.55,&quot;top&quot;:91.8,&quot;width&quot;:854.47500610351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9.xml><?xml version="1.0" encoding="utf-8"?>
<p:tagLst xmlns:p="http://schemas.openxmlformats.org/presentationml/2006/main">
  <p:tag name="KSO_WM_DIAGRAM_VIRTUALLY_FRAME" val="{&quot;height&quot;:343.4750061035156,&quot;left&quot;:50.55,&quot;top&quot;:91.8,&quot;width&quot;:854.4750061035156}"/>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1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750061035156,&quot;left&quot;:50.55,&quot;top&quot;:91.8,&quot;width&quot;:854.4750061035156}"/>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DIAGRAM_USE_COLOR_VALUE" val="{&quot;color_scheme&quot;:1,&quot;color_type&quot;:1,&quot;theme_color_indexes&quot;:[5,6,5,6,5,6]}"/>
</p:tagLst>
</file>

<file path=ppt/tags/tag161.xml><?xml version="1.0" encoding="utf-8"?>
<p:tagLst xmlns:p="http://schemas.openxmlformats.org/presentationml/2006/main">
  <p:tag name="KSO_WM_DIAGRAM_VIRTUALLY_FRAME" val="{&quot;height&quot;:343.4750061035156,&quot;left&quot;:50.55,&quot;top&quot;:91.8,&quot;width&quot;:854.475006103515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8"/>
  <p:tag name="KSO_WM_UNIT_TEXT_FILL_FORE_SCHEMECOLOR_INDEX" val="1"/>
  <p:tag name="KSO_WM_UNIT_TEXT_FILL_TYPE" val="1"/>
  <p:tag name="KSO_WM_DIAGRAM_USE_COLOR_VALUE" val="{&quot;color_scheme&quot;:1,&quot;color_type&quot;:1,&quot;theme_color_indexes&quot;:[5,6,5,6,5,6]}"/>
</p:tagLst>
</file>

<file path=ppt/tags/tag162.xml><?xml version="1.0" encoding="utf-8"?>
<p:tagLst xmlns:p="http://schemas.openxmlformats.org/presentationml/2006/main">
  <p:tag name="KSO_WM_DIAGRAM_VIRTUALLY_FRAME" val="{&quot;height&quot;:343.4750061035156,&quot;left&quot;:50.55,&quot;top&quot;:91.8,&quot;width&quot;:854.4750061035156}"/>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63.xml><?xml version="1.0" encoding="utf-8"?>
<p:tagLst xmlns:p="http://schemas.openxmlformats.org/presentationml/2006/main">
  <p:tag name="KSO_WM_DIAGRAM_VIRTUALLY_FRAME" val="{&quot;height&quot;:343.4750061035156,&quot;left&quot;:50.55,&quot;top&quot;:91.8,&quot;width&quot;:854.4750061035156}"/>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DIAGRAM_USE_COLOR_VALUE" val="{&quot;color_scheme&quot;:1,&quot;color_type&quot;:1,&quot;theme_color_indexes&quot;:[5,6,5,6,5,6]}"/>
</p:tagLst>
</file>

<file path=ppt/tags/tag164.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0938_2*m_h_i*1_3_2"/>
  <p:tag name="KSO_WM_TEMPLATE_CATEGORY" val="diagram"/>
  <p:tag name="KSO_WM_TEMPLATE_INDEX" val="20230938"/>
  <p:tag name="KSO_WM_UNIT_LAYERLEVEL" val="1_1_1"/>
  <p:tag name="KSO_WM_TAG_VERSION" val="3.0"/>
  <p:tag name="KSO_WM_BEAUTIFY_FLAG" val="#wm#"/>
  <p:tag name="KSO_WM_UNIT_FILL_TYPE" val="1"/>
  <p:tag name="KSO_WM_UNIT_FILL_FORE_SCHEMECOLOR_INDEX" val="5"/>
  <p:tag name="KSO_WM_UNIT_FILL_FORE_SCHEMECOLOR_INDEX_BRIGHTNESS" val="0.6"/>
  <p:tag name="KSO_WM_DIAGRAM_USE_COLOR_VALUE" val="{&quot;color_scheme&quot;:1,&quot;color_type&quot;:1,&quot;theme_color_indexes&quot;:[5,6,5,6,5,6]}"/>
</p:tagLst>
</file>

<file path=ppt/tags/tag165.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gradient&quot;:[{&quot;brightness&quot;:0.09000000357627869,&quot;colorType&quot;:1,&quot;foreColorIndex&quot;:5,&quot;pos&quot;:0.5799999833106995,&quot;transparency&quot;:0},{&quot;brightness&quot;:0.600000023841857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30938_2*m_h_a*1_3_1"/>
  <p:tag name="KSO_WM_TEMPLATE_CATEGORY" val="diagram"/>
  <p:tag name="KSO_WM_TEMPLATE_INDEX" val="20230938"/>
  <p:tag name="KSO_WM_UNIT_LAYERLEVEL" val="1_1_1"/>
  <p:tag name="KSO_WM_TAG_VERSION" val="3.0"/>
  <p:tag name="KSO_WM_UNIT_TEXT_TYPE" val="1"/>
  <p:tag name="KSO_WM_BEAUTIFY_FLAG" val="#wm#"/>
  <p:tag name="KSO_WM_UNIT_PRESET_TEXT" val="添加标题"/>
  <p:tag name="KSO_WM_UNIT_FILL_TYPE" val="3"/>
  <p:tag name="KSO_WM_DIAGRAM_USE_COLOR_VALUE" val="{&quot;color_scheme&quot;:1,&quot;color_type&quot;:1,&quot;theme_color_indexes&quot;:[5,6,5,6,5,6]}"/>
</p:tagLst>
</file>

<file path=ppt/tags/tag166.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81"/>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30938_2*m_h_f*1_3_1"/>
  <p:tag name="KSO_WM_TEMPLATE_CATEGORY" val="diagram"/>
  <p:tag name="KSO_WM_TEMPLATE_INDEX" val="20230938"/>
  <p:tag name="KSO_WM_UNIT_LAYERLEVEL" val="1_1_1"/>
  <p:tag name="KSO_WM_TAG_VERSION" val="3.0"/>
  <p:tag name="KSO_WM_UNIT_TEXT_TYPE" val="1"/>
  <p:tag name="KSO_WM_UNIT_TEXT_LAYER_COUNT" val="1"/>
  <p:tag name="KSO_WM_BEAUTIFY_FLAG" val="#wm#"/>
  <p:tag name="KSO_WM_UNIT_PRESET_TEXT" val="单击此处输入你的项正文，文字是您思想的提炼。请言简意赅的阐述观点以便观者准确地理解您传达的思想"/>
  <p:tag name="KSO_WM_UNIT_TEXT_FILL_FORE_SCHEMECOLOR_INDEX" val="1"/>
  <p:tag name="KSO_WM_UNIT_TEXT_FILL_TYPE" val="1"/>
  <p:tag name="KSO_WM_DIAGRAM_USE_COLOR_VALUE" val="{&quot;color_scheme&quot;:1,&quot;color_type&quot;:1,&quot;theme_color_indexes&quot;:[5,6,5,6,5,6]}"/>
</p:tagLst>
</file>

<file path=ppt/tags/tag167.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VALUE" val="81"/>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0938_2*m_h_f*1_2_1"/>
  <p:tag name="KSO_WM_TEMPLATE_CATEGORY" val="diagram"/>
  <p:tag name="KSO_WM_TEMPLATE_INDEX" val="20230938"/>
  <p:tag name="KSO_WM_UNIT_LAYERLEVEL" val="1_1_1"/>
  <p:tag name="KSO_WM_TAG_VERSION" val="3.0"/>
  <p:tag name="KSO_WM_UNIT_TEXT_TYPE" val="1"/>
  <p:tag name="KSO_WM_UNIT_TEXT_LAYER_COUNT" val="1"/>
  <p:tag name="KSO_WM_BEAUTIFY_FLAG" val="#wm#"/>
  <p:tag name="KSO_WM_UNIT_PRESET_TEXT" val="单击此处输入你的智能图形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168.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0938_2*m_h_f*1_1_1"/>
  <p:tag name="KSO_WM_TEMPLATE_CATEGORY" val="diagram"/>
  <p:tag name="KSO_WM_TEMPLATE_INDEX" val="20230938"/>
  <p:tag name="KSO_WM_UNIT_LAYERLEVEL" val="1_1_1"/>
  <p:tag name="KSO_WM_TAG_VERSION" val="3.0"/>
  <p:tag name="KSO_WM_UNIT_TEXT_TYPE" val="1"/>
  <p:tag name="KSO_WM_UNIT_TEXT_LAYER_COUNT" val="1"/>
  <p:tag name="KSO_WM_BEAUTIFY_FLAG" val="#wm#"/>
  <p:tag name="KSO_WM_UNIT_PRESET_TEXT" val="单击此处输入你的项正文，文字是您思想的提炼。请言简意赅的阐述观点以便观者准确地理解您传达的思想"/>
  <p:tag name="KSO_WM_UNIT_TEXT_FILL_FORE_SCHEMECOLOR_INDEX" val="1"/>
  <p:tag name="KSO_WM_UNIT_TEXT_FILL_TYPE" val="1"/>
  <p:tag name="KSO_WM_DIAGRAM_USE_COLOR_VALUE" val="{&quot;color_scheme&quot;:1,&quot;color_type&quot;:1,&quot;theme_color_indexes&quot;:[5,6,5,6,5,6]}"/>
</p:tagLst>
</file>

<file path=ppt/tags/tag169.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0938_2*m_h_i*1_3_1"/>
  <p:tag name="KSO_WM_TEMPLATE_CATEGORY" val="diagram"/>
  <p:tag name="KSO_WM_TEMPLATE_INDEX" val="20230938"/>
  <p:tag name="KSO_WM_UNIT_LAYERLEVEL" val="1_1_1"/>
  <p:tag name="KSO_WM_TAG_VERSION" val="3.0"/>
  <p:tag name="KSO_WM_BEAUTIFY_FLAG" val="#wm#"/>
  <p:tag name="KSO_WM_DIAGRAM_USE_COLOR_VALUE" val="{&quot;color_scheme&quot;:1,&quot;color_type&quot;:1,&quot;theme_color_indexes&quot;:[5,6,5,6,5,6]}"/>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8_2*m_h_x*1_3_1"/>
  <p:tag name="KSO_WM_TEMPLATE_CATEGORY" val="diagram"/>
  <p:tag name="KSO_WM_TEMPLATE_INDEX" val="20230938"/>
  <p:tag name="KSO_WM_UNIT_LAYERLEVEL" val="1_1_1"/>
  <p:tag name="KSO_WM_TAG_VERSION" val="3.0"/>
  <p:tag name="KSO_WM_DIAGRAM_VERSION" val="3"/>
  <p:tag name="KSO_WM_DIAGRAM_COLOR_TRICK" val="2"/>
  <p:tag name="KSO_WM_DIAGRAM_COLOR_TEXT_CAN_REMOVE" val="n"/>
  <p:tag name="KSO_WM_UNIT_VALUE" val="45*48"/>
  <p:tag name="KSO_WM_UNIT_TYPE" val="m_h_x"/>
  <p:tag name="KSO_WM_UNIT_INDEX" val="1_3_1"/>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USE_COLOR_VALUE" val="{&quot;color_scheme&quot;:1,&quot;color_type&quot;:1,&quot;theme_color_indexes&quot;:[5,6,5,6,5,6]}"/>
</p:tagLst>
</file>

<file path=ppt/tags/tag171.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800000011920929,&quot;colorType&quot;:1,&quot;foreColorIndex&quot;:6,&quot;transparency&quot;:0.64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38_2*m_h_i*1_2_2"/>
  <p:tag name="KSO_WM_TEMPLATE_CATEGORY" val="diagram"/>
  <p:tag name="KSO_WM_TEMPLATE_INDEX" val="20230938"/>
  <p:tag name="KSO_WM_UNIT_LAYERLEVEL" val="1_1_1"/>
  <p:tag name="KSO_WM_TAG_VERSION" val="3.0"/>
  <p:tag name="KSO_WM_BEAUTIFY_FLAG" val="#wm#"/>
  <p:tag name="KSO_WM_UNIT_FILL_TYPE" val="1"/>
  <p:tag name="KSO_WM_UNIT_FILL_FORE_SCHEMECOLOR_INDEX" val="6"/>
  <p:tag name="KSO_WM_UNIT_FILL_FORE_SCHEMECOLOR_INDEX_BRIGHTNESS" val="0.8"/>
  <p:tag name="KSO_WM_DIAGRAM_USE_COLOR_VALUE" val="{&quot;color_scheme&quot;:1,&quot;color_type&quot;:1,&quot;theme_color_indexes&quot;:[5,6,5,6,5,6]}"/>
</p:tagLst>
</file>

<file path=ppt/tags/tag172.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gradient&quot;:[{&quot;brightness&quot;:0,&quot;colorType&quot;:1,&quot;foreColorIndex&quot;:6,&quot;pos&quot;:0.30000001192092896,&quot;transparency&quot;:0},{&quot;brightness&quot;:0.6000000238418579,&quot;colorType&quot;:1,&quot;foreColorIndex&quot;:6,&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30938_2*m_h_a*1_2_1"/>
  <p:tag name="KSO_WM_TEMPLATE_CATEGORY" val="diagram"/>
  <p:tag name="KSO_WM_TEMPLATE_INDEX" val="20230938"/>
  <p:tag name="KSO_WM_UNIT_LAYERLEVEL" val="1_1_1"/>
  <p:tag name="KSO_WM_TAG_VERSION" val="3.0"/>
  <p:tag name="KSO_WM_UNIT_TEXT_TYPE" val="1"/>
  <p:tag name="KSO_WM_BEAUTIFY_FLAG" val="#wm#"/>
  <p:tag name="KSO_WM_UNIT_PRESET_TEXT" val="添加标题"/>
  <p:tag name="KSO_WM_UNIT_FILL_TYPE" val="3"/>
  <p:tag name="KSO_WM_DIAGRAM_USE_COLOR_VALUE" val="{&quot;color_scheme&quot;:1,&quot;color_type&quot;:1,&quot;theme_color_indexes&quot;:[5,6,5,6,5,6]}"/>
</p:tagLst>
</file>

<file path=ppt/tags/tag173.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0938_2*m_h_i*1_2_1"/>
  <p:tag name="KSO_WM_TEMPLATE_CATEGORY" val="diagram"/>
  <p:tag name="KSO_WM_TEMPLATE_INDEX" val="20230938"/>
  <p:tag name="KSO_WM_UNIT_LAYERLEVEL" val="1_1_1"/>
  <p:tag name="KSO_WM_TAG_VERSION" val="3.0"/>
  <p:tag name="KSO_WM_BEAUTIFY_FLAG" val="#wm#"/>
  <p:tag name="KSO_WM_DIAGRAM_USE_COLOR_VALUE" val="{&quot;color_scheme&quot;:1,&quot;color_type&quot;:1,&quot;theme_color_indexes&quot;:[5,6,5,6,5,6]}"/>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8_2*m_h_x*1_2_1"/>
  <p:tag name="KSO_WM_TEMPLATE_CATEGORY" val="diagram"/>
  <p:tag name="KSO_WM_TEMPLATE_INDEX" val="20230938"/>
  <p:tag name="KSO_WM_UNIT_LAYERLEVEL" val="1_1_1"/>
  <p:tag name="KSO_WM_TAG_VERSION" val="3.0"/>
  <p:tag name="KSO_WM_DIAGRAM_VERSION" val="3"/>
  <p:tag name="KSO_WM_DIAGRAM_COLOR_TRICK" val="2"/>
  <p:tag name="KSO_WM_DIAGRAM_COLOR_TEXT_CAN_REMOVE" val="n"/>
  <p:tag name="KSO_WM_UNIT_VALUE" val="42*48"/>
  <p:tag name="KSO_WM_UNIT_TYPE" val="m_h_x"/>
  <p:tag name="KSO_WM_UNIT_INDEX" val="1_2_1"/>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8"/>
  <p:tag name="KSO_WM_UNIT_FILL_FORE_SCHEMECOLOR_INDEX_BRIGHTNESS" val="0"/>
  <p:tag name="KSO_WM_BEAUTIFY_FLAG" val="#wm#"/>
  <p:tag name="KSO_WM_DIAGRAM_USE_COLOR_VALUE" val="{&quot;color_scheme&quot;:1,&quot;color_type&quot;:1,&quot;theme_color_indexes&quot;:[5,6,5,6,5,6]}"/>
</p:tagLst>
</file>

<file path=ppt/tags/tag175.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gradient&quot;:[{&quot;brightness&quot;:0.09000000357627869,&quot;colorType&quot;:1,&quot;foreColorIndex&quot;:5,&quot;pos&quot;:0.5799999833106995,&quot;transparency&quot;:0},{&quot;brightness&quot;:0.600000023841857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0938_2*m_h_a*1_1_1"/>
  <p:tag name="KSO_WM_TEMPLATE_CATEGORY" val="diagram"/>
  <p:tag name="KSO_WM_TEMPLATE_INDEX" val="20230938"/>
  <p:tag name="KSO_WM_UNIT_LAYERLEVEL" val="1_1_1"/>
  <p:tag name="KSO_WM_TAG_VERSION" val="3.0"/>
  <p:tag name="KSO_WM_UNIT_TEXT_TYPE" val="1"/>
  <p:tag name="KSO_WM_BEAUTIFY_FLAG" val="#wm#"/>
  <p:tag name="KSO_WM_UNIT_PRESET_TEXT" val="添加标题"/>
  <p:tag name="KSO_WM_UNIT_FILL_TYPE" val="3"/>
  <p:tag name="KSO_WM_DIAGRAM_USE_COLOR_VALUE" val="{&quot;color_scheme&quot;:1,&quot;color_type&quot;:1,&quot;theme_color_indexes&quot;:[5,6,5,6,5,6]}"/>
</p:tagLst>
</file>

<file path=ppt/tags/tag176.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38_2*m_h_i*1_1_2"/>
  <p:tag name="KSO_WM_TEMPLATE_CATEGORY" val="diagram"/>
  <p:tag name="KSO_WM_TEMPLATE_INDEX" val="20230938"/>
  <p:tag name="KSO_WM_UNIT_LAYERLEVEL" val="1_1_1"/>
  <p:tag name="KSO_WM_TAG_VERSION" val="3.0"/>
  <p:tag name="KSO_WM_BEAUTIFY_FLAG" val="#wm#"/>
  <p:tag name="KSO_WM_UNIT_FILL_TYPE" val="1"/>
  <p:tag name="KSO_WM_UNIT_FILL_FORE_SCHEMECOLOR_INDEX" val="5"/>
  <p:tag name="KSO_WM_UNIT_FILL_FORE_SCHEMECOLOR_INDEX_BRIGHTNESS" val="0.6"/>
  <p:tag name="KSO_WM_DIAGRAM_USE_COLOR_VALUE" val="{&quot;color_scheme&quot;:1,&quot;color_type&quot;:1,&quot;theme_color_indexes&quot;:[5,6,5,6,5,6]}"/>
</p:tagLst>
</file>

<file path=ppt/tags/tag177.xml><?xml version="1.0" encoding="utf-8"?>
<p:tagLst xmlns:p="http://schemas.openxmlformats.org/presentationml/2006/main">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0938_2*m_h_i*1_1_1"/>
  <p:tag name="KSO_WM_TEMPLATE_CATEGORY" val="diagram"/>
  <p:tag name="KSO_WM_TEMPLATE_INDEX" val="20230938"/>
  <p:tag name="KSO_WM_UNIT_LAYERLEVEL" val="1_1_1"/>
  <p:tag name="KSO_WM_TAG_VERSION" val="3.0"/>
  <p:tag name="KSO_WM_BEAUTIFY_FLAG" val="#wm#"/>
  <p:tag name="KSO_WM_DIAGRAM_USE_COLOR_VALUE" val="{&quot;color_scheme&quot;:1,&quot;color_type&quot;:1,&quot;theme_color_indexes&quot;:[5,6,5,6,5,6]}"/>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8_2*m_h_x*1_1_1"/>
  <p:tag name="KSO_WM_TEMPLATE_CATEGORY" val="diagram"/>
  <p:tag name="KSO_WM_TEMPLATE_INDEX" val="20230938"/>
  <p:tag name="KSO_WM_UNIT_LAYERLEVEL" val="1_1_1"/>
  <p:tag name="KSO_WM_TAG_VERSION" val="3.0"/>
  <p:tag name="KSO_WM_DIAGRAM_VERSION" val="3"/>
  <p:tag name="KSO_WM_DIAGRAM_COLOR_TRICK" val="2"/>
  <p:tag name="KSO_WM_DIAGRAM_COLOR_TEXT_CAN_REMOVE" val="n"/>
  <p:tag name="KSO_WM_UNIT_VALUE" val="47*48"/>
  <p:tag name="KSO_WM_UNIT_TYPE" val="m_h_x"/>
  <p:tag name="KSO_WM_UNIT_INDEX" val="1_1_1"/>
  <p:tag name="KSO_WM_DIAGRAM_MAX_ITEMCNT" val="6"/>
  <p:tag name="KSO_WM_DIAGRAM_MIN_ITEMCNT" val="2"/>
  <p:tag name="KSO_WM_DIAGRAM_VIRTUALLY_FRAME" val="{&quot;height&quot;:446.50001220703126,&quot;left&quot;:86.77499389648438,&quot;top&quot;:74.27499389648438,&quot;width&quot;:842.800012207031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USE_COLOR_VALUE" val="{&quot;color_scheme&quot;:1,&quot;color_type&quot;:1,&quot;theme_color_indexes&quot;:[5,6,5,6,5,6]}"/>
</p:tagLst>
</file>

<file path=ppt/tags/tag17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3_1*l_h_f*1_1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单击此处文本"/>
  <p:tag name="KSO_WM_UNIT_TEXT_FILL_FORE_SCHEMECOLOR_INDEX" val="1"/>
  <p:tag name="KSO_WM_UNIT_TEXT_FILL_TYPE" val="1"/>
  <p:tag name="KSO_WM_DIAGRAM_USE_COLOR_VALUE" val="{&quot;color_scheme&quot;:1,&quot;color_type&quot;:1,&quot;theme_color_indexes&quot;:[5,6,5,6,5,6]}"/>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3_1*l_h_i*1_1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3_1*l_h_i*1_2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963_1*l_h_i*1_4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3_1*l_h_i*1_3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8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63_1*l_h_f*1_4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85.xml><?xml version="1.0" encoding="utf-8"?>
<p:tagLst xmlns:p="http://schemas.openxmlformats.org/presentationml/2006/main">
  <p:tag name="KSO_WM_UNIT_VALUE" val="223*223"/>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1963_1*l_h_x*1_1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963_1*l_i*1_1"/>
  <p:tag name="KSO_WM_TEMPLATE_CATEGORY" val="diagram"/>
  <p:tag name="KSO_WM_TEMPLATE_INDEX" val="20231963"/>
  <p:tag name="KSO_WM_UNIT_LAYERLEVEL" val="1_1"/>
  <p:tag name="KSO_WM_TAG_VERSION" val="3.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solid&quot;:{&quot;brightness&quot;:0,&quot;colorType&quot;:1,&quot;foreColorIndex&quot;: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8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3_1*l_h_f*1_2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内容，文字是您思想的提炼"/>
  <p:tag name="KSO_WM_UNIT_TEXT_FILL_FORE_SCHEMECOLOR_INDEX" val="1"/>
  <p:tag name="KSO_WM_UNIT_TEXT_FILL_TYPE" val="1"/>
  <p:tag name="KSO_WM_DIAGRAM_USE_COLOR_VALUE" val="{&quot;color_scheme&quot;:1,&quot;color_type&quot;:1,&quot;theme_color_indexes&quot;:[5,6,5,6,5,6]}"/>
</p:tagLst>
</file>

<file path=ppt/tags/tag18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3_1*l_h_f*1_3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445.15456665110014,&quot;left&quot;:23.099514377966265,&quot;top&quot;:6.920472718978613,&quot;width&quot;:936.90048562203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单击此处文本内容"/>
  <p:tag name="KSO_WM_UNIT_TEXT_FILL_FORE_SCHEMECOLOR_INDEX" val="1"/>
  <p:tag name="KSO_WM_UNIT_TEXT_FILL_TYPE" val="1"/>
  <p:tag name="KSO_WM_DIAGRAM_USE_COLOR_VALUE" val="{&quot;color_scheme&quot;:1,&quot;color_type&quot;:1,&quot;theme_color_indexes&quot;:[5,6,5,6,5,6]}"/>
</p:tagLst>
</file>

<file path=ppt/tags/tag189.xml><?xml version="1.0" encoding="utf-8"?>
<p:tagLst xmlns:p="http://schemas.openxmlformats.org/presentationml/2006/main">
  <p:tag name="ISPRING_PRESENTATION_TITLE" val="商务风简约工作汇报述职报告PPT模板"/>
  <p:tag name="resource_record_key" val="{&quot;10&quot;:[50059497,50059395,50059396,50059442,50059180],&quot;70&quot;:[3321412,3322033,3321534,3312383,3315855,3322023,3312349]}"/>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ikxwzf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14541</Words>
  <Application>WPS 演示</Application>
  <PresentationFormat>自定义</PresentationFormat>
  <Paragraphs>544</Paragraphs>
  <Slides>35</Slides>
  <Notes>21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35</vt:i4>
      </vt:variant>
    </vt:vector>
  </HeadingPairs>
  <TitlesOfParts>
    <vt:vector size="51" baseType="lpstr">
      <vt:lpstr>Arial</vt:lpstr>
      <vt:lpstr>宋体</vt:lpstr>
      <vt:lpstr>Wingdings</vt:lpstr>
      <vt:lpstr>Times New Roman</vt:lpstr>
      <vt:lpstr>-apple-system</vt:lpstr>
      <vt:lpstr>Segoe Print</vt:lpstr>
      <vt:lpstr>Wingdings</vt:lpstr>
      <vt:lpstr>包图粗黑体</vt:lpstr>
      <vt:lpstr>黑体</vt:lpstr>
      <vt:lpstr>微软雅黑</vt:lpstr>
      <vt:lpstr>Arial Unicode MS</vt:lpstr>
      <vt:lpstr>等线</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工作计划</dc:title>
  <dc:creator>第一PPT</dc:creator>
  <cp:keywords>www.1ppt.com</cp:keywords>
  <dc:description>www.1ppt.com</dc:description>
  <cp:lastModifiedBy>慕渊</cp:lastModifiedBy>
  <cp:revision>227</cp:revision>
  <dcterms:created xsi:type="dcterms:W3CDTF">2019-07-22T01:12:00Z</dcterms:created>
  <dcterms:modified xsi:type="dcterms:W3CDTF">2025-12-05T02:16:04Z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4ED7339F8FE04F4081079F1D06A876DA_13</vt:lpwstr>
  </property>
</Properties>
</file>